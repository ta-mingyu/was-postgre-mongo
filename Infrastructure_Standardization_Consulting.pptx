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안녕하십니까. 오늘 미팅은 당사 전사 인프라 표준화 프로젝트의 현황을 공유하고, 컨설팅 측의 전문적 검증과 추가 제언을 구하기 위해 마련되었습니다. 당사에서 4개 팀의 WAS 및 JVM 설정 현황을 분석한 결과와 자체 개선 가설을 제시할 테니, 각 영역에 대한 업체의 의견과 베스트 프랙티스를 부탁드립니다. 오늘 논의된 내용을 바탕으로 최종 표준화 방안을 수립할 계획입니다.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프로젝트 배경을 말씀드리겠습니다. 당사는 4개 팀이 각기 다른 WAS, Java 버전, GC 알고리즘, Connection Pool 설정을 사용하고 있습니다. 표준화된 튜닝 가이드가 없어 담당자의 경험에 의존해서 설정이 관리되고 있는 실정입니다. 이번 컨설팅을 통해 전문 업체의 검증을 받고, 체계적인 표준화 방안을 수립하고자 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분석 범위는 WAS 환경 3종, Java 런타임, JVM Heap과 Metaspace, GC 알고리즘, Connection Pool 설정, 그리고 플랫폼개발팀의 MongoDB입니다. 제외 영역은 DB2가 전담 DBA 관리 영역이고, 현금정보계팀은 DB 정보 미제출로 WAS/JVM 분석으로 한정했습니다. 이 범위 설정이 적절한지 말씀 부탁드립니다.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전사 인프라 아키텍처 전경입니다. 4개 팀이 3종의 WAS를 사용하고 있습니다. 플랫폼개발팀은 Spring Boot 내장 Tomcat과 독립 Tomcat을 혼합 운영하고, CL플랫폼팀은 CLS 전용 WAS, 현금정보계팀은 IBM Liberty를 사용합니다. DB는 PostgreSQL과 MongoDB가 플랫폼개발팀에 집중되어 있고 주차서비스팀은 DB2를 사용합니다만 전담 DBA 관리 영역으로 제외했습니다. 이 정도의 파편화가 유사 규모 기업에서 흔히 관찰되는지 궁금합니다.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파편화 심각도를 Critical, Warning, Info 3단계로 분류했습니다. Critical은 3건입니다. CL플랫폼팀 Old 영역 90% 도달, 전사 80% 런타임의 Java 15 EOL, 그리고 현금정보계팀 Metaspace 설정 역전 현상입니다. 당사는 CL플랫폼 Old Gen 90%를 최우선으로 분류했는데, 업체의 관점에서 이 우선순위가 적절한지 궁금합니다.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4개 팀의 전체 설정 비교 총괄표입니다. JVM Runtime 및 메모리 설정을 한눈에 보실 수 있도록 정리했습니다.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Connection Pool 및 Thread 설정 비교입니다. 상세한 내용은 다음 섹션 C에서 기술 영역별로 깊게 다루겠습니다.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Java 버전 현황을 보면, 전사 5개 런타임 중 4개가 2021년 3월에 EOL된 Java 15를 사용 중입니다. CL플랫폼팀, 주차서비스팀, 현금정보계팀은 EOL 후 5년이 경과했고 보안 패치가 전혀 제공되지 않습니다. 특히 플랫폼개발팀 Nice Charger는 Java 15와 25를 동시에 운영하고 있어 테스트와 배포 파이프라인이 복잡해지고 있습니다. 당사 진단으로는 Java 17을 최소 표준, 21을 권장 표준으로 설정해야 한다고 판단하고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가장 심각한 이슈입니다. GC 알고리즘이 G1 GC와 Parallel GC로 이원화되어 있는데, Parallel GC를 사용하는 2개 팀이 문제입니다. 특히 CL플랫폼팀은 Heap 2048m 고정 환경에서 Old 영역 사용률이 90.2%, 잔여가 150MB에 불과합니다. Parallel GC는 Full GC 시 단일 스레드로 전체 Old 영역을 정리하면서 수초~수십초간 서비스가 완전 중단됩니다. 당사는 G1 GC 전환과 Heap 증설을 가설로 설정했습니다. 추가로 CL플랫폼팀의 CLS 전용 WAS가 일반 Tomcat과 다른 커스텀 엔진이라면 GC 전환 시 WAS 엔진 자체와의 호환성 문제가 없는지 업체 측의 경험적 진단을 부탁드립니다.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Heap 할당 전략이 비율 기반, 고정, 가변, 혼합 등 4가지 방식으로 파편화되어 있습니다. 현금정보계팀의 경우 6개 컨테이너에서 Metaspace Max값이 16m로 설정되어 있는데, 이는 Min값인 256~512m보다 작아 입력 오류로 의심됩니다. 서비스가 정상 운영 중이라는 점에서 실제 설정이 반영되지 않았을 가능성이 높은데 이에 대한 확인 절차를 부탁드립니다.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maxPoolSize가 5에서 100까지 20배 편차가 있고 구현체도 3종이 혼재합니다. 특히 maxLifetime 설정에서 단위 불일치가 발견되었고, 플랫폼개발 NC의 maxLifetime이 33분으로 PgPool의 일반 timeout인 30분을 초과하고 있어 stale connection 위험이 있습니다. 주차서비스팀은 maxLifetime과 maxWaitMillis를 혼동한 것으로 의심됩니다. WAS-DB 간 타임아웃 연계 설정에 대한 업체의 베스트 프랙티스를 요청드립니다.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Thread 설정을 보면 극단적 편차가 있습니다. CL플랫폼팀은 maxThreads가 -1, 즉 무제한입니다. 백프레셔가 전혀 없어서 동시 요청이 폭증하면 자원 고갈로 이어집니다. 주차서비스팀은 500으로 설정했는데 기본값 200의 2.5배입니다. 현금정보계팀은 Liberty의 자동 튜닝에 맡기고 있습니다. 한 가지 추가로 확인하고 싶은 것은, 현금정보계팀은 Java 15 환경에서 Liberty 자동 튜닝을 사용하고 있는데 구형 Java 버전은 컨테이너 환경에서 CPU 자원을 오인식할 가능성이 있어 이로 인해 CPU 쓰로틀링이 발생할 위험이 없는지 팩트 체크를 부탁드립니다.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플랫폼개발팀의 MongoDB는 Replica Set으로 Master 1, Slave 2 구성이고 읽기:쓰기가 6:4입니다. 가장 큰 리스크는 COLLSCAN 발생 여부를 전혀 모니터링하지 않고 있다는 점입니다. 현재는 인덱스가 고정 필드 위주로 설정되어 있어 문제가 없을 수 있으나 쿼리 패턴이 변경되거나 데이터가 증가하면 선형적으로 성능이 저하됩니다. 또한 읽기가 60%인데도 모든 읽기를 Primary에서 처리하고 있어 부하 분산 기회를 놓치고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종합 개선 로드맵을 제안드립니다. P0 Critical은 3건으로 CL플랫폼 G1 GC 전환과 Heap 증설, 현금정보계 Metaspace 정정, 전사 GC 로그 수집 활성화입니다. P1에서는 현금정보계 G1 GC 전환, CL maxThreads 제한, Heap 고정 할당 통일을 제안합니다. P2에서 Java 17 마이그레이션과 NC maxLifetime 정정, MongoDB Profiling을 계획했고 P3에서 Java 21 검토, Pool 표준화, MongoDB 읽기 분산을 장기 과제로 잡았습니다.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솔직하게 말씀드리면 당사 분석에 한계가 있습니다. 4개 팀 모두 GC 로그 수집 여부가 불명확하고 Peak 타임 데이터가 CL플랫폼팀 외에는 없습니다. JVM 실시간 모니터링 체계가 구축되어 있지 않습니다. 이런 한계를 인정하는 자리이니만큼 우리가 놓치고 있는 중요한 영역이 있다면 업체에서 꼭 짚어주시기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후속 계획입니다. 당사에서는 GC 로그 활성화와 Peak 타임 데이터 수집을 즉시 시작하겠습니다. 컨설팅 측에는 금일 피드백 정리와 함께 P0 항목의 실행 가이드와 최소 모니터링 체계 권장안을 후속 미팅 전까지 준비해 주시기를 요청드립니다. 궁극적으로는 전사 인프라 표준 설정 가이드와 팀별 실행 계획, 모니터링 체계 구축 가이드를 최종 산출물로 완성하고자 합니다.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플랫폼개발팀 원천 데이터 요약입니다.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CL플랫폼팀과 주차서비스팀 원천 데이터 요약입니다.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현금정보계팀 7개 컨테이너별 Heap 및 Metaspace 설정입니다. 6개 컨테이너에서 Metaspace Max=16m가 Min값보다 작은 역전 현상이 관찰됩니다.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Apache Tomcat, IBM Liberty, HikariCP 벤더 권장 설정값입니다.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JVM GC, Heap, Metaspace 및 MongoDB 벤더 권장 설정값입니다.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기술 용어 정리입니다.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square">
            <a:spAutoFit/>
          </a:bodyPr>
          <a:lstStyle/>
          <a:p>
            <a:pPr>
              <a:defRPr sz="2400" b="1">
                <a:solidFill>
                  <a:srgbClr val="1B2A4A"/>
                </a:solidFill>
              </a:defRPr>
            </a:pPr>
            <a:r>
              <a:t>[A-01] 미팅 목적 및 아젠다</a:t>
            </a:r>
          </a:p>
        </p:txBody>
      </p:sp>
      <p:sp>
        <p:nvSpPr>
          <p:cNvPr id="3" name="TextBox 2"/>
          <p:cNvSpPr txBox="1"/>
          <p:nvPr/>
        </p:nvSpPr>
        <p:spPr>
          <a:xfrm>
            <a:off x="457200" y="914400"/>
            <a:ext cx="10972800" cy="365760"/>
          </a:xfrm>
          <a:prstGeom prst="rect">
            <a:avLst/>
          </a:prstGeom>
          <a:noFill/>
        </p:spPr>
        <p:txBody>
          <a:bodyPr wrap="square">
            <a:spAutoFit/>
          </a:bodyPr>
          <a:lstStyle/>
          <a:p>
            <a:pPr algn="l">
              <a:defRPr sz="1600" b="1">
                <a:solidFill>
                  <a:srgbClr val="1B2A4A"/>
                </a:solidFill>
              </a:defRPr>
            </a:pPr>
            <a:r>
              <a:t>전사 인프라 표준화 컨설팅 -- 컨설팅사 피드백 유도형 워크숍</a:t>
            </a:r>
          </a:p>
        </p:txBody>
      </p:sp>
      <p:sp>
        <p:nvSpPr>
          <p:cNvPr id="4" name="TextBox 3"/>
          <p:cNvSpPr txBox="1"/>
          <p:nvPr/>
        </p:nvSpPr>
        <p:spPr>
          <a:xfrm>
            <a:off x="457200" y="1828800"/>
            <a:ext cx="10972800" cy="3200400"/>
          </a:xfrm>
          <a:prstGeom prst="rect">
            <a:avLst/>
          </a:prstGeom>
          <a:noFill/>
        </p:spPr>
        <p:txBody>
          <a:bodyPr wrap="square">
            <a:spAutoFit/>
          </a:bodyPr>
          <a:lstStyle/>
          <a:p>
            <a:pPr>
              <a:spcAft>
                <a:spcPts val="400"/>
              </a:spcAft>
              <a:defRPr sz="1200" b="0">
                <a:solidFill>
                  <a:srgbClr val="333333"/>
                </a:solidFill>
              </a:defRPr>
            </a:pPr>
            <a:r>
              <a:t>1. 도입: 프로젝트 배경 및 조사 범위 (5분)</a:t>
            </a:r>
          </a:p>
          <a:p>
            <a:pPr>
              <a:spcAft>
                <a:spcPts val="400"/>
              </a:spcAft>
              <a:defRPr sz="1200" b="0">
                <a:solidFill>
                  <a:srgbClr val="333333"/>
                </a:solidFill>
              </a:defRPr>
            </a:pPr>
            <a:r>
              <a:t>2. 현황 공유: 전사 인프라 아키텍처 및 파편화 현황 (15분)</a:t>
            </a:r>
          </a:p>
          <a:p>
            <a:pPr>
              <a:spcAft>
                <a:spcPts val="400"/>
              </a:spcAft>
              <a:defRPr sz="1200" b="0">
                <a:solidFill>
                  <a:srgbClr val="333333"/>
                </a:solidFill>
              </a:defRPr>
            </a:pPr>
            <a:r>
              <a:t>3. 심층 논의: 6개 기술 영역별 당사 진단 및 질의 (40분)</a:t>
            </a:r>
          </a:p>
          <a:p>
            <a:pPr>
              <a:spcAft>
                <a:spcPts val="400"/>
              </a:spcAft>
              <a:defRPr sz="1200" b="0">
                <a:solidFill>
                  <a:srgbClr val="333333"/>
                </a:solidFill>
              </a:defRPr>
            </a:pPr>
            <a:r>
              <a:t>4. 로드맵: 우선순위 논의 및 후속 계획 (15분)</a:t>
            </a:r>
          </a:p>
          <a:p>
            <a:pPr>
              <a:spcAft>
                <a:spcPts val="400"/>
              </a:spcAft>
              <a:defRPr sz="800" b="0">
                <a:solidFill>
                  <a:srgbClr val="333333"/>
                </a:solidFill>
              </a:defRPr>
            </a:pPr>
          </a:p>
          <a:p>
            <a:pPr>
              <a:spcAft>
                <a:spcPts val="400"/>
              </a:spcAft>
              <a:defRPr sz="1100" b="1">
                <a:solidFill>
                  <a:srgbClr val="1B2A4A"/>
                </a:solidFill>
              </a:defRPr>
            </a:pPr>
            <a:r>
              <a:t>목적: 당사 현황과 자체 진단(개선 가설) 제시 -&gt; 컨설팅사 검증/피드백/추가 제언 유도</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square">
            <a:spAutoFit/>
          </a:bodyPr>
          <a:lstStyle/>
          <a:p>
            <a:pPr>
              <a:defRPr sz="2400" b="1">
                <a:solidFill>
                  <a:srgbClr val="1B2A4A"/>
                </a:solidFill>
              </a:defRPr>
            </a:pPr>
            <a:r>
              <a:t>[A-02] 당사 인프라 표준화 프로젝트 개요</a:t>
            </a:r>
          </a:p>
        </p:txBody>
      </p:sp>
      <p:graphicFrame>
        <p:nvGraphicFramePr>
          <p:cNvPr id="3" name="Table 2"/>
          <p:cNvGraphicFramePr>
            <a:graphicFrameLocks noGrp="1"/>
          </p:cNvGraphicFramePr>
          <p:nvPr/>
        </p:nvGraphicFramePr>
        <p:xfrm>
          <a:off x="457200" y="1097280"/>
          <a:ext cx="10972800" cy="1920240"/>
        </p:xfrm>
        <a:graphic>
          <a:graphicData uri="http://schemas.openxmlformats.org/drawingml/2006/table">
            <a:tbl>
              <a:tblPr firstRow="1" bandRow="1">
                <a:tableStyleId>{5C22544A-7EE6-4342-B048-85BDC9FD1C3A}</a:tableStyleId>
              </a:tblPr>
              <a:tblGrid>
                <a:gridCol w="2286000"/>
                <a:gridCol w="8686800"/>
              </a:tblGrid>
              <a:tr h="274320">
                <a:tc>
                  <a:txBody>
                    <a:bodyPr/>
                    <a:lstStyle/>
                    <a:p>
                      <a:pPr algn="ctr">
                        <a:defRPr sz="900" b="1">
                          <a:solidFill>
                            <a:srgbClr val="FFFFFF"/>
                          </a:solidFill>
                        </a:defRPr>
                      </a:pPr>
                      <a:r>
                        <a:t>항목</a:t>
                      </a:r>
                    </a:p>
                  </a:txBody>
                  <a:tcPr>
                    <a:solidFill>
                      <a:srgbClr val="1B2A4A"/>
                    </a:solidFill>
                  </a:tcPr>
                </a:tc>
                <a:tc>
                  <a:txBody>
                    <a:bodyPr/>
                    <a:lstStyle/>
                    <a:p>
                      <a:pPr algn="ctr">
                        <a:defRPr sz="900" b="1">
                          <a:solidFill>
                            <a:srgbClr val="FFFFFF"/>
                          </a:solidFill>
                        </a:defRPr>
                      </a:pPr>
                      <a:r>
                        <a:t>내용</a:t>
                      </a:r>
                    </a:p>
                  </a:txBody>
                  <a:tcPr>
                    <a:solidFill>
                      <a:srgbClr val="1B2A4A"/>
                    </a:solidFill>
                  </a:tcPr>
                </a:tc>
              </a:tr>
              <a:tr h="274320">
                <a:tc>
                  <a:txBody>
                    <a:bodyPr/>
                    <a:lstStyle/>
                    <a:p>
                      <a:pPr>
                        <a:defRPr sz="800">
                          <a:solidFill>
                            <a:srgbClr val="333333"/>
                          </a:solidFill>
                        </a:defRPr>
                      </a:pPr>
                      <a:r>
                        <a:t>프로젝트명</a:t>
                      </a:r>
                    </a:p>
                  </a:txBody>
                  <a:tcPr>
                    <a:solidFill>
                      <a:srgbClr val="FFFFFF"/>
                    </a:solidFill>
                  </a:tcPr>
                </a:tc>
                <a:tc>
                  <a:txBody>
                    <a:bodyPr/>
                    <a:lstStyle/>
                    <a:p>
                      <a:pPr>
                        <a:defRPr sz="800">
                          <a:solidFill>
                            <a:srgbClr val="333333"/>
                          </a:solidFill>
                        </a:defRPr>
                      </a:pPr>
                      <a:r>
                        <a:t>전사 Web/WAS 및 RDBMS/NoSQL 설정 표준화 컨설팅</a:t>
                      </a:r>
                    </a:p>
                  </a:txBody>
                  <a:tcPr>
                    <a:solidFill>
                      <a:srgbClr val="FFFFFF"/>
                    </a:solidFill>
                  </a:tcPr>
                </a:tc>
              </a:tr>
              <a:tr h="274320">
                <a:tc>
                  <a:txBody>
                    <a:bodyPr/>
                    <a:lstStyle/>
                    <a:p>
                      <a:pPr>
                        <a:defRPr sz="800">
                          <a:solidFill>
                            <a:srgbClr val="333333"/>
                          </a:solidFill>
                        </a:defRPr>
                      </a:pPr>
                      <a:r>
                        <a:t>배경</a:t>
                      </a:r>
                    </a:p>
                  </a:txBody>
                  <a:tcPr>
                    <a:solidFill>
                      <a:srgbClr val="F2F2F2"/>
                    </a:solidFill>
                  </a:tcPr>
                </a:tc>
                <a:tc>
                  <a:txBody>
                    <a:bodyPr/>
                    <a:lstStyle/>
                    <a:p>
                      <a:pPr>
                        <a:defRPr sz="800">
                          <a:solidFill>
                            <a:srgbClr val="333333"/>
                          </a:solidFill>
                        </a:defRPr>
                      </a:pPr>
                      <a:r>
                        <a:t>4개 팀의 WAS, Java, JVM, GC, ConnPool 설정 파편화로 인한 운영 효율 저하 및 장애 리스크 증가</a:t>
                      </a:r>
                    </a:p>
                  </a:txBody>
                  <a:tcPr>
                    <a:solidFill>
                      <a:srgbClr val="F2F2F2"/>
                    </a:solidFill>
                  </a:tcPr>
                </a:tc>
              </a:tr>
              <a:tr h="274320">
                <a:tc>
                  <a:txBody>
                    <a:bodyPr/>
                    <a:lstStyle/>
                    <a:p>
                      <a:pPr>
                        <a:defRPr sz="800">
                          <a:solidFill>
                            <a:srgbClr val="333333"/>
                          </a:solidFill>
                        </a:defRPr>
                      </a:pPr>
                      <a:r>
                        <a:t>조사 대상</a:t>
                      </a:r>
                    </a:p>
                  </a:txBody>
                  <a:tcPr>
                    <a:solidFill>
                      <a:srgbClr val="FFFFFF"/>
                    </a:solidFill>
                  </a:tcPr>
                </a:tc>
                <a:tc>
                  <a:txBody>
                    <a:bodyPr/>
                    <a:lstStyle/>
                    <a:p>
                      <a:pPr>
                        <a:defRPr sz="800">
                          <a:solidFill>
                            <a:srgbClr val="333333"/>
                          </a:solidFill>
                        </a:defRPr>
                      </a:pPr>
                      <a:r>
                        <a:t>플랫폼개발팀, CL플랫폼팀, 주차서비스팀, 현금정보계팀</a:t>
                      </a:r>
                    </a:p>
                  </a:txBody>
                  <a:tcPr>
                    <a:solidFill>
                      <a:srgbClr val="FFFFFF"/>
                    </a:solidFill>
                  </a:tcPr>
                </a:tc>
              </a:tr>
              <a:tr h="274320">
                <a:tc>
                  <a:txBody>
                    <a:bodyPr/>
                    <a:lstStyle/>
                    <a:p>
                      <a:pPr>
                        <a:defRPr sz="800">
                          <a:solidFill>
                            <a:srgbClr val="333333"/>
                          </a:solidFill>
                        </a:defRPr>
                      </a:pPr>
                      <a:r>
                        <a:t>조사 범위</a:t>
                      </a:r>
                    </a:p>
                  </a:txBody>
                  <a:tcPr>
                    <a:solidFill>
                      <a:srgbClr val="F2F2F2"/>
                    </a:solidFill>
                  </a:tcPr>
                </a:tc>
                <a:tc>
                  <a:txBody>
                    <a:bodyPr/>
                    <a:lstStyle/>
                    <a:p>
                      <a:pPr>
                        <a:defRPr sz="800">
                          <a:solidFill>
                            <a:srgbClr val="333333"/>
                          </a:solidFill>
                        </a:defRPr>
                      </a:pPr>
                      <a:r>
                        <a:t>WAS 환경, Java 런타임, JVM Heap/Metaspace, GC 알고리즘, Connection Pool 설정, MongoDB 아키텍처</a:t>
                      </a:r>
                    </a:p>
                  </a:txBody>
                  <a:tcPr>
                    <a:solidFill>
                      <a:srgbClr val="F2F2F2"/>
                    </a:solidFill>
                  </a:tcPr>
                </a:tc>
              </a:tr>
              <a:tr h="274320">
                <a:tc>
                  <a:txBody>
                    <a:bodyPr/>
                    <a:lstStyle/>
                    <a:p>
                      <a:pPr>
                        <a:defRPr sz="800">
                          <a:solidFill>
                            <a:srgbClr val="333333"/>
                          </a:solidFill>
                        </a:defRPr>
                      </a:pPr>
                      <a:r>
                        <a:t>조사 방법</a:t>
                      </a:r>
                    </a:p>
                  </a:txBody>
                  <a:tcPr>
                    <a:solidFill>
                      <a:srgbClr val="FFFFFF"/>
                    </a:solidFill>
                  </a:tcPr>
                </a:tc>
                <a:tc>
                  <a:txBody>
                    <a:bodyPr/>
                    <a:lstStyle/>
                    <a:p>
                      <a:pPr>
                        <a:defRPr sz="800">
                          <a:solidFill>
                            <a:srgbClr val="333333"/>
                          </a:solidFill>
                        </a:defRPr>
                      </a:pPr>
                      <a:r>
                        <a:t>사전 질문지 기반 데이터 수집 -&gt; 벤더 권장 Best Practice 대비 Gap 분석 -&gt; 개선 가설 도출</a:t>
                      </a:r>
                    </a:p>
                  </a:txBody>
                  <a:tcPr>
                    <a:solidFill>
                      <a:srgbClr val="FFFFFF"/>
                    </a:solidFill>
                  </a:tcPr>
                </a:tc>
              </a:tr>
              <a:tr h="274320">
                <a:tc>
                  <a:txBody>
                    <a:bodyPr/>
                    <a:lstStyle/>
                    <a:p>
                      <a:pPr>
                        <a:defRPr sz="800">
                          <a:solidFill>
                            <a:srgbClr val="333333"/>
                          </a:solidFill>
                        </a:defRPr>
                      </a:pPr>
                      <a:r>
                        <a:t>현재 Phase</a:t>
                      </a:r>
                    </a:p>
                  </a:txBody>
                  <a:tcPr>
                    <a:solidFill>
                      <a:srgbClr val="F2F2F2"/>
                    </a:solidFill>
                  </a:tcPr>
                </a:tc>
                <a:tc>
                  <a:txBody>
                    <a:bodyPr/>
                    <a:lstStyle/>
                    <a:p>
                      <a:pPr>
                        <a:defRPr sz="800">
                          <a:solidFill>
                            <a:srgbClr val="333333"/>
                          </a:solidFill>
                        </a:defRPr>
                      </a:pPr>
                      <a:r>
                        <a:t>Phase 3: 컨설팅사 워크숍 진행 중</a:t>
                      </a:r>
                    </a:p>
                  </a:txBody>
                  <a:tcPr>
                    <a:solidFill>
                      <a:srgbClr val="F2F2F2"/>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square">
            <a:spAutoFit/>
          </a:bodyPr>
          <a:lstStyle/>
          <a:p>
            <a:pPr>
              <a:defRPr sz="2400" b="1">
                <a:solidFill>
                  <a:srgbClr val="1B2A4A"/>
                </a:solidFill>
              </a:defRPr>
            </a:pPr>
            <a:r>
              <a:t>[A-03] 조사 범위 및 제외 영역</a:t>
            </a:r>
          </a:p>
        </p:txBody>
      </p:sp>
      <p:sp>
        <p:nvSpPr>
          <p:cNvPr id="3" name="TextBox 2"/>
          <p:cNvSpPr txBox="1"/>
          <p:nvPr/>
        </p:nvSpPr>
        <p:spPr>
          <a:xfrm>
            <a:off x="457200" y="1097280"/>
            <a:ext cx="10972800" cy="365760"/>
          </a:xfrm>
          <a:prstGeom prst="rect">
            <a:avLst/>
          </a:prstGeom>
          <a:noFill/>
        </p:spPr>
        <p:txBody>
          <a:bodyPr wrap="square">
            <a:spAutoFit/>
          </a:bodyPr>
          <a:lstStyle/>
          <a:p>
            <a:pPr algn="l">
              <a:defRPr sz="1200" b="1">
                <a:solidFill>
                  <a:srgbClr val="006D6F"/>
                </a:solidFill>
              </a:defRPr>
            </a:pPr>
            <a:r>
              <a:t>분석 대상 (In Scope)</a:t>
            </a:r>
          </a:p>
        </p:txBody>
      </p:sp>
      <p:graphicFrame>
        <p:nvGraphicFramePr>
          <p:cNvPr id="4" name="Table 3"/>
          <p:cNvGraphicFramePr>
            <a:graphicFrameLocks noGrp="1"/>
          </p:cNvGraphicFramePr>
          <p:nvPr/>
        </p:nvGraphicFramePr>
        <p:xfrm>
          <a:off x="457200" y="1463040"/>
          <a:ext cx="5303520" cy="2194560"/>
        </p:xfrm>
        <a:graphic>
          <a:graphicData uri="http://schemas.openxmlformats.org/drawingml/2006/table">
            <a:tbl>
              <a:tblPr firstRow="1" bandRow="1">
                <a:tableStyleId>{5C22544A-7EE6-4342-B048-85BDC9FD1C3A}</a:tableStyleId>
              </a:tblPr>
              <a:tblGrid>
                <a:gridCol w="1645920"/>
                <a:gridCol w="3657600"/>
              </a:tblGrid>
              <a:tr h="274320">
                <a:tc>
                  <a:txBody>
                    <a:bodyPr/>
                    <a:lstStyle/>
                    <a:p>
                      <a:pPr algn="ctr">
                        <a:defRPr sz="900" b="1">
                          <a:solidFill>
                            <a:srgbClr val="FFFFFF"/>
                          </a:solidFill>
                        </a:defRPr>
                      </a:pPr>
                      <a:r>
                        <a:t>항목</a:t>
                      </a:r>
                    </a:p>
                  </a:txBody>
                  <a:tcPr>
                    <a:solidFill>
                      <a:srgbClr val="1B2A4A"/>
                    </a:solidFill>
                  </a:tcPr>
                </a:tc>
                <a:tc>
                  <a:txBody>
                    <a:bodyPr/>
                    <a:lstStyle/>
                    <a:p>
                      <a:pPr algn="ctr">
                        <a:defRPr sz="900" b="1">
                          <a:solidFill>
                            <a:srgbClr val="FFFFFF"/>
                          </a:solidFill>
                        </a:defRPr>
                      </a:pPr>
                      <a:r>
                        <a:t>내용</a:t>
                      </a:r>
                    </a:p>
                  </a:txBody>
                  <a:tcPr>
                    <a:solidFill>
                      <a:srgbClr val="1B2A4A"/>
                    </a:solidFill>
                  </a:tcPr>
                </a:tc>
              </a:tr>
              <a:tr h="274320">
                <a:tc>
                  <a:txBody>
                    <a:bodyPr/>
                    <a:lstStyle/>
                    <a:p>
                      <a:pPr>
                        <a:defRPr sz="800">
                          <a:solidFill>
                            <a:srgbClr val="333333"/>
                          </a:solidFill>
                        </a:defRPr>
                      </a:pPr>
                      <a:r>
                        <a:t>WAS</a:t>
                      </a:r>
                    </a:p>
                  </a:txBody>
                  <a:tcPr>
                    <a:solidFill>
                      <a:srgbClr val="FFFFFF"/>
                    </a:solidFill>
                  </a:tcPr>
                </a:tc>
                <a:tc>
                  <a:txBody>
                    <a:bodyPr/>
                    <a:lstStyle/>
                    <a:p>
                      <a:pPr>
                        <a:defRPr sz="800">
                          <a:solidFill>
                            <a:srgbClr val="333333"/>
                          </a:solidFill>
                        </a:defRPr>
                      </a:pPr>
                      <a:r>
                        <a:t>Apache Tomcat (독립/내장), IBM WebSphere Liberty, CLS 전용 WAS</a:t>
                      </a:r>
                    </a:p>
                  </a:txBody>
                  <a:tcPr>
                    <a:solidFill>
                      <a:srgbClr val="FFFFFF"/>
                    </a:solidFill>
                  </a:tcPr>
                </a:tc>
              </a:tr>
              <a:tr h="274320">
                <a:tc>
                  <a:txBody>
                    <a:bodyPr/>
                    <a:lstStyle/>
                    <a:p>
                      <a:pPr>
                        <a:defRPr sz="800">
                          <a:solidFill>
                            <a:srgbClr val="333333"/>
                          </a:solidFill>
                        </a:defRPr>
                      </a:pPr>
                      <a:r>
                        <a:t>Java</a:t>
                      </a:r>
                    </a:p>
                  </a:txBody>
                  <a:tcPr>
                    <a:solidFill>
                      <a:srgbClr val="F2F2F2"/>
                    </a:solidFill>
                  </a:tcPr>
                </a:tc>
                <a:tc>
                  <a:txBody>
                    <a:bodyPr/>
                    <a:lstStyle/>
                    <a:p>
                      <a:pPr>
                        <a:defRPr sz="800">
                          <a:solidFill>
                            <a:srgbClr val="333333"/>
                          </a:solidFill>
                        </a:defRPr>
                      </a:pPr>
                      <a:r>
                        <a:t>버전 파편화 (15/17/25), EOL 리스크</a:t>
                      </a:r>
                    </a:p>
                  </a:txBody>
                  <a:tcPr>
                    <a:solidFill>
                      <a:srgbClr val="F2F2F2"/>
                    </a:solidFill>
                  </a:tcPr>
                </a:tc>
              </a:tr>
              <a:tr h="274320">
                <a:tc>
                  <a:txBody>
                    <a:bodyPr/>
                    <a:lstStyle/>
                    <a:p>
                      <a:pPr>
                        <a:defRPr sz="800">
                          <a:solidFill>
                            <a:srgbClr val="333333"/>
                          </a:solidFill>
                        </a:defRPr>
                      </a:pPr>
                      <a:r>
                        <a:t>JVM</a:t>
                      </a:r>
                    </a:p>
                  </a:txBody>
                  <a:tcPr>
                    <a:solidFill>
                      <a:srgbClr val="FFFFFF"/>
                    </a:solidFill>
                  </a:tcPr>
                </a:tc>
                <a:tc>
                  <a:txBody>
                    <a:bodyPr/>
                    <a:lstStyle/>
                    <a:p>
                      <a:pPr>
                        <a:defRPr sz="800">
                          <a:solidFill>
                            <a:srgbClr val="333333"/>
                          </a:solidFill>
                        </a:defRPr>
                      </a:pPr>
                      <a:r>
                        <a:t>Heap (Xms/Xmx), Metaspace</a:t>
                      </a:r>
                    </a:p>
                  </a:txBody>
                  <a:tcPr>
                    <a:solidFill>
                      <a:srgbClr val="FFFFFF"/>
                    </a:solidFill>
                  </a:tcPr>
                </a:tc>
              </a:tr>
              <a:tr h="274320">
                <a:tc>
                  <a:txBody>
                    <a:bodyPr/>
                    <a:lstStyle/>
                    <a:p>
                      <a:pPr>
                        <a:defRPr sz="800">
                          <a:solidFill>
                            <a:srgbClr val="333333"/>
                          </a:solidFill>
                        </a:defRPr>
                      </a:pPr>
                      <a:r>
                        <a:t>GC</a:t>
                      </a:r>
                    </a:p>
                  </a:txBody>
                  <a:tcPr>
                    <a:solidFill>
                      <a:srgbClr val="F2F2F2"/>
                    </a:solidFill>
                  </a:tcPr>
                </a:tc>
                <a:tc>
                  <a:txBody>
                    <a:bodyPr/>
                    <a:lstStyle/>
                    <a:p>
                      <a:pPr>
                        <a:defRPr sz="800">
                          <a:solidFill>
                            <a:srgbClr val="333333"/>
                          </a:solidFill>
                        </a:defRPr>
                      </a:pPr>
                      <a:r>
                        <a:t>G1 GC vs Parallel GC</a:t>
                      </a:r>
                    </a:p>
                  </a:txBody>
                  <a:tcPr>
                    <a:solidFill>
                      <a:srgbClr val="F2F2F2"/>
                    </a:solidFill>
                  </a:tcPr>
                </a:tc>
              </a:tr>
              <a:tr h="274320">
                <a:tc>
                  <a:txBody>
                    <a:bodyPr/>
                    <a:lstStyle/>
                    <a:p>
                      <a:pPr>
                        <a:defRPr sz="800">
                          <a:solidFill>
                            <a:srgbClr val="333333"/>
                          </a:solidFill>
                        </a:defRPr>
                      </a:pPr>
                      <a:r>
                        <a:t>Connection Pool</a:t>
                      </a:r>
                    </a:p>
                  </a:txBody>
                  <a:tcPr>
                    <a:solidFill>
                      <a:srgbClr val="FFFFFF"/>
                    </a:solidFill>
                  </a:tcPr>
                </a:tc>
                <a:tc>
                  <a:txBody>
                    <a:bodyPr/>
                    <a:lstStyle/>
                    <a:p>
                      <a:pPr>
                        <a:defRPr sz="800">
                          <a:solidFill>
                            <a:srgbClr val="333333"/>
                          </a:solidFill>
                        </a:defRPr>
                      </a:pPr>
                      <a:r>
                        <a:t>HikariCP, DBCP, Liberty ConnMgr</a:t>
                      </a:r>
                    </a:p>
                  </a:txBody>
                  <a:tcPr>
                    <a:solidFill>
                      <a:srgbClr val="FFFFFF"/>
                    </a:solidFill>
                  </a:tcPr>
                </a:tc>
              </a:tr>
              <a:tr h="274320">
                <a:tc>
                  <a:txBody>
                    <a:bodyPr/>
                    <a:lstStyle/>
                    <a:p>
                      <a:pPr>
                        <a:defRPr sz="800">
                          <a:solidFill>
                            <a:srgbClr val="333333"/>
                          </a:solidFill>
                        </a:defRPr>
                      </a:pPr>
                      <a:r>
                        <a:t>Thread</a:t>
                      </a:r>
                    </a:p>
                  </a:txBody>
                  <a:tcPr>
                    <a:solidFill>
                      <a:srgbClr val="F2F2F2"/>
                    </a:solidFill>
                  </a:tcPr>
                </a:tc>
                <a:tc>
                  <a:txBody>
                    <a:bodyPr/>
                    <a:lstStyle/>
                    <a:p>
                      <a:pPr>
                        <a:defRPr sz="800">
                          <a:solidFill>
                            <a:srgbClr val="333333"/>
                          </a:solidFill>
                        </a:defRPr>
                      </a:pPr>
                      <a:r>
                        <a:t>maxThreads, Liberty 자동 튜닝</a:t>
                      </a:r>
                    </a:p>
                  </a:txBody>
                  <a:tcPr>
                    <a:solidFill>
                      <a:srgbClr val="F2F2F2"/>
                    </a:solidFill>
                  </a:tcPr>
                </a:tc>
              </a:tr>
              <a:tr h="274320">
                <a:tc>
                  <a:txBody>
                    <a:bodyPr/>
                    <a:lstStyle/>
                    <a:p>
                      <a:pPr>
                        <a:defRPr sz="800">
                          <a:solidFill>
                            <a:srgbClr val="333333"/>
                          </a:solidFill>
                        </a:defRPr>
                      </a:pPr>
                      <a:r>
                        <a:t>MongoDB</a:t>
                      </a:r>
                    </a:p>
                  </a:txBody>
                  <a:tcPr>
                    <a:solidFill>
                      <a:srgbClr val="FFFFFF"/>
                    </a:solidFill>
                  </a:tcPr>
                </a:tc>
                <a:tc>
                  <a:txBody>
                    <a:bodyPr/>
                    <a:lstStyle/>
                    <a:p>
                      <a:pPr>
                        <a:defRPr sz="800">
                          <a:solidFill>
                            <a:srgbClr val="333333"/>
                          </a:solidFill>
                        </a:defRPr>
                      </a:pPr>
                      <a:r>
                        <a:t>Replica Set, 인덱스 전략</a:t>
                      </a:r>
                    </a:p>
                  </a:txBody>
                  <a:tcPr>
                    <a:solidFill>
                      <a:srgbClr val="FFFFFF"/>
                    </a:solidFill>
                  </a:tcPr>
                </a:tc>
              </a:tr>
            </a:tbl>
          </a:graphicData>
        </a:graphic>
      </p:graphicFrame>
      <p:sp>
        <p:nvSpPr>
          <p:cNvPr id="5" name="TextBox 4"/>
          <p:cNvSpPr txBox="1"/>
          <p:nvPr/>
        </p:nvSpPr>
        <p:spPr>
          <a:xfrm>
            <a:off x="6217920" y="1097280"/>
            <a:ext cx="5029200" cy="365760"/>
          </a:xfrm>
          <a:prstGeom prst="rect">
            <a:avLst/>
          </a:prstGeom>
          <a:noFill/>
        </p:spPr>
        <p:txBody>
          <a:bodyPr wrap="square">
            <a:spAutoFit/>
          </a:bodyPr>
          <a:lstStyle/>
          <a:p>
            <a:pPr algn="l">
              <a:defRPr sz="1200" b="1">
                <a:solidFill>
                  <a:srgbClr val="CC0000"/>
                </a:solidFill>
              </a:defRPr>
            </a:pPr>
            <a:r>
              <a:t>제외 영역 (Out of Scope)</a:t>
            </a:r>
          </a:p>
        </p:txBody>
      </p:sp>
      <p:graphicFrame>
        <p:nvGraphicFramePr>
          <p:cNvPr id="6" name="Table 5"/>
          <p:cNvGraphicFramePr>
            <a:graphicFrameLocks noGrp="1"/>
          </p:cNvGraphicFramePr>
          <p:nvPr/>
        </p:nvGraphicFramePr>
        <p:xfrm>
          <a:off x="6217920" y="1463040"/>
          <a:ext cx="5029200" cy="1371600"/>
        </p:xfrm>
        <a:graphic>
          <a:graphicData uri="http://schemas.openxmlformats.org/drawingml/2006/table">
            <a:tbl>
              <a:tblPr firstRow="1" bandRow="1">
                <a:tableStyleId>{5C22544A-7EE6-4342-B048-85BDC9FD1C3A}</a:tableStyleId>
              </a:tblPr>
              <a:tblGrid>
                <a:gridCol w="2286000"/>
                <a:gridCol w="2743200"/>
              </a:tblGrid>
              <a:tr h="274320">
                <a:tc>
                  <a:txBody>
                    <a:bodyPr/>
                    <a:lstStyle/>
                    <a:p>
                      <a:pPr algn="ctr">
                        <a:defRPr sz="900" b="1">
                          <a:solidFill>
                            <a:srgbClr val="FFFFFF"/>
                          </a:solidFill>
                        </a:defRPr>
                      </a:pPr>
                      <a:r>
                        <a:t>항목</a:t>
                      </a:r>
                    </a:p>
                  </a:txBody>
                  <a:tcPr>
                    <a:solidFill>
                      <a:srgbClr val="1B2A4A"/>
                    </a:solidFill>
                  </a:tcPr>
                </a:tc>
                <a:tc>
                  <a:txBody>
                    <a:bodyPr/>
                    <a:lstStyle/>
                    <a:p>
                      <a:pPr algn="ctr">
                        <a:defRPr sz="900" b="1">
                          <a:solidFill>
                            <a:srgbClr val="FFFFFF"/>
                          </a:solidFill>
                        </a:defRPr>
                      </a:pPr>
                      <a:r>
                        <a:t>근거</a:t>
                      </a:r>
                    </a:p>
                  </a:txBody>
                  <a:tcPr>
                    <a:solidFill>
                      <a:srgbClr val="1B2A4A"/>
                    </a:solidFill>
                  </a:tcPr>
                </a:tc>
              </a:tr>
              <a:tr h="274320">
                <a:tc>
                  <a:txBody>
                    <a:bodyPr/>
                    <a:lstStyle/>
                    <a:p>
                      <a:pPr>
                        <a:defRPr sz="800">
                          <a:solidFill>
                            <a:srgbClr val="333333"/>
                          </a:solidFill>
                        </a:defRPr>
                      </a:pPr>
                      <a:r>
                        <a:t>DB2 (주차서비스)</a:t>
                      </a:r>
                    </a:p>
                  </a:txBody>
                  <a:tcPr>
                    <a:solidFill>
                      <a:srgbClr val="FFFFFF"/>
                    </a:solidFill>
                  </a:tcPr>
                </a:tc>
                <a:tc>
                  <a:txBody>
                    <a:bodyPr/>
                    <a:lstStyle/>
                    <a:p>
                      <a:pPr>
                        <a:defRPr sz="800">
                          <a:solidFill>
                            <a:srgbClr val="333333"/>
                          </a:solidFill>
                        </a:defRPr>
                      </a:pPr>
                      <a:r>
                        <a:t>전담 DBA 관리 영역 (HITL-001 Closed)</a:t>
                      </a:r>
                    </a:p>
                  </a:txBody>
                  <a:tcPr>
                    <a:solidFill>
                      <a:srgbClr val="FFFFFF"/>
                    </a:solidFill>
                  </a:tcPr>
                </a:tc>
              </a:tr>
              <a:tr h="274320">
                <a:tc>
                  <a:txBody>
                    <a:bodyPr/>
                    <a:lstStyle/>
                    <a:p>
                      <a:pPr>
                        <a:defRPr sz="800">
                          <a:solidFill>
                            <a:srgbClr val="333333"/>
                          </a:solidFill>
                        </a:defRPr>
                      </a:pPr>
                      <a:r>
                        <a:t>현금정보계 DB</a:t>
                      </a:r>
                    </a:p>
                  </a:txBody>
                  <a:tcPr>
                    <a:solidFill>
                      <a:srgbClr val="F2F2F2"/>
                    </a:solidFill>
                  </a:tcPr>
                </a:tc>
                <a:tc>
                  <a:txBody>
                    <a:bodyPr/>
                    <a:lstStyle/>
                    <a:p>
                      <a:pPr>
                        <a:defRPr sz="800">
                          <a:solidFill>
                            <a:srgbClr val="333333"/>
                          </a:solidFill>
                        </a:defRPr>
                      </a:pPr>
                      <a:r>
                        <a:t>DB 시스템 정보 미제출 (HITL-002 Closed)</a:t>
                      </a:r>
                    </a:p>
                  </a:txBody>
                  <a:tcPr>
                    <a:solidFill>
                      <a:srgbClr val="F2F2F2"/>
                    </a:solidFill>
                  </a:tcPr>
                </a:tc>
              </a:tr>
              <a:tr h="274320">
                <a:tc>
                  <a:txBody>
                    <a:bodyPr/>
                    <a:lstStyle/>
                    <a:p>
                      <a:pPr>
                        <a:defRPr sz="800">
                          <a:solidFill>
                            <a:srgbClr val="333333"/>
                          </a:solidFill>
                        </a:defRPr>
                      </a:pPr>
                      <a:r>
                        <a:t>DB 내부 파라미터</a:t>
                      </a:r>
                    </a:p>
                  </a:txBody>
                  <a:tcPr>
                    <a:solidFill>
                      <a:srgbClr val="FFFFFF"/>
                    </a:solidFill>
                  </a:tcPr>
                </a:tc>
                <a:tc>
                  <a:txBody>
                    <a:bodyPr/>
                    <a:lstStyle/>
                    <a:p>
                      <a:pPr>
                        <a:defRPr sz="800">
                          <a:solidFill>
                            <a:srgbClr val="333333"/>
                          </a:solidFill>
                        </a:defRPr>
                      </a:pPr>
                      <a:r>
                        <a:t>PostgreSQL/MongoDB 엔진 튜닝은 DBA 영역</a:t>
                      </a:r>
                    </a:p>
                  </a:txBody>
                  <a:tcPr>
                    <a:solidFill>
                      <a:srgbClr val="FFFFFF"/>
                    </a:solidFill>
                  </a:tcPr>
                </a:tc>
              </a:tr>
              <a:tr h="274320">
                <a:tc>
                  <a:txBody>
                    <a:bodyPr/>
                    <a:lstStyle/>
                    <a:p>
                      <a:pPr>
                        <a:defRPr sz="800">
                          <a:solidFill>
                            <a:srgbClr val="333333"/>
                          </a:solidFill>
                        </a:defRPr>
                      </a:pPr>
                      <a:r>
                        <a:t>OS/네트워크/스토리지</a:t>
                      </a:r>
                    </a:p>
                  </a:txBody>
                  <a:tcPr>
                    <a:solidFill>
                      <a:srgbClr val="F2F2F2"/>
                    </a:solidFill>
                  </a:tcPr>
                </a:tc>
                <a:tc>
                  <a:txBody>
                    <a:bodyPr/>
                    <a:lstStyle/>
                    <a:p>
                      <a:pPr>
                        <a:defRPr sz="800">
                          <a:solidFill>
                            <a:srgbClr val="333333"/>
                          </a:solidFill>
                        </a:defRPr>
                      </a:pPr>
                      <a:r>
                        <a:t>본 컨설팅 범위 외</a:t>
                      </a:r>
                    </a:p>
                  </a:txBody>
                  <a:tcPr>
                    <a:solidFill>
                      <a:srgbClr val="F2F2F2"/>
                    </a:solidFill>
                  </a:tcPr>
                </a:tc>
              </a:tr>
            </a:tbl>
          </a:graphicData>
        </a:graphic>
      </p:graphicFrame>
      <p:sp>
        <p:nvSpPr>
          <p:cNvPr id="7" name="TextBox 6"/>
          <p:cNvSpPr txBox="1"/>
          <p:nvPr/>
        </p:nvSpPr>
        <p:spPr>
          <a:xfrm>
            <a:off x="457200" y="5029200"/>
            <a:ext cx="10972800" cy="457200"/>
          </a:xfrm>
          <a:prstGeom prst="rect">
            <a:avLst/>
          </a:prstGeom>
          <a:solidFill>
            <a:srgbClr val="FFF8DC"/>
          </a:solidFill>
          <a:ln>
            <a:noFill/>
          </a:ln>
        </p:spPr>
        <p:txBody>
          <a:bodyPr wrap="square">
            <a:spAutoFit/>
          </a:bodyPr>
          <a:lstStyle/>
          <a:p>
            <a:pPr>
              <a:defRPr sz="1000" b="1">
                <a:solidFill>
                  <a:srgbClr val="663300"/>
                </a:solidFill>
              </a:defRPr>
            </a:pPr>
            <a:r>
              <a:t>Discussion Point: 이 범위 설정이 적절한지, 컨설팅 측에서 추가 분석이 필요한 영역이 있는지?</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square">
            <a:spAutoFit/>
          </a:bodyPr>
          <a:lstStyle/>
          <a:p>
            <a:pPr>
              <a:defRPr sz="2400" b="1">
                <a:solidFill>
                  <a:srgbClr val="1B2A4A"/>
                </a:solidFill>
              </a:defRPr>
            </a:pPr>
            <a:r>
              <a:t>[B-01] 전사 인프라 아키텍처 토폴로지</a:t>
            </a:r>
          </a:p>
        </p:txBody>
      </p:sp>
      <p:graphicFrame>
        <p:nvGraphicFramePr>
          <p:cNvPr id="3" name="Table 2"/>
          <p:cNvGraphicFramePr>
            <a:graphicFrameLocks noGrp="1"/>
          </p:cNvGraphicFramePr>
          <p:nvPr/>
        </p:nvGraphicFramePr>
        <p:xfrm>
          <a:off x="457200" y="1005840"/>
          <a:ext cx="10972800" cy="1920240"/>
        </p:xfrm>
        <a:graphic>
          <a:graphicData uri="http://schemas.openxmlformats.org/drawingml/2006/table">
            <a:tbl>
              <a:tblPr firstRow="1" bandRow="1">
                <a:tableStyleId>{5C22544A-7EE6-4342-B048-85BDC9FD1C3A}</a:tableStyleId>
              </a:tblPr>
              <a:tblGrid>
                <a:gridCol w="1371600"/>
                <a:gridCol w="1920240"/>
                <a:gridCol w="1920240"/>
                <a:gridCol w="1920240"/>
                <a:gridCol w="1920240"/>
                <a:gridCol w="1920240"/>
              </a:tblGrid>
              <a:tr h="274320">
                <a:tc>
                  <a:txBody>
                    <a:bodyPr/>
                    <a:lstStyle/>
                    <a:p>
                      <a:pPr algn="ctr">
                        <a:defRPr sz="900" b="1">
                          <a:solidFill>
                            <a:srgbClr val="FFFFFF"/>
                          </a:solidFill>
                        </a:defRPr>
                      </a:pPr>
                      <a:r>
                        <a:t>구분</a:t>
                      </a:r>
                    </a:p>
                  </a:txBody>
                  <a:tcPr>
                    <a:solidFill>
                      <a:srgbClr val="1B2A4A"/>
                    </a:solidFill>
                  </a:tcPr>
                </a:tc>
                <a:tc>
                  <a:txBody>
                    <a:bodyPr/>
                    <a:lstStyle/>
                    <a:p>
                      <a:pPr algn="ctr">
                        <a:defRPr sz="900" b="1">
                          <a:solidFill>
                            <a:srgbClr val="FFFFFF"/>
                          </a:solidFill>
                        </a:defRPr>
                      </a:pPr>
                      <a:r>
                        <a:t>플랫폼개발(NP)</a:t>
                      </a:r>
                    </a:p>
                  </a:txBody>
                  <a:tcPr>
                    <a:solidFill>
                      <a:srgbClr val="1B2A4A"/>
                    </a:solidFill>
                  </a:tcPr>
                </a:tc>
                <a:tc>
                  <a:txBody>
                    <a:bodyPr/>
                    <a:lstStyle/>
                    <a:p>
                      <a:pPr algn="ctr">
                        <a:defRPr sz="900" b="1">
                          <a:solidFill>
                            <a:srgbClr val="FFFFFF"/>
                          </a:solidFill>
                        </a:defRPr>
                      </a:pPr>
                      <a:r>
                        <a:t>플랫폼개발(NC)</a:t>
                      </a:r>
                    </a:p>
                  </a:txBody>
                  <a:tcPr>
                    <a:solidFill>
                      <a:srgbClr val="1B2A4A"/>
                    </a:solidFill>
                  </a:tcPr>
                </a:tc>
                <a:tc>
                  <a:txBody>
                    <a:bodyPr/>
                    <a:lstStyle/>
                    <a:p>
                      <a:pPr algn="ctr">
                        <a:defRPr sz="900" b="1">
                          <a:solidFill>
                            <a:srgbClr val="FFFFFF"/>
                          </a:solidFill>
                        </a:defRPr>
                      </a:pPr>
                      <a:r>
                        <a:t>CL플랫폼</a:t>
                      </a:r>
                    </a:p>
                  </a:txBody>
                  <a:tcPr>
                    <a:solidFill>
                      <a:srgbClr val="1B2A4A"/>
                    </a:solidFill>
                  </a:tcPr>
                </a:tc>
                <a:tc>
                  <a:txBody>
                    <a:bodyPr/>
                    <a:lstStyle/>
                    <a:p>
                      <a:pPr algn="ctr">
                        <a:defRPr sz="900" b="1">
                          <a:solidFill>
                            <a:srgbClr val="FFFFFF"/>
                          </a:solidFill>
                        </a:defRPr>
                      </a:pPr>
                      <a:r>
                        <a:t>주차서비스</a:t>
                      </a:r>
                    </a:p>
                  </a:txBody>
                  <a:tcPr>
                    <a:solidFill>
                      <a:srgbClr val="1B2A4A"/>
                    </a:solidFill>
                  </a:tcPr>
                </a:tc>
                <a:tc>
                  <a:txBody>
                    <a:bodyPr/>
                    <a:lstStyle/>
                    <a:p>
                      <a:pPr algn="ctr">
                        <a:defRPr sz="900" b="1">
                          <a:solidFill>
                            <a:srgbClr val="FFFFFF"/>
                          </a:solidFill>
                        </a:defRPr>
                      </a:pPr>
                      <a:r>
                        <a:t>현금정보계</a:t>
                      </a:r>
                    </a:p>
                  </a:txBody>
                  <a:tcPr>
                    <a:solidFill>
                      <a:srgbClr val="1B2A4A"/>
                    </a:solidFill>
                  </a:tcPr>
                </a:tc>
              </a:tr>
              <a:tr h="274320">
                <a:tc>
                  <a:txBody>
                    <a:bodyPr/>
                    <a:lstStyle/>
                    <a:p>
                      <a:pPr>
                        <a:defRPr sz="800">
                          <a:solidFill>
                            <a:srgbClr val="333333"/>
                          </a:solidFill>
                        </a:defRPr>
                      </a:pPr>
                      <a:r>
                        <a:t>WAS</a:t>
                      </a:r>
                    </a:p>
                  </a:txBody>
                  <a:tcPr>
                    <a:solidFill>
                      <a:srgbClr val="FFFFFF"/>
                    </a:solidFill>
                  </a:tcPr>
                </a:tc>
                <a:tc>
                  <a:txBody>
                    <a:bodyPr/>
                    <a:lstStyle/>
                    <a:p>
                      <a:pPr>
                        <a:defRPr sz="800">
                          <a:solidFill>
                            <a:srgbClr val="333333"/>
                          </a:solidFill>
                        </a:defRPr>
                      </a:pPr>
                      <a:r>
                        <a:t>Spring Boot 3.5.3</a:t>
                      </a:r>
                    </a:p>
                    <a:p>
                      <a:pPr>
                        <a:defRPr sz="800">
                          <a:solidFill>
                            <a:srgbClr val="333333"/>
                          </a:solidFill>
                        </a:defRPr>
                      </a:pPr>
                      <a:r>
                        <a:t>내장 Tomcat</a:t>
                      </a:r>
                    </a:p>
                  </a:txBody>
                  <a:tcPr>
                    <a:solidFill>
                      <a:srgbClr val="FFFFFF"/>
                    </a:solidFill>
                  </a:tcPr>
                </a:tc>
                <a:tc>
                  <a:txBody>
                    <a:bodyPr/>
                    <a:lstStyle/>
                    <a:p>
                      <a:pPr>
                        <a:defRPr sz="800">
                          <a:solidFill>
                            <a:srgbClr val="333333"/>
                          </a:solidFill>
                        </a:defRPr>
                      </a:pPr>
                      <a:r>
                        <a:t>Tomcat 9 /</a:t>
                      </a:r>
                    </a:p>
                    <a:p>
                      <a:pPr>
                        <a:defRPr sz="800">
                          <a:solidFill>
                            <a:srgbClr val="333333"/>
                          </a:solidFill>
                        </a:defRPr>
                      </a:pPr>
                      <a:r>
                        <a:t>Spring Boot 4.0.5</a:t>
                      </a:r>
                    </a:p>
                  </a:txBody>
                  <a:tcPr>
                    <a:solidFill>
                      <a:srgbClr val="FFFFFF"/>
                    </a:solidFill>
                  </a:tcPr>
                </a:tc>
                <a:tc>
                  <a:txBody>
                    <a:bodyPr/>
                    <a:lstStyle/>
                    <a:p>
                      <a:pPr>
                        <a:defRPr sz="800">
                          <a:solidFill>
                            <a:srgbClr val="333333"/>
                          </a:solidFill>
                        </a:defRPr>
                      </a:pPr>
                      <a:r>
                        <a:t>CLS 전용 WAS</a:t>
                      </a:r>
                    </a:p>
                  </a:txBody>
                  <a:tcPr>
                    <a:solidFill>
                      <a:srgbClr val="FFFFFF"/>
                    </a:solidFill>
                  </a:tcPr>
                </a:tc>
                <a:tc>
                  <a:txBody>
                    <a:bodyPr/>
                    <a:lstStyle/>
                    <a:p>
                      <a:pPr>
                        <a:defRPr sz="800">
                          <a:solidFill>
                            <a:srgbClr val="333333"/>
                          </a:solidFill>
                        </a:defRPr>
                      </a:pPr>
                      <a:r>
                        <a:t>Tomcat 9.0.70</a:t>
                      </a:r>
                    </a:p>
                  </a:txBody>
                  <a:tcPr>
                    <a:solidFill>
                      <a:srgbClr val="FFFFFF"/>
                    </a:solidFill>
                  </a:tcPr>
                </a:tc>
                <a:tc>
                  <a:txBody>
                    <a:bodyPr/>
                    <a:lstStyle/>
                    <a:p>
                      <a:pPr>
                        <a:defRPr sz="800">
                          <a:solidFill>
                            <a:srgbClr val="333333"/>
                          </a:solidFill>
                        </a:defRPr>
                      </a:pPr>
                      <a:r>
                        <a:t>Liberty</a:t>
                      </a:r>
                    </a:p>
                    <a:p>
                      <a:pPr>
                        <a:defRPr sz="800">
                          <a:solidFill>
                            <a:srgbClr val="333333"/>
                          </a:solidFill>
                        </a:defRPr>
                      </a:pPr>
                      <a:r>
                        <a:t>23.0.0.2 ND</a:t>
                      </a:r>
                    </a:p>
                  </a:txBody>
                  <a:tcPr>
                    <a:solidFill>
                      <a:srgbClr val="FFFFFF"/>
                    </a:solidFill>
                  </a:tcPr>
                </a:tc>
              </a:tr>
              <a:tr h="274320">
                <a:tc>
                  <a:txBody>
                    <a:bodyPr/>
                    <a:lstStyle/>
                    <a:p>
                      <a:pPr>
                        <a:defRPr sz="800">
                          <a:solidFill>
                            <a:srgbClr val="333333"/>
                          </a:solidFill>
                        </a:defRPr>
                      </a:pPr>
                      <a:r>
                        <a:t>Java</a:t>
                      </a:r>
                    </a:p>
                  </a:txBody>
                  <a:tcPr>
                    <a:solidFill>
                      <a:srgbClr val="F2F2F2"/>
                    </a:solidFill>
                  </a:tcPr>
                </a:tc>
                <a:tc>
                  <a:txBody>
                    <a:bodyPr/>
                    <a:lstStyle/>
                    <a:p>
                      <a:pPr>
                        <a:defRPr sz="800">
                          <a:solidFill>
                            <a:srgbClr val="333333"/>
                          </a:solidFill>
                        </a:defRPr>
                      </a:pPr>
                      <a:r>
                        <a:t>17</a:t>
                      </a:r>
                    </a:p>
                  </a:txBody>
                  <a:tcPr>
                    <a:solidFill>
                      <a:srgbClr val="F2F2F2"/>
                    </a:solidFill>
                  </a:tcPr>
                </a:tc>
                <a:tc>
                  <a:txBody>
                    <a:bodyPr/>
                    <a:lstStyle/>
                    <a:p>
                      <a:pPr>
                        <a:defRPr sz="800">
                          <a:solidFill>
                            <a:srgbClr val="333333"/>
                          </a:solidFill>
                        </a:defRPr>
                      </a:pPr>
                      <a:r>
                        <a:t>15 / 25</a:t>
                      </a:r>
                    </a:p>
                  </a:txBody>
                  <a:tcPr>
                    <a:solidFill>
                      <a:srgbClr val="F2F2F2"/>
                    </a:solidFill>
                  </a:tcPr>
                </a:tc>
                <a:tc>
                  <a:txBody>
                    <a:bodyPr/>
                    <a:lstStyle/>
                    <a:p>
                      <a:pPr>
                        <a:defRPr sz="800">
                          <a:solidFill>
                            <a:srgbClr val="333333"/>
                          </a:solidFill>
                        </a:defRPr>
                      </a:pPr>
                      <a:r>
                        <a:t>15.0.2</a:t>
                      </a:r>
                    </a:p>
                  </a:txBody>
                  <a:tcPr>
                    <a:solidFill>
                      <a:srgbClr val="F2F2F2"/>
                    </a:solidFill>
                  </a:tcPr>
                </a:tc>
                <a:tc>
                  <a:txBody>
                    <a:bodyPr/>
                    <a:lstStyle/>
                    <a:p>
                      <a:pPr>
                        <a:defRPr sz="800">
                          <a:solidFill>
                            <a:srgbClr val="333333"/>
                          </a:solidFill>
                        </a:defRPr>
                      </a:pPr>
                      <a:r>
                        <a:t>15.0.2</a:t>
                      </a:r>
                    </a:p>
                    <a:p>
                      <a:pPr>
                        <a:defRPr sz="800">
                          <a:solidFill>
                            <a:srgbClr val="333333"/>
                          </a:solidFill>
                        </a:defRPr>
                      </a:pPr>
                      <a:r>
                        <a:t>(OpenJDK)</a:t>
                      </a:r>
                    </a:p>
                  </a:txBody>
                  <a:tcPr>
                    <a:solidFill>
                      <a:srgbClr val="F2F2F2"/>
                    </a:solidFill>
                  </a:tcPr>
                </a:tc>
                <a:tc>
                  <a:txBody>
                    <a:bodyPr/>
                    <a:lstStyle/>
                    <a:p>
                      <a:pPr>
                        <a:defRPr sz="800">
                          <a:solidFill>
                            <a:srgbClr val="333333"/>
                          </a:solidFill>
                        </a:defRPr>
                      </a:pPr>
                      <a:r>
                        <a:t>15.0.2+7</a:t>
                      </a:r>
                    </a:p>
                    <a:p>
                      <a:pPr>
                        <a:defRPr sz="800">
                          <a:solidFill>
                            <a:srgbClr val="333333"/>
                          </a:solidFill>
                        </a:defRPr>
                      </a:pPr>
                      <a:r>
                        <a:t>(OpenJDK)</a:t>
                      </a:r>
                    </a:p>
                  </a:txBody>
                  <a:tcPr>
                    <a:solidFill>
                      <a:srgbClr val="F2F2F2"/>
                    </a:solidFill>
                  </a:tcPr>
                </a:tc>
              </a:tr>
              <a:tr h="274320">
                <a:tc>
                  <a:txBody>
                    <a:bodyPr/>
                    <a:lstStyle/>
                    <a:p>
                      <a:pPr>
                        <a:defRPr sz="800">
                          <a:solidFill>
                            <a:srgbClr val="333333"/>
                          </a:solidFill>
                        </a:defRPr>
                      </a:pPr>
                      <a:r>
                        <a:t>GC</a:t>
                      </a:r>
                    </a:p>
                  </a:txBody>
                  <a:tcPr>
                    <a:solidFill>
                      <a:srgbClr val="FFFFFF"/>
                    </a:solidFill>
                  </a:tcPr>
                </a:tc>
                <a:tc>
                  <a:txBody>
                    <a:bodyPr/>
                    <a:lstStyle/>
                    <a:p>
                      <a:pPr>
                        <a:defRPr sz="800">
                          <a:solidFill>
                            <a:srgbClr val="333333"/>
                          </a:solidFill>
                        </a:defRPr>
                      </a:pPr>
                      <a:r>
                        <a:t>G1 GC</a:t>
                      </a:r>
                    </a:p>
                  </a:txBody>
                  <a:tcPr>
                    <a:solidFill>
                      <a:srgbClr val="FFFFFF"/>
                    </a:solidFill>
                  </a:tcPr>
                </a:tc>
                <a:tc>
                  <a:txBody>
                    <a:bodyPr/>
                    <a:lstStyle/>
                    <a:p>
                      <a:pPr>
                        <a:defRPr sz="800">
                          <a:solidFill>
                            <a:srgbClr val="333333"/>
                          </a:solidFill>
                        </a:defRPr>
                      </a:pPr>
                      <a:r>
                        <a:t>G1 GC</a:t>
                      </a:r>
                    </a:p>
                  </a:txBody>
                  <a:tcPr>
                    <a:solidFill>
                      <a:srgbClr val="FFFFFF"/>
                    </a:solidFill>
                  </a:tcPr>
                </a:tc>
                <a:tc>
                  <a:txBody>
                    <a:bodyPr/>
                    <a:lstStyle/>
                    <a:p>
                      <a:pPr>
                        <a:defRPr sz="800">
                          <a:solidFill>
                            <a:srgbClr val="333333"/>
                          </a:solidFill>
                        </a:defRPr>
                      </a:pPr>
                      <a:r>
                        <a:t>Parallel GC</a:t>
                      </a:r>
                    </a:p>
                  </a:txBody>
                  <a:tcPr>
                    <a:solidFill>
                      <a:srgbClr val="FFFFFF"/>
                    </a:solidFill>
                  </a:tcPr>
                </a:tc>
                <a:tc>
                  <a:txBody>
                    <a:bodyPr/>
                    <a:lstStyle/>
                    <a:p>
                      <a:pPr>
                        <a:defRPr sz="800">
                          <a:solidFill>
                            <a:srgbClr val="333333"/>
                          </a:solidFill>
                        </a:defRPr>
                      </a:pPr>
                      <a:r>
                        <a:t>G1 GC</a:t>
                      </a:r>
                    </a:p>
                  </a:txBody>
                  <a:tcPr>
                    <a:solidFill>
                      <a:srgbClr val="FFFFFF"/>
                    </a:solidFill>
                  </a:tcPr>
                </a:tc>
                <a:tc>
                  <a:txBody>
                    <a:bodyPr/>
                    <a:lstStyle/>
                    <a:p>
                      <a:pPr>
                        <a:defRPr sz="800">
                          <a:solidFill>
                            <a:srgbClr val="333333"/>
                          </a:solidFill>
                        </a:defRPr>
                      </a:pPr>
                      <a:r>
                        <a:t>Parallel GC</a:t>
                      </a:r>
                    </a:p>
                  </a:txBody>
                  <a:tcPr>
                    <a:solidFill>
                      <a:srgbClr val="FFFFFF"/>
                    </a:solidFill>
                  </a:tcPr>
                </a:tc>
              </a:tr>
              <a:tr h="274320">
                <a:tc>
                  <a:txBody>
                    <a:bodyPr/>
                    <a:lstStyle/>
                    <a:p>
                      <a:pPr>
                        <a:defRPr sz="800">
                          <a:solidFill>
                            <a:srgbClr val="333333"/>
                          </a:solidFill>
                        </a:defRPr>
                      </a:pPr>
                      <a:r>
                        <a:t>Heap</a:t>
                      </a:r>
                    </a:p>
                  </a:txBody>
                  <a:tcPr>
                    <a:solidFill>
                      <a:srgbClr val="F2F2F2"/>
                    </a:solidFill>
                  </a:tcPr>
                </a:tc>
                <a:tc>
                  <a:txBody>
                    <a:bodyPr/>
                    <a:lstStyle/>
                    <a:p>
                      <a:pPr>
                        <a:defRPr sz="800">
                          <a:solidFill>
                            <a:srgbClr val="333333"/>
                          </a:solidFill>
                        </a:defRPr>
                      </a:pPr>
                      <a:r>
                        <a:t>70% (비율)</a:t>
                      </a:r>
                    </a:p>
                  </a:txBody>
                  <a:tcPr>
                    <a:solidFill>
                      <a:srgbClr val="F2F2F2"/>
                    </a:solidFill>
                  </a:tcPr>
                </a:tc>
                <a:tc>
                  <a:txBody>
                    <a:bodyPr/>
                    <a:lstStyle/>
                    <a:p>
                      <a:pPr>
                        <a:defRPr sz="800">
                          <a:solidFill>
                            <a:srgbClr val="333333"/>
                          </a:solidFill>
                        </a:defRPr>
                      </a:pPr>
                      <a:r>
                        <a:t>2048m (고정)</a:t>
                      </a:r>
                    </a:p>
                  </a:txBody>
                  <a:tcPr>
                    <a:solidFill>
                      <a:srgbClr val="F2F2F2"/>
                    </a:solidFill>
                  </a:tcPr>
                </a:tc>
                <a:tc>
                  <a:txBody>
                    <a:bodyPr/>
                    <a:lstStyle/>
                    <a:p>
                      <a:pPr>
                        <a:defRPr sz="800">
                          <a:solidFill>
                            <a:srgbClr val="333333"/>
                          </a:solidFill>
                        </a:defRPr>
                      </a:pPr>
                      <a:r>
                        <a:t>2048m (고정)</a:t>
                      </a:r>
                    </a:p>
                  </a:txBody>
                  <a:tcPr>
                    <a:solidFill>
                      <a:srgbClr val="F2F2F2"/>
                    </a:solidFill>
                  </a:tcPr>
                </a:tc>
                <a:tc>
                  <a:txBody>
                    <a:bodyPr/>
                    <a:lstStyle/>
                    <a:p>
                      <a:pPr>
                        <a:defRPr sz="800">
                          <a:solidFill>
                            <a:srgbClr val="333333"/>
                          </a:solidFill>
                        </a:defRPr>
                      </a:pPr>
                      <a:r>
                        <a:t>2048~4096m</a:t>
                      </a:r>
                    </a:p>
                    <a:p>
                      <a:pPr>
                        <a:defRPr sz="800">
                          <a:solidFill>
                            <a:srgbClr val="333333"/>
                          </a:solidFill>
                        </a:defRPr>
                      </a:pPr>
                      <a:r>
                        <a:t>(가변)</a:t>
                      </a:r>
                    </a:p>
                  </a:txBody>
                  <a:tcPr>
                    <a:solidFill>
                      <a:srgbClr val="F2F2F2"/>
                    </a:solidFill>
                  </a:tcPr>
                </a:tc>
                <a:tc>
                  <a:txBody>
                    <a:bodyPr/>
                    <a:lstStyle/>
                    <a:p>
                      <a:pPr>
                        <a:defRPr sz="800">
                          <a:solidFill>
                            <a:srgbClr val="333333"/>
                          </a:solidFill>
                        </a:defRPr>
                      </a:pPr>
                      <a:r>
                        <a:t>1024~8192m</a:t>
                      </a:r>
                    </a:p>
                    <a:p>
                      <a:pPr>
                        <a:defRPr sz="800">
                          <a:solidFill>
                            <a:srgbClr val="333333"/>
                          </a:solidFill>
                        </a:defRPr>
                      </a:pPr>
                      <a:r>
                        <a:t>(혼합 7컨테이너)</a:t>
                      </a:r>
                    </a:p>
                  </a:txBody>
                  <a:tcPr>
                    <a:solidFill>
                      <a:srgbClr val="F2F2F2"/>
                    </a:solidFill>
                  </a:tcPr>
                </a:tc>
              </a:tr>
              <a:tr h="274320">
                <a:tc>
                  <a:txBody>
                    <a:bodyPr/>
                    <a:lstStyle/>
                    <a:p>
                      <a:pPr>
                        <a:defRPr sz="800">
                          <a:solidFill>
                            <a:srgbClr val="333333"/>
                          </a:solidFill>
                        </a:defRPr>
                      </a:pPr>
                      <a:r>
                        <a:t>Pool</a:t>
                      </a:r>
                    </a:p>
                  </a:txBody>
                  <a:tcPr>
                    <a:solidFill>
                      <a:srgbClr val="FFFFFF"/>
                    </a:solidFill>
                  </a:tcPr>
                </a:tc>
                <a:tc>
                  <a:txBody>
                    <a:bodyPr/>
                    <a:lstStyle/>
                    <a:p>
                      <a:pPr>
                        <a:defRPr sz="800">
                          <a:solidFill>
                            <a:srgbClr val="333333"/>
                          </a:solidFill>
                        </a:defRPr>
                      </a:pPr>
                      <a:r>
                        <a:t>HikariCP</a:t>
                      </a:r>
                    </a:p>
                    <a:p>
                      <a:pPr>
                        <a:defRPr sz="800">
                          <a:solidFill>
                            <a:srgbClr val="333333"/>
                          </a:solidFill>
                        </a:defRPr>
                      </a:pPr>
                      <a:r>
                        <a:t>(max 5)</a:t>
                      </a:r>
                    </a:p>
                  </a:txBody>
                  <a:tcPr>
                    <a:solidFill>
                      <a:srgbClr val="FFFFFF"/>
                    </a:solidFill>
                  </a:tcPr>
                </a:tc>
                <a:tc>
                  <a:txBody>
                    <a:bodyPr/>
                    <a:lstStyle/>
                    <a:p>
                      <a:pPr>
                        <a:defRPr sz="800">
                          <a:solidFill>
                            <a:srgbClr val="333333"/>
                          </a:solidFill>
                        </a:defRPr>
                      </a:pPr>
                      <a:r>
                        <a:t>HikariCP</a:t>
                      </a:r>
                    </a:p>
                    <a:p>
                      <a:pPr>
                        <a:defRPr sz="800">
                          <a:solidFill>
                            <a:srgbClr val="333333"/>
                          </a:solidFill>
                        </a:defRPr>
                      </a:pPr>
                      <a:r>
                        <a:t>(max 100/20)</a:t>
                      </a:r>
                    </a:p>
                  </a:txBody>
                  <a:tcPr>
                    <a:solidFill>
                      <a:srgbClr val="FFFFFF"/>
                    </a:solidFill>
                  </a:tcPr>
                </a:tc>
                <a:tc>
                  <a:txBody>
                    <a:bodyPr/>
                    <a:lstStyle/>
                    <a:p>
                      <a:pPr>
                        <a:defRPr sz="800">
                          <a:solidFill>
                            <a:srgbClr val="333333"/>
                          </a:solidFill>
                        </a:defRPr>
                      </a:pPr>
                      <a:r>
                        <a:t>미명시</a:t>
                      </a:r>
                    </a:p>
                    <a:p>
                      <a:pPr>
                        <a:defRPr sz="800">
                          <a:solidFill>
                            <a:srgbClr val="333333"/>
                          </a:solidFill>
                        </a:defRPr>
                      </a:pPr>
                      <a:r>
                        <a:t>(max 50)</a:t>
                      </a:r>
                    </a:p>
                  </a:txBody>
                  <a:tcPr>
                    <a:solidFill>
                      <a:srgbClr val="FFFFFF"/>
                    </a:solidFill>
                  </a:tcPr>
                </a:tc>
                <a:tc>
                  <a:txBody>
                    <a:bodyPr/>
                    <a:lstStyle/>
                    <a:p>
                      <a:pPr>
                        <a:defRPr sz="800">
                          <a:solidFill>
                            <a:srgbClr val="333333"/>
                          </a:solidFill>
                        </a:defRPr>
                      </a:pPr>
                      <a:r>
                        <a:t>DBCP</a:t>
                      </a:r>
                    </a:p>
                    <a:p>
                      <a:pPr>
                        <a:defRPr sz="800">
                          <a:solidFill>
                            <a:srgbClr val="333333"/>
                          </a:solidFill>
                        </a:defRPr>
                      </a:pPr>
                      <a:r>
                        <a:t>(max 100)</a:t>
                      </a:r>
                    </a:p>
                  </a:txBody>
                  <a:tcPr>
                    <a:solidFill>
                      <a:srgbClr val="FFFFFF"/>
                    </a:solidFill>
                  </a:tcPr>
                </a:tc>
                <a:tc>
                  <a:txBody>
                    <a:bodyPr/>
                    <a:lstStyle/>
                    <a:p>
                      <a:pPr>
                        <a:defRPr sz="800">
                          <a:solidFill>
                            <a:srgbClr val="333333"/>
                          </a:solidFill>
                        </a:defRPr>
                      </a:pPr>
                      <a:r>
                        <a:t>ConnMgr</a:t>
                      </a:r>
                    </a:p>
                    <a:p>
                      <a:pPr>
                        <a:defRPr sz="800">
                          <a:solidFill>
                            <a:srgbClr val="333333"/>
                          </a:solidFill>
                        </a:defRPr>
                      </a:pPr>
                      <a:r>
                        <a:t>(max 50)</a:t>
                      </a:r>
                    </a:p>
                  </a:txBody>
                  <a:tcPr>
                    <a:solidFill>
                      <a:srgbClr val="FFFFFF"/>
                    </a:solidFill>
                  </a:tcPr>
                </a:tc>
              </a:tr>
              <a:tr h="274320">
                <a:tc>
                  <a:txBody>
                    <a:bodyPr/>
                    <a:lstStyle/>
                    <a:p>
                      <a:pPr>
                        <a:defRPr sz="800">
                          <a:solidFill>
                            <a:srgbClr val="333333"/>
                          </a:solidFill>
                        </a:defRPr>
                      </a:pPr>
                      <a:r>
                        <a:t>DB</a:t>
                      </a:r>
                    </a:p>
                  </a:txBody>
                  <a:tcPr>
                    <a:solidFill>
                      <a:srgbClr val="F2F2F2"/>
                    </a:solidFill>
                  </a:tcPr>
                </a:tc>
                <a:tc>
                  <a:txBody>
                    <a:bodyPr/>
                    <a:lstStyle/>
                    <a:p>
                      <a:pPr>
                        <a:defRPr sz="800">
                          <a:solidFill>
                            <a:srgbClr val="333333"/>
                          </a:solidFill>
                        </a:defRPr>
                      </a:pPr>
                      <a:r>
                        <a:t>PostgreSQL</a:t>
                      </a:r>
                    </a:p>
                    <a:p>
                      <a:pPr>
                        <a:defRPr sz="800">
                          <a:solidFill>
                            <a:srgbClr val="333333"/>
                          </a:solidFill>
                        </a:defRPr>
                      </a:pPr>
                      <a:r>
                        <a:t>+ MongoDB</a:t>
                      </a:r>
                    </a:p>
                  </a:txBody>
                  <a:tcPr>
                    <a:solidFill>
                      <a:srgbClr val="F2F2F2"/>
                    </a:solidFill>
                  </a:tcPr>
                </a:tc>
                <a:tc>
                  <a:txBody>
                    <a:bodyPr/>
                    <a:lstStyle/>
                    <a:p>
                      <a:pPr>
                        <a:defRPr sz="800">
                          <a:solidFill>
                            <a:srgbClr val="333333"/>
                          </a:solidFill>
                        </a:defRPr>
                      </a:pPr>
                      <a:r>
                        <a:t>PostgreSQL</a:t>
                      </a:r>
                    </a:p>
                    <a:p>
                      <a:pPr>
                        <a:defRPr sz="800">
                          <a:solidFill>
                            <a:srgbClr val="333333"/>
                          </a:solidFill>
                        </a:defRPr>
                      </a:pPr>
                      <a:r>
                        <a:t>(PgPool-II)</a:t>
                      </a:r>
                    </a:p>
                  </a:txBody>
                  <a:tcPr>
                    <a:solidFill>
                      <a:srgbClr val="F2F2F2"/>
                    </a:solidFill>
                  </a:tcPr>
                </a:tc>
                <a:tc>
                  <a:txBody>
                    <a:bodyPr/>
                    <a:lstStyle/>
                    <a:p>
                      <a:pPr>
                        <a:defRPr sz="800">
                          <a:solidFill>
                            <a:srgbClr val="333333"/>
                          </a:solidFill>
                        </a:defRPr>
                      </a:pPr>
                      <a:r>
                        <a:t>없음</a:t>
                      </a:r>
                    </a:p>
                  </a:txBody>
                  <a:tcPr>
                    <a:solidFill>
                      <a:srgbClr val="F2F2F2"/>
                    </a:solidFill>
                  </a:tcPr>
                </a:tc>
                <a:tc>
                  <a:txBody>
                    <a:bodyPr/>
                    <a:lstStyle/>
                    <a:p>
                      <a:pPr>
                        <a:defRPr sz="800">
                          <a:solidFill>
                            <a:srgbClr val="333333"/>
                          </a:solidFill>
                        </a:defRPr>
                      </a:pPr>
                      <a:r>
                        <a:t>DB2</a:t>
                      </a:r>
                    </a:p>
                    <a:p>
                      <a:pPr>
                        <a:defRPr sz="800">
                          <a:solidFill>
                            <a:srgbClr val="333333"/>
                          </a:solidFill>
                        </a:defRPr>
                      </a:pPr>
                      <a:r>
                        <a:t>(범위 외)</a:t>
                      </a:r>
                    </a:p>
                  </a:txBody>
                  <a:tcPr>
                    <a:solidFill>
                      <a:srgbClr val="F2F2F2"/>
                    </a:solidFill>
                  </a:tcPr>
                </a:tc>
                <a:tc>
                  <a:txBody>
                    <a:bodyPr/>
                    <a:lstStyle/>
                    <a:p>
                      <a:pPr>
                        <a:defRPr sz="800">
                          <a:solidFill>
                            <a:srgbClr val="333333"/>
                          </a:solidFill>
                        </a:defRPr>
                      </a:pPr>
                      <a:r>
                        <a:t>미명시</a:t>
                      </a:r>
                    </a:p>
                  </a:txBody>
                  <a:tcPr>
                    <a:solidFill>
                      <a:srgbClr val="F2F2F2"/>
                    </a:solidFill>
                  </a:tcPr>
                </a:tc>
              </a:tr>
            </a:tbl>
          </a:graphicData>
        </a:graphic>
      </p:graphicFrame>
      <p:sp>
        <p:nvSpPr>
          <p:cNvPr id="4" name="TextBox 3"/>
          <p:cNvSpPr txBox="1"/>
          <p:nvPr/>
        </p:nvSpPr>
        <p:spPr>
          <a:xfrm>
            <a:off x="457200" y="5303520"/>
            <a:ext cx="10972800" cy="457200"/>
          </a:xfrm>
          <a:prstGeom prst="rect">
            <a:avLst/>
          </a:prstGeom>
          <a:solidFill>
            <a:srgbClr val="FFF8DC"/>
          </a:solidFill>
          <a:ln>
            <a:noFill/>
          </a:ln>
        </p:spPr>
        <p:txBody>
          <a:bodyPr wrap="square">
            <a:spAutoFit/>
          </a:bodyPr>
          <a:lstStyle/>
          <a:p>
            <a:pPr>
              <a:defRPr sz="1000" b="1">
                <a:solidFill>
                  <a:srgbClr val="663300"/>
                </a:solidFill>
              </a:defRPr>
            </a:pPr>
            <a:r>
              <a:t>Discussion Point: 이 수준의 파편화가 유사 기업 사례에서 흔히 관찰되는 패턴인지?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square">
            <a:spAutoFit/>
          </a:bodyPr>
          <a:lstStyle/>
          <a:p>
            <a:pPr>
              <a:defRPr sz="2400" b="1">
                <a:solidFill>
                  <a:srgbClr val="1B2A4A"/>
                </a:solidFill>
              </a:defRPr>
            </a:pPr>
            <a:r>
              <a:t>[B-02] 파편화 심각도 히트맵</a:t>
            </a:r>
          </a:p>
        </p:txBody>
      </p:sp>
      <p:graphicFrame>
        <p:nvGraphicFramePr>
          <p:cNvPr id="3" name="Table 2"/>
          <p:cNvGraphicFramePr>
            <a:graphicFrameLocks noGrp="1"/>
          </p:cNvGraphicFramePr>
          <p:nvPr/>
        </p:nvGraphicFramePr>
        <p:xfrm>
          <a:off x="457200" y="1005840"/>
          <a:ext cx="10972800" cy="3017520"/>
        </p:xfrm>
        <a:graphic>
          <a:graphicData uri="http://schemas.openxmlformats.org/drawingml/2006/table">
            <a:tbl>
              <a:tblPr firstRow="1" bandRow="1">
                <a:tableStyleId>{5C22544A-7EE6-4342-B048-85BDC9FD1C3A}</a:tableStyleId>
              </a:tblPr>
              <a:tblGrid>
                <a:gridCol w="1097280"/>
                <a:gridCol w="2286000"/>
                <a:gridCol w="1828800"/>
                <a:gridCol w="3200400"/>
                <a:gridCol w="2560320"/>
              </a:tblGrid>
              <a:tr h="274320">
                <a:tc>
                  <a:txBody>
                    <a:bodyPr/>
                    <a:lstStyle/>
                    <a:p>
                      <a:pPr algn="ctr">
                        <a:defRPr sz="900" b="1">
                          <a:solidFill>
                            <a:srgbClr val="FFFFFF"/>
                          </a:solidFill>
                        </a:defRPr>
                      </a:pPr>
                      <a:r>
                        <a:t>등급</a:t>
                      </a:r>
                    </a:p>
                  </a:txBody>
                  <a:tcPr>
                    <a:solidFill>
                      <a:srgbClr val="1B2A4A"/>
                    </a:solidFill>
                  </a:tcPr>
                </a:tc>
                <a:tc>
                  <a:txBody>
                    <a:bodyPr/>
                    <a:lstStyle/>
                    <a:p>
                      <a:pPr algn="ctr">
                        <a:defRPr sz="900" b="1">
                          <a:solidFill>
                            <a:srgbClr val="FFFFFF"/>
                          </a:solidFill>
                        </a:defRPr>
                      </a:pPr>
                      <a:r>
                        <a:t>항목</a:t>
                      </a:r>
                    </a:p>
                  </a:txBody>
                  <a:tcPr>
                    <a:solidFill>
                      <a:srgbClr val="1B2A4A"/>
                    </a:solidFill>
                  </a:tcPr>
                </a:tc>
                <a:tc>
                  <a:txBody>
                    <a:bodyPr/>
                    <a:lstStyle/>
                    <a:p>
                      <a:pPr algn="ctr">
                        <a:defRPr sz="900" b="1">
                          <a:solidFill>
                            <a:srgbClr val="FFFFFF"/>
                          </a:solidFill>
                        </a:defRPr>
                      </a:pPr>
                      <a:r>
                        <a:t>팀</a:t>
                      </a:r>
                    </a:p>
                  </a:txBody>
                  <a:tcPr>
                    <a:solidFill>
                      <a:srgbClr val="1B2A4A"/>
                    </a:solidFill>
                  </a:tcPr>
                </a:tc>
                <a:tc>
                  <a:txBody>
                    <a:bodyPr/>
                    <a:lstStyle/>
                    <a:p>
                      <a:pPr algn="ctr">
                        <a:defRPr sz="900" b="1">
                          <a:solidFill>
                            <a:srgbClr val="FFFFFF"/>
                          </a:solidFill>
                        </a:defRPr>
                      </a:pPr>
                      <a:r>
                        <a:t>현황 데이터</a:t>
                      </a:r>
                    </a:p>
                  </a:txBody>
                  <a:tcPr>
                    <a:solidFill>
                      <a:srgbClr val="1B2A4A"/>
                    </a:solidFill>
                  </a:tcPr>
                </a:tc>
                <a:tc>
                  <a:txBody>
                    <a:bodyPr/>
                    <a:lstStyle/>
                    <a:p>
                      <a:pPr algn="ctr">
                        <a:defRPr sz="900" b="1">
                          <a:solidFill>
                            <a:srgbClr val="FFFFFF"/>
                          </a:solidFill>
                        </a:defRPr>
                      </a:pPr>
                      <a:r>
                        <a:t>근거</a:t>
                      </a:r>
                    </a:p>
                  </a:txBody>
                  <a:tcPr>
                    <a:solidFill>
                      <a:srgbClr val="1B2A4A"/>
                    </a:solidFill>
                  </a:tcPr>
                </a:tc>
              </a:tr>
              <a:tr h="274320">
                <a:tc>
                  <a:txBody>
                    <a:bodyPr/>
                    <a:lstStyle/>
                    <a:p>
                      <a:pPr>
                        <a:defRPr sz="800" b="1">
                          <a:solidFill>
                            <a:srgbClr val="CC0000"/>
                          </a:solidFill>
                        </a:defRPr>
                      </a:pPr>
                      <a:r>
                        <a:t>CRITICAL</a:t>
                      </a:r>
                    </a:p>
                  </a:txBody>
                  <a:tcPr>
                    <a:solidFill>
                      <a:srgbClr val="FFE0E0"/>
                    </a:solidFill>
                  </a:tcPr>
                </a:tc>
                <a:tc>
                  <a:txBody>
                    <a:bodyPr/>
                    <a:lstStyle/>
                    <a:p>
                      <a:pPr>
                        <a:defRPr sz="800">
                          <a:solidFill>
                            <a:srgbClr val="333333"/>
                          </a:solidFill>
                        </a:defRPr>
                      </a:pPr>
                      <a:r>
                        <a:t>CL플랫폼 Old Gen 90%</a:t>
                      </a:r>
                    </a:p>
                  </a:txBody>
                  <a:tcPr>
                    <a:solidFill>
                      <a:srgbClr val="FFE0E0"/>
                    </a:solidFill>
                  </a:tcPr>
                </a:tc>
                <a:tc>
                  <a:txBody>
                    <a:bodyPr/>
                    <a:lstStyle/>
                    <a:p>
                      <a:pPr>
                        <a:defRPr sz="800">
                          <a:solidFill>
                            <a:srgbClr val="333333"/>
                          </a:solidFill>
                        </a:defRPr>
                      </a:pPr>
                      <a:r>
                        <a:t>CL플랫폼</a:t>
                      </a:r>
                    </a:p>
                  </a:txBody>
                  <a:tcPr>
                    <a:solidFill>
                      <a:srgbClr val="FFE0E0"/>
                    </a:solidFill>
                  </a:tcPr>
                </a:tc>
                <a:tc>
                  <a:txBody>
                    <a:bodyPr/>
                    <a:lstStyle/>
                    <a:p>
                      <a:pPr>
                        <a:defRPr sz="800">
                          <a:solidFill>
                            <a:srgbClr val="333333"/>
                          </a:solidFill>
                        </a:defRPr>
                      </a:pPr>
                      <a:r>
                        <a:t>Old 1,418,698K / 1,572,864K (90.2%), 잔여 150MB</a:t>
                      </a:r>
                    </a:p>
                  </a:txBody>
                  <a:tcPr>
                    <a:solidFill>
                      <a:srgbClr val="FFE0E0"/>
                    </a:solidFill>
                  </a:tcPr>
                </a:tc>
                <a:tc>
                  <a:txBody>
                    <a:bodyPr/>
                    <a:lstStyle/>
                    <a:p>
                      <a:pPr>
                        <a:defRPr sz="800">
                          <a:solidFill>
                            <a:srgbClr val="333333"/>
                          </a:solidFill>
                        </a:defRPr>
                      </a:pPr>
                      <a:r>
                        <a:t>Full GC 시 서비스 수초~수십초 중단</a:t>
                      </a:r>
                    </a:p>
                  </a:txBody>
                  <a:tcPr>
                    <a:solidFill>
                      <a:srgbClr val="FFE0E0"/>
                    </a:solidFill>
                  </a:tcPr>
                </a:tc>
              </a:tr>
              <a:tr h="274320">
                <a:tc>
                  <a:txBody>
                    <a:bodyPr/>
                    <a:lstStyle/>
                    <a:p>
                      <a:pPr>
                        <a:defRPr sz="800" b="1">
                          <a:solidFill>
                            <a:srgbClr val="CC0000"/>
                          </a:solidFill>
                        </a:defRPr>
                      </a:pPr>
                      <a:r>
                        <a:t>CRITICAL</a:t>
                      </a:r>
                    </a:p>
                  </a:txBody>
                  <a:tcPr>
                    <a:solidFill>
                      <a:srgbClr val="FFE0E0"/>
                    </a:solidFill>
                  </a:tcPr>
                </a:tc>
                <a:tc>
                  <a:txBody>
                    <a:bodyPr/>
                    <a:lstStyle/>
                    <a:p>
                      <a:pPr>
                        <a:defRPr sz="800">
                          <a:solidFill>
                            <a:srgbClr val="333333"/>
                          </a:solidFill>
                        </a:defRPr>
                      </a:pPr>
                      <a:r>
                        <a:t>Java 15 비LTS EOL</a:t>
                      </a:r>
                    </a:p>
                  </a:txBody>
                  <a:tcPr>
                    <a:solidFill>
                      <a:srgbClr val="FFE0E0"/>
                    </a:solidFill>
                  </a:tcPr>
                </a:tc>
                <a:tc>
                  <a:txBody>
                    <a:bodyPr/>
                    <a:lstStyle/>
                    <a:p>
                      <a:pPr>
                        <a:defRPr sz="800">
                          <a:solidFill>
                            <a:srgbClr val="333333"/>
                          </a:solidFill>
                        </a:defRPr>
                      </a:pPr>
                      <a:r>
                        <a:t>CL/주차/현금/NC</a:t>
                      </a:r>
                    </a:p>
                  </a:txBody>
                  <a:tcPr>
                    <a:solidFill>
                      <a:srgbClr val="FFE0E0"/>
                    </a:solidFill>
                  </a:tcPr>
                </a:tc>
                <a:tc>
                  <a:txBody>
                    <a:bodyPr/>
                    <a:lstStyle/>
                    <a:p>
                      <a:pPr>
                        <a:defRPr sz="800">
                          <a:solidFill>
                            <a:srgbClr val="333333"/>
                          </a:solidFill>
                        </a:defRPr>
                      </a:pPr>
                      <a:r>
                        <a:t>Java 15.0.2, 2021-03 EOL, EOL 후 5년 경과</a:t>
                      </a:r>
                    </a:p>
                  </a:txBody>
                  <a:tcPr>
                    <a:solidFill>
                      <a:srgbClr val="FFE0E0"/>
                    </a:solidFill>
                  </a:tcPr>
                </a:tc>
                <a:tc>
                  <a:txBody>
                    <a:bodyPr/>
                    <a:lstStyle/>
                    <a:p>
                      <a:pPr>
                        <a:defRPr sz="800">
                          <a:solidFill>
                            <a:srgbClr val="333333"/>
                          </a:solidFill>
                        </a:defRPr>
                      </a:pPr>
                      <a:r>
                        <a:t>보안 패치 미제공, CVE 대응 불가</a:t>
                      </a:r>
                    </a:p>
                  </a:txBody>
                  <a:tcPr>
                    <a:solidFill>
                      <a:srgbClr val="FFE0E0"/>
                    </a:solidFill>
                  </a:tcPr>
                </a:tc>
              </a:tr>
              <a:tr h="274320">
                <a:tc>
                  <a:txBody>
                    <a:bodyPr/>
                    <a:lstStyle/>
                    <a:p>
                      <a:pPr>
                        <a:defRPr sz="800" b="1">
                          <a:solidFill>
                            <a:srgbClr val="CC0000"/>
                          </a:solidFill>
                        </a:defRPr>
                      </a:pPr>
                      <a:r>
                        <a:t>CRITICAL</a:t>
                      </a:r>
                    </a:p>
                  </a:txBody>
                  <a:tcPr>
                    <a:solidFill>
                      <a:srgbClr val="FFE0E0"/>
                    </a:solidFill>
                  </a:tcPr>
                </a:tc>
                <a:tc>
                  <a:txBody>
                    <a:bodyPr/>
                    <a:lstStyle/>
                    <a:p>
                      <a:pPr>
                        <a:defRPr sz="800" b="1">
                          <a:solidFill>
                            <a:srgbClr val="CC0000"/>
                          </a:solidFill>
                        </a:defRPr>
                      </a:pPr>
                      <a:r>
                        <a:t>현금정보계 Metaspace 역전</a:t>
                      </a:r>
                    </a:p>
                  </a:txBody>
                  <a:tcPr>
                    <a:solidFill>
                      <a:srgbClr val="FFE0E0"/>
                    </a:solidFill>
                  </a:tcPr>
                </a:tc>
                <a:tc>
                  <a:txBody>
                    <a:bodyPr/>
                    <a:lstStyle/>
                    <a:p>
                      <a:pPr>
                        <a:defRPr sz="800">
                          <a:solidFill>
                            <a:srgbClr val="333333"/>
                          </a:solidFill>
                        </a:defRPr>
                      </a:pPr>
                      <a:r>
                        <a:t>현금정보계</a:t>
                      </a:r>
                    </a:p>
                  </a:txBody>
                  <a:tcPr>
                    <a:solidFill>
                      <a:srgbClr val="FFE0E0"/>
                    </a:solidFill>
                  </a:tcPr>
                </a:tc>
                <a:tc>
                  <a:txBody>
                    <a:bodyPr/>
                    <a:lstStyle/>
                    <a:p>
                      <a:pPr>
                        <a:defRPr sz="800">
                          <a:solidFill>
                            <a:srgbClr val="333333"/>
                          </a:solidFill>
                        </a:defRPr>
                      </a:pPr>
                      <a:r>
                        <a:t>6개 컨테이너 Max=16m &lt; Min=256~512m</a:t>
                      </a:r>
                    </a:p>
                  </a:txBody>
                  <a:tcPr>
                    <a:solidFill>
                      <a:srgbClr val="FFE0E0"/>
                    </a:solidFill>
                  </a:tcPr>
                </a:tc>
                <a:tc>
                  <a:txBody>
                    <a:bodyPr/>
                    <a:lstStyle/>
                    <a:p>
                      <a:pPr>
                        <a:defRPr sz="800">
                          <a:solidFill>
                            <a:srgbClr val="333333"/>
                          </a:solidFill>
                        </a:defRPr>
                      </a:pPr>
                      <a:r>
                        <a:t>입력 오류 의심, 실제 반영 여부 불명</a:t>
                      </a:r>
                    </a:p>
                  </a:txBody>
                  <a:tcPr>
                    <a:solidFill>
                      <a:srgbClr val="FFE0E0"/>
                    </a:solidFill>
                  </a:tcPr>
                </a:tc>
              </a:tr>
              <a:tr h="274320">
                <a:tc>
                  <a:txBody>
                    <a:bodyPr/>
                    <a:lstStyle/>
                    <a:p>
                      <a:pPr>
                        <a:defRPr sz="800">
                          <a:solidFill>
                            <a:srgbClr val="333333"/>
                          </a:solidFill>
                        </a:defRPr>
                      </a:pPr>
                      <a:r>
                        <a:t>WARNING</a:t>
                      </a:r>
                    </a:p>
                  </a:txBody>
                  <a:tcPr>
                    <a:solidFill>
                      <a:srgbClr val="F2F2F2"/>
                    </a:solidFill>
                  </a:tcPr>
                </a:tc>
                <a:tc>
                  <a:txBody>
                    <a:bodyPr/>
                    <a:lstStyle/>
                    <a:p>
                      <a:pPr>
                        <a:defRPr sz="800">
                          <a:solidFill>
                            <a:srgbClr val="333333"/>
                          </a:solidFill>
                        </a:defRPr>
                      </a:pPr>
                      <a:r>
                        <a:t>GC 이원화 (Parallel)</a:t>
                      </a:r>
                    </a:p>
                  </a:txBody>
                  <a:tcPr>
                    <a:solidFill>
                      <a:srgbClr val="F2F2F2"/>
                    </a:solidFill>
                  </a:tcPr>
                </a:tc>
                <a:tc>
                  <a:txBody>
                    <a:bodyPr/>
                    <a:lstStyle/>
                    <a:p>
                      <a:pPr>
                        <a:defRPr sz="800">
                          <a:solidFill>
                            <a:srgbClr val="333333"/>
                          </a:solidFill>
                        </a:defRPr>
                      </a:pPr>
                      <a:r>
                        <a:t>CL/현금</a:t>
                      </a:r>
                    </a:p>
                  </a:txBody>
                  <a:tcPr>
                    <a:solidFill>
                      <a:srgbClr val="F2F2F2"/>
                    </a:solidFill>
                  </a:tcPr>
                </a:tc>
                <a:tc>
                  <a:txBody>
                    <a:bodyPr/>
                    <a:lstStyle/>
                    <a:p>
                      <a:pPr>
                        <a:defRPr sz="800">
                          <a:solidFill>
                            <a:srgbClr val="333333"/>
                          </a:solidFill>
                        </a:defRPr>
                      </a:pPr>
                      <a:r>
                        <a:t>Parallel GC 2팀, G1 GC 3팀</a:t>
                      </a:r>
                    </a:p>
                  </a:txBody>
                  <a:tcPr>
                    <a:solidFill>
                      <a:srgbClr val="F2F2F2"/>
                    </a:solidFill>
                  </a:tcPr>
                </a:tc>
                <a:tc>
                  <a:txBody>
                    <a:bodyPr/>
                    <a:lstStyle/>
                    <a:p>
                      <a:pPr>
                        <a:defRPr sz="800">
                          <a:solidFill>
                            <a:srgbClr val="333333"/>
                          </a:solidFill>
                        </a:defRPr>
                      </a:pPr>
                      <a:r>
                        <a:t>Full GC 시 STW 수초~수십초</a:t>
                      </a:r>
                    </a:p>
                  </a:txBody>
                  <a:tcPr>
                    <a:solidFill>
                      <a:srgbClr val="F2F2F2"/>
                    </a:solidFill>
                  </a:tcPr>
                </a:tc>
              </a:tr>
              <a:tr h="274320">
                <a:tc>
                  <a:txBody>
                    <a:bodyPr/>
                    <a:lstStyle/>
                    <a:p>
                      <a:pPr>
                        <a:defRPr sz="800">
                          <a:solidFill>
                            <a:srgbClr val="333333"/>
                          </a:solidFill>
                        </a:defRPr>
                      </a:pPr>
                      <a:r>
                        <a:t>WARNING</a:t>
                      </a:r>
                    </a:p>
                  </a:txBody>
                  <a:tcPr>
                    <a:solidFill>
                      <a:srgbClr val="FFFFFF"/>
                    </a:solidFill>
                  </a:tcPr>
                </a:tc>
                <a:tc>
                  <a:txBody>
                    <a:bodyPr/>
                    <a:lstStyle/>
                    <a:p>
                      <a:pPr>
                        <a:defRPr sz="800">
                          <a:solidFill>
                            <a:srgbClr val="333333"/>
                          </a:solidFill>
                        </a:defRPr>
                      </a:pPr>
                      <a:r>
                        <a:t>CL maxThreads 무제한</a:t>
                      </a:r>
                    </a:p>
                  </a:txBody>
                  <a:tcPr>
                    <a:solidFill>
                      <a:srgbClr val="FFFFFF"/>
                    </a:solidFill>
                  </a:tcPr>
                </a:tc>
                <a:tc>
                  <a:txBody>
                    <a:bodyPr/>
                    <a:lstStyle/>
                    <a:p>
                      <a:pPr>
                        <a:defRPr sz="800">
                          <a:solidFill>
                            <a:srgbClr val="333333"/>
                          </a:solidFill>
                        </a:defRPr>
                      </a:pPr>
                      <a:r>
                        <a:t>CL플랫폼</a:t>
                      </a:r>
                    </a:p>
                  </a:txBody>
                  <a:tcPr>
                    <a:solidFill>
                      <a:srgbClr val="FFFFFF"/>
                    </a:solidFill>
                  </a:tcPr>
                </a:tc>
                <a:tc>
                  <a:txBody>
                    <a:bodyPr/>
                    <a:lstStyle/>
                    <a:p>
                      <a:pPr>
                        <a:defRPr sz="800">
                          <a:solidFill>
                            <a:srgbClr val="333333"/>
                          </a:solidFill>
                        </a:defRPr>
                      </a:pPr>
                      <a:r>
                        <a:t>maxThreads = -1</a:t>
                      </a:r>
                    </a:p>
                  </a:txBody>
                  <a:tcPr>
                    <a:solidFill>
                      <a:srgbClr val="FFFFFF"/>
                    </a:solidFill>
                  </a:tcPr>
                </a:tc>
                <a:tc>
                  <a:txBody>
                    <a:bodyPr/>
                    <a:lstStyle/>
                    <a:p>
                      <a:pPr>
                        <a:defRPr sz="800" b="1">
                          <a:solidFill>
                            <a:srgbClr val="CC0000"/>
                          </a:solidFill>
                        </a:defRPr>
                      </a:pPr>
                      <a:r>
                        <a:t>백프레셔 부재, 자원 고갈 위험</a:t>
                      </a:r>
                    </a:p>
                  </a:txBody>
                  <a:tcPr>
                    <a:solidFill>
                      <a:srgbClr val="FFFFFF"/>
                    </a:solidFill>
                  </a:tcPr>
                </a:tc>
              </a:tr>
              <a:tr h="274320">
                <a:tc>
                  <a:txBody>
                    <a:bodyPr/>
                    <a:lstStyle/>
                    <a:p>
                      <a:pPr>
                        <a:defRPr sz="800">
                          <a:solidFill>
                            <a:srgbClr val="333333"/>
                          </a:solidFill>
                        </a:defRPr>
                      </a:pPr>
                      <a:r>
                        <a:t>WARNING</a:t>
                      </a:r>
                    </a:p>
                  </a:txBody>
                  <a:tcPr>
                    <a:solidFill>
                      <a:srgbClr val="F2F2F2"/>
                    </a:solidFill>
                  </a:tcPr>
                </a:tc>
                <a:tc>
                  <a:txBody>
                    <a:bodyPr/>
                    <a:lstStyle/>
                    <a:p>
                      <a:pPr>
                        <a:defRPr sz="800">
                          <a:solidFill>
                            <a:srgbClr val="333333"/>
                          </a:solidFill>
                        </a:defRPr>
                      </a:pPr>
                      <a:r>
                        <a:t>NC maxLifetime 초과</a:t>
                      </a:r>
                    </a:p>
                  </a:txBody>
                  <a:tcPr>
                    <a:solidFill>
                      <a:srgbClr val="F2F2F2"/>
                    </a:solidFill>
                  </a:tcPr>
                </a:tc>
                <a:tc>
                  <a:txBody>
                    <a:bodyPr/>
                    <a:lstStyle/>
                    <a:p>
                      <a:pPr>
                        <a:defRPr sz="800">
                          <a:solidFill>
                            <a:srgbClr val="333333"/>
                          </a:solidFill>
                        </a:defRPr>
                      </a:pPr>
                      <a:r>
                        <a:t>플랫폼개발(NC)</a:t>
                      </a:r>
                    </a:p>
                  </a:txBody>
                  <a:tcPr>
                    <a:solidFill>
                      <a:srgbClr val="F2F2F2"/>
                    </a:solidFill>
                  </a:tcPr>
                </a:tc>
                <a:tc>
                  <a:txBody>
                    <a:bodyPr/>
                    <a:lstStyle/>
                    <a:p>
                      <a:pPr>
                        <a:defRPr sz="800">
                          <a:solidFill>
                            <a:srgbClr val="333333"/>
                          </a:solidFill>
                        </a:defRPr>
                      </a:pPr>
                      <a:r>
                        <a:t>maxLifetime 2,000,000ms (~33분)</a:t>
                      </a:r>
                    </a:p>
                  </a:txBody>
                  <a:tcPr>
                    <a:solidFill>
                      <a:srgbClr val="F2F2F2"/>
                    </a:solidFill>
                  </a:tcPr>
                </a:tc>
                <a:tc>
                  <a:txBody>
                    <a:bodyPr/>
                    <a:lstStyle/>
                    <a:p>
                      <a:pPr>
                        <a:defRPr sz="800">
                          <a:solidFill>
                            <a:srgbClr val="333333"/>
                          </a:solidFill>
                        </a:defRPr>
                      </a:pPr>
                      <a:r>
                        <a:t>PgPool timeout 30분 초과</a:t>
                      </a:r>
                    </a:p>
                  </a:txBody>
                  <a:tcPr>
                    <a:solidFill>
                      <a:srgbClr val="F2F2F2"/>
                    </a:solidFill>
                  </a:tcPr>
                </a:tc>
              </a:tr>
              <a:tr h="274320">
                <a:tc>
                  <a:txBody>
                    <a:bodyPr/>
                    <a:lstStyle/>
                    <a:p>
                      <a:pPr>
                        <a:defRPr sz="800">
                          <a:solidFill>
                            <a:srgbClr val="333333"/>
                          </a:solidFill>
                        </a:defRPr>
                      </a:pPr>
                      <a:r>
                        <a:t>WARNING</a:t>
                      </a:r>
                    </a:p>
                  </a:txBody>
                  <a:tcPr>
                    <a:solidFill>
                      <a:srgbClr val="FFFFFF"/>
                    </a:solidFill>
                  </a:tcPr>
                </a:tc>
                <a:tc>
                  <a:txBody>
                    <a:bodyPr/>
                    <a:lstStyle/>
                    <a:p>
                      <a:pPr>
                        <a:defRPr sz="800">
                          <a:solidFill>
                            <a:srgbClr val="333333"/>
                          </a:solidFill>
                        </a:defRPr>
                      </a:pPr>
                      <a:r>
                        <a:t>MongoDB COLLSCAN 미감시</a:t>
                      </a:r>
                    </a:p>
                  </a:txBody>
                  <a:tcPr>
                    <a:solidFill>
                      <a:srgbClr val="FFFFFF"/>
                    </a:solidFill>
                  </a:tcPr>
                </a:tc>
                <a:tc>
                  <a:txBody>
                    <a:bodyPr/>
                    <a:lstStyle/>
                    <a:p>
                      <a:pPr>
                        <a:defRPr sz="800">
                          <a:solidFill>
                            <a:srgbClr val="333333"/>
                          </a:solidFill>
                        </a:defRPr>
                      </a:pPr>
                      <a:r>
                        <a:t>플랫폼개발(NP)</a:t>
                      </a:r>
                    </a:p>
                  </a:txBody>
                  <a:tcPr>
                    <a:solidFill>
                      <a:srgbClr val="FFFFFF"/>
                    </a:solidFill>
                  </a:tcPr>
                </a:tc>
                <a:tc>
                  <a:txBody>
                    <a:bodyPr/>
                    <a:lstStyle/>
                    <a:p>
                      <a:pPr>
                        <a:defRPr sz="800">
                          <a:solidFill>
                            <a:srgbClr val="333333"/>
                          </a:solidFill>
                        </a:defRPr>
                      </a:pPr>
                      <a:r>
                        <a:t>Profiling 미수행</a:t>
                      </a:r>
                    </a:p>
                  </a:txBody>
                  <a:tcPr>
                    <a:solidFill>
                      <a:srgbClr val="FFFFFF"/>
                    </a:solidFill>
                  </a:tcPr>
                </a:tc>
                <a:tc>
                  <a:txBody>
                    <a:bodyPr/>
                    <a:lstStyle/>
                    <a:p>
                      <a:pPr>
                        <a:defRPr sz="800">
                          <a:solidFill>
                            <a:srgbClr val="333333"/>
                          </a:solidFill>
                        </a:defRPr>
                      </a:pPr>
                      <a:r>
                        <a:t>인덱스 누락 시 선형적 성능 저하</a:t>
                      </a:r>
                    </a:p>
                  </a:txBody>
                  <a:tcPr>
                    <a:solidFill>
                      <a:srgbClr val="FFFFFF"/>
                    </a:solidFill>
                  </a:tcPr>
                </a:tc>
              </a:tr>
              <a:tr h="274320">
                <a:tc>
                  <a:txBody>
                    <a:bodyPr/>
                    <a:lstStyle/>
                    <a:p>
                      <a:pPr>
                        <a:defRPr sz="800">
                          <a:solidFill>
                            <a:srgbClr val="333333"/>
                          </a:solidFill>
                        </a:defRPr>
                      </a:pPr>
                      <a:r>
                        <a:t>INFO</a:t>
                      </a:r>
                    </a:p>
                  </a:txBody>
                  <a:tcPr>
                    <a:solidFill>
                      <a:srgbClr val="F2F2F2"/>
                    </a:solidFill>
                  </a:tcPr>
                </a:tc>
                <a:tc>
                  <a:txBody>
                    <a:bodyPr/>
                    <a:lstStyle/>
                    <a:p>
                      <a:pPr>
                        <a:defRPr sz="800">
                          <a:solidFill>
                            <a:srgbClr val="333333"/>
                          </a:solidFill>
                        </a:defRPr>
                      </a:pPr>
                      <a:r>
                        <a:t>Heap 전략 4종 혼재</a:t>
                      </a:r>
                    </a:p>
                  </a:txBody>
                  <a:tcPr>
                    <a:solidFill>
                      <a:srgbClr val="F2F2F2"/>
                    </a:solidFill>
                  </a:tcPr>
                </a:tc>
                <a:tc>
                  <a:txBody>
                    <a:bodyPr/>
                    <a:lstStyle/>
                    <a:p>
                      <a:pPr>
                        <a:defRPr sz="800">
                          <a:solidFill>
                            <a:srgbClr val="333333"/>
                          </a:solidFill>
                        </a:defRPr>
                      </a:pPr>
                      <a:r>
                        <a:t>전사</a:t>
                      </a:r>
                    </a:p>
                  </a:txBody>
                  <a:tcPr>
                    <a:solidFill>
                      <a:srgbClr val="F2F2F2"/>
                    </a:solidFill>
                  </a:tcPr>
                </a:tc>
                <a:tc>
                  <a:txBody>
                    <a:bodyPr/>
                    <a:lstStyle/>
                    <a:p>
                      <a:pPr>
                        <a:defRPr sz="800">
                          <a:solidFill>
                            <a:srgbClr val="333333"/>
                          </a:solidFill>
                        </a:defRPr>
                      </a:pPr>
                      <a:r>
                        <a:t>비율/고정/가변/혼합</a:t>
                      </a:r>
                    </a:p>
                  </a:txBody>
                  <a:tcPr>
                    <a:solidFill>
                      <a:srgbClr val="F2F2F2"/>
                    </a:solidFill>
                  </a:tcPr>
                </a:tc>
                <a:tc>
                  <a:txBody>
                    <a:bodyPr/>
                    <a:lstStyle/>
                    <a:p>
                      <a:pPr>
                        <a:defRPr sz="800">
                          <a:solidFill>
                            <a:srgbClr val="333333"/>
                          </a:solidFill>
                        </a:defRPr>
                      </a:pPr>
                      <a:r>
                        <a:t>Xms=Xmx 고정 권장</a:t>
                      </a:r>
                    </a:p>
                  </a:txBody>
                  <a:tcPr>
                    <a:solidFill>
                      <a:srgbClr val="F2F2F2"/>
                    </a:solidFill>
                  </a:tcPr>
                </a:tc>
              </a:tr>
              <a:tr h="274320">
                <a:tc>
                  <a:txBody>
                    <a:bodyPr/>
                    <a:lstStyle/>
                    <a:p>
                      <a:pPr>
                        <a:defRPr sz="800">
                          <a:solidFill>
                            <a:srgbClr val="333333"/>
                          </a:solidFill>
                        </a:defRPr>
                      </a:pPr>
                      <a:r>
                        <a:t>INFO</a:t>
                      </a:r>
                    </a:p>
                  </a:txBody>
                  <a:tcPr>
                    <a:solidFill>
                      <a:srgbClr val="FFFFFF"/>
                    </a:solidFill>
                  </a:tcPr>
                </a:tc>
                <a:tc>
                  <a:txBody>
                    <a:bodyPr/>
                    <a:lstStyle/>
                    <a:p>
                      <a:pPr>
                        <a:defRPr sz="800">
                          <a:solidFill>
                            <a:srgbClr val="333333"/>
                          </a:solidFill>
                        </a:defRPr>
                      </a:pPr>
                      <a:r>
                        <a:t>ConnPool 구현체 3종</a:t>
                      </a:r>
                    </a:p>
                  </a:txBody>
                  <a:tcPr>
                    <a:solidFill>
                      <a:srgbClr val="FFFFFF"/>
                    </a:solidFill>
                  </a:tcPr>
                </a:tc>
                <a:tc>
                  <a:txBody>
                    <a:bodyPr/>
                    <a:lstStyle/>
                    <a:p>
                      <a:pPr>
                        <a:defRPr sz="800">
                          <a:solidFill>
                            <a:srgbClr val="333333"/>
                          </a:solidFill>
                        </a:defRPr>
                      </a:pPr>
                      <a:r>
                        <a:t>전사</a:t>
                      </a:r>
                    </a:p>
                  </a:txBody>
                  <a:tcPr>
                    <a:solidFill>
                      <a:srgbClr val="FFFFFF"/>
                    </a:solidFill>
                  </a:tcPr>
                </a:tc>
                <a:tc>
                  <a:txBody>
                    <a:bodyPr/>
                    <a:lstStyle/>
                    <a:p>
                      <a:pPr>
                        <a:defRPr sz="800">
                          <a:solidFill>
                            <a:srgbClr val="333333"/>
                          </a:solidFill>
                        </a:defRPr>
                      </a:pPr>
                      <a:r>
                        <a:t>HikariCP/DBCP/ConnMgr</a:t>
                      </a:r>
                    </a:p>
                  </a:txBody>
                  <a:tcPr>
                    <a:solidFill>
                      <a:srgbClr val="FFFFFF"/>
                    </a:solidFill>
                  </a:tcPr>
                </a:tc>
                <a:tc>
                  <a:txBody>
                    <a:bodyPr/>
                    <a:lstStyle/>
                    <a:p>
                      <a:pPr>
                        <a:defRPr sz="800">
                          <a:solidFill>
                            <a:srgbClr val="333333"/>
                          </a:solidFill>
                        </a:defRPr>
                      </a:pPr>
                      <a:r>
                        <a:t>관리 복잡도 증가</a:t>
                      </a:r>
                    </a:p>
                  </a:txBody>
                  <a:tcPr>
                    <a:solidFill>
                      <a:srgbClr val="FFFFFF"/>
                    </a:solidFill>
                  </a:tcPr>
                </a:tc>
              </a:tr>
              <a:tr h="274320">
                <a:tc>
                  <a:txBody>
                    <a:bodyPr/>
                    <a:lstStyle/>
                    <a:p>
                      <a:pPr>
                        <a:defRPr sz="800">
                          <a:solidFill>
                            <a:srgbClr val="333333"/>
                          </a:solidFill>
                        </a:defRPr>
                      </a:pPr>
                      <a:r>
                        <a:t>INFO</a:t>
                      </a:r>
                    </a:p>
                  </a:txBody>
                  <a:tcPr>
                    <a:solidFill>
                      <a:srgbClr val="F2F2F2"/>
                    </a:solidFill>
                  </a:tcPr>
                </a:tc>
                <a:tc>
                  <a:txBody>
                    <a:bodyPr/>
                    <a:lstStyle/>
                    <a:p>
                      <a:pPr>
                        <a:defRPr sz="800">
                          <a:solidFill>
                            <a:srgbClr val="333333"/>
                          </a:solidFill>
                        </a:defRPr>
                      </a:pPr>
                      <a:r>
                        <a:t>NC Java 15/25 혼재</a:t>
                      </a:r>
                    </a:p>
                  </a:txBody>
                  <a:tcPr>
                    <a:solidFill>
                      <a:srgbClr val="F2F2F2"/>
                    </a:solidFill>
                  </a:tcPr>
                </a:tc>
                <a:tc>
                  <a:txBody>
                    <a:bodyPr/>
                    <a:lstStyle/>
                    <a:p>
                      <a:pPr>
                        <a:defRPr sz="800">
                          <a:solidFill>
                            <a:srgbClr val="333333"/>
                          </a:solidFill>
                        </a:defRPr>
                      </a:pPr>
                      <a:r>
                        <a:t>플랫폼개발(NC)</a:t>
                      </a:r>
                    </a:p>
                  </a:txBody>
                  <a:tcPr>
                    <a:solidFill>
                      <a:srgbClr val="F2F2F2"/>
                    </a:solidFill>
                  </a:tcPr>
                </a:tc>
                <a:tc>
                  <a:txBody>
                    <a:bodyPr/>
                    <a:lstStyle/>
                    <a:p>
                      <a:pPr>
                        <a:defRPr sz="800">
                          <a:solidFill>
                            <a:srgbClr val="333333"/>
                          </a:solidFill>
                        </a:defRPr>
                      </a:pPr>
                      <a:r>
                        <a:t>Tomcat 9=Java15, Spring Boot 4=Java25</a:t>
                      </a:r>
                    </a:p>
                  </a:txBody>
                  <a:tcPr>
                    <a:solidFill>
                      <a:srgbClr val="F2F2F2"/>
                    </a:solidFill>
                  </a:tcPr>
                </a:tc>
                <a:tc>
                  <a:txBody>
                    <a:bodyPr/>
                    <a:lstStyle/>
                    <a:p>
                      <a:pPr>
                        <a:defRPr sz="800">
                          <a:solidFill>
                            <a:srgbClr val="333333"/>
                          </a:solidFill>
                        </a:defRPr>
                      </a:pPr>
                      <a:r>
                        <a:t>단일 팀 내 런타임 불일치</a:t>
                      </a:r>
                    </a:p>
                  </a:txBody>
                  <a:tcPr>
                    <a:solidFill>
                      <a:srgbClr val="F2F2F2"/>
                    </a:solidFill>
                  </a:tcPr>
                </a:tc>
              </a:tr>
            </a:tbl>
          </a:graphicData>
        </a:graphic>
      </p:graphicFrame>
      <p:sp>
        <p:nvSpPr>
          <p:cNvPr id="4" name="TextBox 3"/>
          <p:cNvSpPr txBox="1"/>
          <p:nvPr/>
        </p:nvSpPr>
        <p:spPr>
          <a:xfrm>
            <a:off x="457200" y="5303520"/>
            <a:ext cx="10972800" cy="457200"/>
          </a:xfrm>
          <a:prstGeom prst="rect">
            <a:avLst/>
          </a:prstGeom>
          <a:solidFill>
            <a:srgbClr val="FFF8DC"/>
          </a:solidFill>
          <a:ln>
            <a:noFill/>
          </a:ln>
        </p:spPr>
        <p:txBody>
          <a:bodyPr wrap="square">
            <a:spAutoFit/>
          </a:bodyPr>
          <a:lstStyle/>
          <a:p>
            <a:pPr>
              <a:defRPr sz="1000" b="1">
                <a:solidFill>
                  <a:srgbClr val="663300"/>
                </a:solidFill>
              </a:defRPr>
            </a:pPr>
            <a:r>
              <a:t>Discussion Point: 단기적으로 최우선 해결해야 할 영역에 대한 업체의 판단은?</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square">
            <a:spAutoFit/>
          </a:bodyPr>
          <a:lstStyle/>
          <a:p>
            <a:pPr>
              <a:defRPr sz="2400" b="1">
                <a:solidFill>
                  <a:srgbClr val="1B2A4A"/>
                </a:solidFill>
              </a:defRPr>
            </a:pPr>
            <a:r>
              <a:t>[B-03a] 4개 팀 인프라 설정 비교 총괄표 -- JVM Runtime</a:t>
            </a:r>
          </a:p>
        </p:txBody>
      </p:sp>
      <p:graphicFrame>
        <p:nvGraphicFramePr>
          <p:cNvPr id="3" name="Table 2"/>
          <p:cNvGraphicFramePr>
            <a:graphicFrameLocks noGrp="1"/>
          </p:cNvGraphicFramePr>
          <p:nvPr/>
        </p:nvGraphicFramePr>
        <p:xfrm>
          <a:off x="457200" y="1005840"/>
          <a:ext cx="10972800" cy="2743200"/>
        </p:xfrm>
        <a:graphic>
          <a:graphicData uri="http://schemas.openxmlformats.org/drawingml/2006/table">
            <a:tbl>
              <a:tblPr firstRow="1" bandRow="1">
                <a:tableStyleId>{5C22544A-7EE6-4342-B048-85BDC9FD1C3A}</a:tableStyleId>
              </a:tblPr>
              <a:tblGrid>
                <a:gridCol w="1645920"/>
                <a:gridCol w="1865376"/>
                <a:gridCol w="1865376"/>
                <a:gridCol w="1865376"/>
                <a:gridCol w="1865376"/>
                <a:gridCol w="1865376"/>
              </a:tblGrid>
              <a:tr h="274320">
                <a:tc>
                  <a:txBody>
                    <a:bodyPr/>
                    <a:lstStyle/>
                    <a:p>
                      <a:pPr algn="ctr">
                        <a:defRPr sz="900" b="1">
                          <a:solidFill>
                            <a:srgbClr val="FFFFFF"/>
                          </a:solidFill>
                        </a:defRPr>
                      </a:pPr>
                      <a:r>
                        <a:t>설정 항목</a:t>
                      </a:r>
                    </a:p>
                  </a:txBody>
                  <a:tcPr>
                    <a:solidFill>
                      <a:srgbClr val="1B2A4A"/>
                    </a:solidFill>
                  </a:tcPr>
                </a:tc>
                <a:tc>
                  <a:txBody>
                    <a:bodyPr/>
                    <a:lstStyle/>
                    <a:p>
                      <a:pPr algn="ctr">
                        <a:defRPr sz="900" b="1">
                          <a:solidFill>
                            <a:srgbClr val="FFFFFF"/>
                          </a:solidFill>
                        </a:defRPr>
                      </a:pPr>
                      <a:r>
                        <a:t>플랫폼개발(NP)</a:t>
                      </a:r>
                    </a:p>
                  </a:txBody>
                  <a:tcPr>
                    <a:solidFill>
                      <a:srgbClr val="1B2A4A"/>
                    </a:solidFill>
                  </a:tcPr>
                </a:tc>
                <a:tc>
                  <a:txBody>
                    <a:bodyPr/>
                    <a:lstStyle/>
                    <a:p>
                      <a:pPr algn="ctr">
                        <a:defRPr sz="900" b="1">
                          <a:solidFill>
                            <a:srgbClr val="FFFFFF"/>
                          </a:solidFill>
                        </a:defRPr>
                      </a:pPr>
                      <a:r>
                        <a:t>플랫폼개발(NC)</a:t>
                      </a:r>
                    </a:p>
                  </a:txBody>
                  <a:tcPr>
                    <a:solidFill>
                      <a:srgbClr val="1B2A4A"/>
                    </a:solidFill>
                  </a:tcPr>
                </a:tc>
                <a:tc>
                  <a:txBody>
                    <a:bodyPr/>
                    <a:lstStyle/>
                    <a:p>
                      <a:pPr algn="ctr">
                        <a:defRPr sz="900" b="1">
                          <a:solidFill>
                            <a:srgbClr val="FFFFFF"/>
                          </a:solidFill>
                        </a:defRPr>
                      </a:pPr>
                      <a:r>
                        <a:t>CL플랫폼</a:t>
                      </a:r>
                    </a:p>
                  </a:txBody>
                  <a:tcPr>
                    <a:solidFill>
                      <a:srgbClr val="1B2A4A"/>
                    </a:solidFill>
                  </a:tcPr>
                </a:tc>
                <a:tc>
                  <a:txBody>
                    <a:bodyPr/>
                    <a:lstStyle/>
                    <a:p>
                      <a:pPr algn="ctr">
                        <a:defRPr sz="900" b="1">
                          <a:solidFill>
                            <a:srgbClr val="FFFFFF"/>
                          </a:solidFill>
                        </a:defRPr>
                      </a:pPr>
                      <a:r>
                        <a:t>주차서비스</a:t>
                      </a:r>
                    </a:p>
                  </a:txBody>
                  <a:tcPr>
                    <a:solidFill>
                      <a:srgbClr val="1B2A4A"/>
                    </a:solidFill>
                  </a:tcPr>
                </a:tc>
                <a:tc>
                  <a:txBody>
                    <a:bodyPr/>
                    <a:lstStyle/>
                    <a:p>
                      <a:pPr algn="ctr">
                        <a:defRPr sz="900" b="1">
                          <a:solidFill>
                            <a:srgbClr val="FFFFFF"/>
                          </a:solidFill>
                        </a:defRPr>
                      </a:pPr>
                      <a:r>
                        <a:t>현금정보계(대표)</a:t>
                      </a:r>
                    </a:p>
                  </a:txBody>
                  <a:tcPr>
                    <a:solidFill>
                      <a:srgbClr val="1B2A4A"/>
                    </a:solidFill>
                  </a:tcPr>
                </a:tc>
              </a:tr>
              <a:tr h="274320">
                <a:tc>
                  <a:txBody>
                    <a:bodyPr/>
                    <a:lstStyle/>
                    <a:p>
                      <a:pPr>
                        <a:defRPr sz="800">
                          <a:solidFill>
                            <a:srgbClr val="333333"/>
                          </a:solidFill>
                        </a:defRPr>
                      </a:pPr>
                      <a:r>
                        <a:t>Java 버전</a:t>
                      </a:r>
                    </a:p>
                  </a:txBody>
                  <a:tcPr>
                    <a:solidFill>
                      <a:srgbClr val="FFFFFF"/>
                    </a:solidFill>
                  </a:tcPr>
                </a:tc>
                <a:tc>
                  <a:txBody>
                    <a:bodyPr/>
                    <a:lstStyle/>
                    <a:p>
                      <a:pPr>
                        <a:defRPr sz="800">
                          <a:solidFill>
                            <a:srgbClr val="333333"/>
                          </a:solidFill>
                        </a:defRPr>
                      </a:pPr>
                      <a:r>
                        <a:t>17</a:t>
                      </a:r>
                    </a:p>
                  </a:txBody>
                  <a:tcPr>
                    <a:solidFill>
                      <a:srgbClr val="FFFFFF"/>
                    </a:solidFill>
                  </a:tcPr>
                </a:tc>
                <a:tc>
                  <a:txBody>
                    <a:bodyPr/>
                    <a:lstStyle/>
                    <a:p>
                      <a:pPr>
                        <a:defRPr sz="800">
                          <a:solidFill>
                            <a:srgbClr val="333333"/>
                          </a:solidFill>
                        </a:defRPr>
                      </a:pPr>
                      <a:r>
                        <a:t>15 / 25</a:t>
                      </a:r>
                    </a:p>
                  </a:txBody>
                  <a:tcPr>
                    <a:solidFill>
                      <a:srgbClr val="FFFFFF"/>
                    </a:solidFill>
                  </a:tcPr>
                </a:tc>
                <a:tc>
                  <a:txBody>
                    <a:bodyPr/>
                    <a:lstStyle/>
                    <a:p>
                      <a:pPr>
                        <a:defRPr sz="800">
                          <a:solidFill>
                            <a:srgbClr val="333333"/>
                          </a:solidFill>
                        </a:defRPr>
                      </a:pPr>
                      <a:r>
                        <a:t>15.0.2</a:t>
                      </a:r>
                    </a:p>
                  </a:txBody>
                  <a:tcPr>
                    <a:solidFill>
                      <a:srgbClr val="FFFFFF"/>
                    </a:solidFill>
                  </a:tcPr>
                </a:tc>
                <a:tc>
                  <a:txBody>
                    <a:bodyPr/>
                    <a:lstStyle/>
                    <a:p>
                      <a:pPr>
                        <a:defRPr sz="800">
                          <a:solidFill>
                            <a:srgbClr val="333333"/>
                          </a:solidFill>
                        </a:defRPr>
                      </a:pPr>
                      <a:r>
                        <a:t>15.0.2 (OpenJDK)</a:t>
                      </a:r>
                    </a:p>
                  </a:txBody>
                  <a:tcPr>
                    <a:solidFill>
                      <a:srgbClr val="FFFFFF"/>
                    </a:solidFill>
                  </a:tcPr>
                </a:tc>
                <a:tc>
                  <a:txBody>
                    <a:bodyPr/>
                    <a:lstStyle/>
                    <a:p>
                      <a:pPr>
                        <a:defRPr sz="800">
                          <a:solidFill>
                            <a:srgbClr val="333333"/>
                          </a:solidFill>
                        </a:defRPr>
                      </a:pPr>
                      <a:r>
                        <a:t>15.0.2+7 (OpenJDK)</a:t>
                      </a:r>
                    </a:p>
                  </a:txBody>
                  <a:tcPr>
                    <a:solidFill>
                      <a:srgbClr val="FFFFFF"/>
                    </a:solidFill>
                  </a:tcPr>
                </a:tc>
              </a:tr>
              <a:tr h="274320">
                <a:tc>
                  <a:txBody>
                    <a:bodyPr/>
                    <a:lstStyle/>
                    <a:p>
                      <a:pPr>
                        <a:defRPr sz="800">
                          <a:solidFill>
                            <a:srgbClr val="333333"/>
                          </a:solidFill>
                        </a:defRPr>
                      </a:pPr>
                      <a:r>
                        <a:t>WAS</a:t>
                      </a:r>
                    </a:p>
                  </a:txBody>
                  <a:tcPr>
                    <a:solidFill>
                      <a:srgbClr val="F2F2F2"/>
                    </a:solidFill>
                  </a:tcPr>
                </a:tc>
                <a:tc>
                  <a:txBody>
                    <a:bodyPr/>
                    <a:lstStyle/>
                    <a:p>
                      <a:pPr>
                        <a:defRPr sz="800">
                          <a:solidFill>
                            <a:srgbClr val="333333"/>
                          </a:solidFill>
                        </a:defRPr>
                      </a:pPr>
                      <a:r>
                        <a:t>Spring Boot 3.5.3 내장</a:t>
                      </a:r>
                    </a:p>
                  </a:txBody>
                  <a:tcPr>
                    <a:solidFill>
                      <a:srgbClr val="F2F2F2"/>
                    </a:solidFill>
                  </a:tcPr>
                </a:tc>
                <a:tc>
                  <a:txBody>
                    <a:bodyPr/>
                    <a:lstStyle/>
                    <a:p>
                      <a:pPr>
                        <a:defRPr sz="800">
                          <a:solidFill>
                            <a:srgbClr val="333333"/>
                          </a:solidFill>
                        </a:defRPr>
                      </a:pPr>
                      <a:r>
                        <a:t>Tomcat 9 / Spring Boot 4.0.5</a:t>
                      </a:r>
                    </a:p>
                  </a:txBody>
                  <a:tcPr>
                    <a:solidFill>
                      <a:srgbClr val="F2F2F2"/>
                    </a:solidFill>
                  </a:tcPr>
                </a:tc>
                <a:tc>
                  <a:txBody>
                    <a:bodyPr/>
                    <a:lstStyle/>
                    <a:p>
                      <a:pPr>
                        <a:defRPr sz="800">
                          <a:solidFill>
                            <a:srgbClr val="333333"/>
                          </a:solidFill>
                        </a:defRPr>
                      </a:pPr>
                      <a:r>
                        <a:t>CLS 전용 WAS</a:t>
                      </a:r>
                    </a:p>
                  </a:txBody>
                  <a:tcPr>
                    <a:solidFill>
                      <a:srgbClr val="F2F2F2"/>
                    </a:solidFill>
                  </a:tcPr>
                </a:tc>
                <a:tc>
                  <a:txBody>
                    <a:bodyPr/>
                    <a:lstStyle/>
                    <a:p>
                      <a:pPr>
                        <a:defRPr sz="800">
                          <a:solidFill>
                            <a:srgbClr val="333333"/>
                          </a:solidFill>
                        </a:defRPr>
                      </a:pPr>
                      <a:r>
                        <a:t>Tomcat 9.0.70</a:t>
                      </a:r>
                    </a:p>
                  </a:txBody>
                  <a:tcPr>
                    <a:solidFill>
                      <a:srgbClr val="F2F2F2"/>
                    </a:solidFill>
                  </a:tcPr>
                </a:tc>
                <a:tc>
                  <a:txBody>
                    <a:bodyPr/>
                    <a:lstStyle/>
                    <a:p>
                      <a:pPr>
                        <a:defRPr sz="800">
                          <a:solidFill>
                            <a:srgbClr val="333333"/>
                          </a:solidFill>
                        </a:defRPr>
                      </a:pPr>
                      <a:r>
                        <a:t>Liberty 23.0.0.2 ND</a:t>
                      </a:r>
                    </a:p>
                  </a:txBody>
                  <a:tcPr>
                    <a:solidFill>
                      <a:srgbClr val="F2F2F2"/>
                    </a:solidFill>
                  </a:tcPr>
                </a:tc>
              </a:tr>
              <a:tr h="274320">
                <a:tc>
                  <a:txBody>
                    <a:bodyPr/>
                    <a:lstStyle/>
                    <a:p>
                      <a:pPr>
                        <a:defRPr sz="800">
                          <a:solidFill>
                            <a:srgbClr val="333333"/>
                          </a:solidFill>
                        </a:defRPr>
                      </a:pPr>
                      <a:r>
                        <a:t>GC</a:t>
                      </a:r>
                    </a:p>
                  </a:txBody>
                  <a:tcPr>
                    <a:solidFill>
                      <a:srgbClr val="FFFFFF"/>
                    </a:solidFill>
                  </a:tcPr>
                </a:tc>
                <a:tc>
                  <a:txBody>
                    <a:bodyPr/>
                    <a:lstStyle/>
                    <a:p>
                      <a:pPr>
                        <a:defRPr sz="800">
                          <a:solidFill>
                            <a:srgbClr val="333333"/>
                          </a:solidFill>
                        </a:defRPr>
                      </a:pPr>
                      <a:r>
                        <a:t>G1 GC</a:t>
                      </a:r>
                    </a:p>
                  </a:txBody>
                  <a:tcPr>
                    <a:solidFill>
                      <a:srgbClr val="FFFFFF"/>
                    </a:solidFill>
                  </a:tcPr>
                </a:tc>
                <a:tc>
                  <a:txBody>
                    <a:bodyPr/>
                    <a:lstStyle/>
                    <a:p>
                      <a:pPr>
                        <a:defRPr sz="800">
                          <a:solidFill>
                            <a:srgbClr val="333333"/>
                          </a:solidFill>
                        </a:defRPr>
                      </a:pPr>
                      <a:r>
                        <a:t>G1 GC</a:t>
                      </a:r>
                    </a:p>
                  </a:txBody>
                  <a:tcPr>
                    <a:solidFill>
                      <a:srgbClr val="FFFFFF"/>
                    </a:solidFill>
                  </a:tcPr>
                </a:tc>
                <a:tc>
                  <a:txBody>
                    <a:bodyPr/>
                    <a:lstStyle/>
                    <a:p>
                      <a:pPr>
                        <a:defRPr sz="800">
                          <a:solidFill>
                            <a:srgbClr val="333333"/>
                          </a:solidFill>
                        </a:defRPr>
                      </a:pPr>
                      <a:r>
                        <a:t>Parallel GC</a:t>
                      </a:r>
                    </a:p>
                  </a:txBody>
                  <a:tcPr>
                    <a:solidFill>
                      <a:srgbClr val="FFFFFF"/>
                    </a:solidFill>
                  </a:tcPr>
                </a:tc>
                <a:tc>
                  <a:txBody>
                    <a:bodyPr/>
                    <a:lstStyle/>
                    <a:p>
                      <a:pPr>
                        <a:defRPr sz="800">
                          <a:solidFill>
                            <a:srgbClr val="333333"/>
                          </a:solidFill>
                        </a:defRPr>
                      </a:pPr>
                      <a:r>
                        <a:t>G1 GC</a:t>
                      </a:r>
                    </a:p>
                  </a:txBody>
                  <a:tcPr>
                    <a:solidFill>
                      <a:srgbClr val="FFFFFF"/>
                    </a:solidFill>
                  </a:tcPr>
                </a:tc>
                <a:tc>
                  <a:txBody>
                    <a:bodyPr/>
                    <a:lstStyle/>
                    <a:p>
                      <a:pPr>
                        <a:defRPr sz="800">
                          <a:solidFill>
                            <a:srgbClr val="333333"/>
                          </a:solidFill>
                        </a:defRPr>
                      </a:pPr>
                      <a:r>
                        <a:t>Parallel GC</a:t>
                      </a:r>
                    </a:p>
                  </a:txBody>
                  <a:tcPr>
                    <a:solidFill>
                      <a:srgbClr val="FFFFFF"/>
                    </a:solidFill>
                  </a:tcPr>
                </a:tc>
              </a:tr>
              <a:tr h="274320">
                <a:tc>
                  <a:txBody>
                    <a:bodyPr/>
                    <a:lstStyle/>
                    <a:p>
                      <a:pPr>
                        <a:defRPr sz="800">
                          <a:solidFill>
                            <a:srgbClr val="333333"/>
                          </a:solidFill>
                        </a:defRPr>
                      </a:pPr>
                      <a:r>
                        <a:t>Xms</a:t>
                      </a:r>
                    </a:p>
                  </a:txBody>
                  <a:tcPr>
                    <a:solidFill>
                      <a:srgbClr val="F2F2F2"/>
                    </a:solidFill>
                  </a:tcPr>
                </a:tc>
                <a:tc>
                  <a:txBody>
                    <a:bodyPr/>
                    <a:lstStyle/>
                    <a:p>
                      <a:pPr>
                        <a:defRPr sz="800">
                          <a:solidFill>
                            <a:srgbClr val="333333"/>
                          </a:solidFill>
                        </a:defRPr>
                      </a:pPr>
                      <a:r>
                        <a:t>70% (비율)</a:t>
                      </a:r>
                    </a:p>
                  </a:txBody>
                  <a:tcPr>
                    <a:solidFill>
                      <a:srgbClr val="F2F2F2"/>
                    </a:solidFill>
                  </a:tcPr>
                </a:tc>
                <a:tc>
                  <a:txBody>
                    <a:bodyPr/>
                    <a:lstStyle/>
                    <a:p>
                      <a:pPr>
                        <a:defRPr sz="800">
                          <a:solidFill>
                            <a:srgbClr val="333333"/>
                          </a:solidFill>
                        </a:defRPr>
                      </a:pPr>
                      <a:r>
                        <a:t>2048m</a:t>
                      </a:r>
                    </a:p>
                  </a:txBody>
                  <a:tcPr>
                    <a:solidFill>
                      <a:srgbClr val="F2F2F2"/>
                    </a:solidFill>
                  </a:tcPr>
                </a:tc>
                <a:tc>
                  <a:txBody>
                    <a:bodyPr/>
                    <a:lstStyle/>
                    <a:p>
                      <a:pPr>
                        <a:defRPr sz="800">
                          <a:solidFill>
                            <a:srgbClr val="333333"/>
                          </a:solidFill>
                        </a:defRPr>
                      </a:pPr>
                      <a:r>
                        <a:t>2048m</a:t>
                      </a:r>
                    </a:p>
                  </a:txBody>
                  <a:tcPr>
                    <a:solidFill>
                      <a:srgbClr val="F2F2F2"/>
                    </a:solidFill>
                  </a:tcPr>
                </a:tc>
                <a:tc>
                  <a:txBody>
                    <a:bodyPr/>
                    <a:lstStyle/>
                    <a:p>
                      <a:pPr>
                        <a:defRPr sz="800">
                          <a:solidFill>
                            <a:srgbClr val="333333"/>
                          </a:solidFill>
                        </a:defRPr>
                      </a:pPr>
                      <a:r>
                        <a:t>2048m</a:t>
                      </a:r>
                    </a:p>
                  </a:txBody>
                  <a:tcPr>
                    <a:solidFill>
                      <a:srgbClr val="F2F2F2"/>
                    </a:solidFill>
                  </a:tcPr>
                </a:tc>
                <a:tc>
                  <a:txBody>
                    <a:bodyPr/>
                    <a:lstStyle/>
                    <a:p>
                      <a:pPr>
                        <a:defRPr sz="800">
                          <a:solidFill>
                            <a:srgbClr val="333333"/>
                          </a:solidFill>
                        </a:defRPr>
                      </a:pPr>
                      <a:r>
                        <a:t>1024~8192m</a:t>
                      </a:r>
                    </a:p>
                  </a:txBody>
                  <a:tcPr>
                    <a:solidFill>
                      <a:srgbClr val="F2F2F2"/>
                    </a:solidFill>
                  </a:tcPr>
                </a:tc>
              </a:tr>
              <a:tr h="274320">
                <a:tc>
                  <a:txBody>
                    <a:bodyPr/>
                    <a:lstStyle/>
                    <a:p>
                      <a:pPr>
                        <a:defRPr sz="800">
                          <a:solidFill>
                            <a:srgbClr val="333333"/>
                          </a:solidFill>
                        </a:defRPr>
                      </a:pPr>
                      <a:r>
                        <a:t>Xmx</a:t>
                      </a:r>
                    </a:p>
                  </a:txBody>
                  <a:tcPr>
                    <a:solidFill>
                      <a:srgbClr val="FFFFFF"/>
                    </a:solidFill>
                  </a:tcPr>
                </a:tc>
                <a:tc>
                  <a:txBody>
                    <a:bodyPr/>
                    <a:lstStyle/>
                    <a:p>
                      <a:pPr>
                        <a:defRPr sz="800">
                          <a:solidFill>
                            <a:srgbClr val="333333"/>
                          </a:solidFill>
                        </a:defRPr>
                      </a:pPr>
                      <a:r>
                        <a:t>70% (비율)</a:t>
                      </a:r>
                    </a:p>
                  </a:txBody>
                  <a:tcPr>
                    <a:solidFill>
                      <a:srgbClr val="FFFFFF"/>
                    </a:solidFill>
                  </a:tcPr>
                </a:tc>
                <a:tc>
                  <a:txBody>
                    <a:bodyPr/>
                    <a:lstStyle/>
                    <a:p>
                      <a:pPr>
                        <a:defRPr sz="800">
                          <a:solidFill>
                            <a:srgbClr val="333333"/>
                          </a:solidFill>
                        </a:defRPr>
                      </a:pPr>
                      <a:r>
                        <a:t>2048m</a:t>
                      </a:r>
                    </a:p>
                  </a:txBody>
                  <a:tcPr>
                    <a:solidFill>
                      <a:srgbClr val="FFFFFF"/>
                    </a:solidFill>
                  </a:tcPr>
                </a:tc>
                <a:tc>
                  <a:txBody>
                    <a:bodyPr/>
                    <a:lstStyle/>
                    <a:p>
                      <a:pPr>
                        <a:defRPr sz="800">
                          <a:solidFill>
                            <a:srgbClr val="333333"/>
                          </a:solidFill>
                        </a:defRPr>
                      </a:pPr>
                      <a:r>
                        <a:t>2048m</a:t>
                      </a:r>
                    </a:p>
                  </a:txBody>
                  <a:tcPr>
                    <a:solidFill>
                      <a:srgbClr val="FFFFFF"/>
                    </a:solidFill>
                  </a:tcPr>
                </a:tc>
                <a:tc>
                  <a:txBody>
                    <a:bodyPr/>
                    <a:lstStyle/>
                    <a:p>
                      <a:pPr>
                        <a:defRPr sz="800">
                          <a:solidFill>
                            <a:srgbClr val="333333"/>
                          </a:solidFill>
                        </a:defRPr>
                      </a:pPr>
                      <a:r>
                        <a:t>4096m</a:t>
                      </a:r>
                    </a:p>
                  </a:txBody>
                  <a:tcPr>
                    <a:solidFill>
                      <a:srgbClr val="FFFFFF"/>
                    </a:solidFill>
                  </a:tcPr>
                </a:tc>
                <a:tc>
                  <a:txBody>
                    <a:bodyPr/>
                    <a:lstStyle/>
                    <a:p>
                      <a:pPr>
                        <a:defRPr sz="800">
                          <a:solidFill>
                            <a:srgbClr val="333333"/>
                          </a:solidFill>
                        </a:defRPr>
                      </a:pPr>
                      <a:r>
                        <a:t>1024~8192m</a:t>
                      </a:r>
                    </a:p>
                  </a:txBody>
                  <a:tcPr>
                    <a:solidFill>
                      <a:srgbClr val="FFFFFF"/>
                    </a:solidFill>
                  </a:tcPr>
                </a:tc>
              </a:tr>
              <a:tr h="274320">
                <a:tc>
                  <a:txBody>
                    <a:bodyPr/>
                    <a:lstStyle/>
                    <a:p>
                      <a:pPr>
                        <a:defRPr sz="800">
                          <a:solidFill>
                            <a:srgbClr val="333333"/>
                          </a:solidFill>
                        </a:defRPr>
                      </a:pPr>
                      <a:r>
                        <a:t>Xms=Xmx</a:t>
                      </a:r>
                    </a:p>
                  </a:txBody>
                  <a:tcPr>
                    <a:solidFill>
                      <a:srgbClr val="F2F2F2"/>
                    </a:solidFill>
                  </a:tcPr>
                </a:tc>
                <a:tc>
                  <a:txBody>
                    <a:bodyPr/>
                    <a:lstStyle/>
                    <a:p>
                      <a:pPr>
                        <a:defRPr sz="800">
                          <a:solidFill>
                            <a:srgbClr val="333333"/>
                          </a:solidFill>
                        </a:defRPr>
                      </a:pPr>
                      <a:r>
                        <a:t>예 (비율 고정)</a:t>
                      </a:r>
                    </a:p>
                  </a:txBody>
                  <a:tcPr>
                    <a:solidFill>
                      <a:srgbClr val="F2F2F2"/>
                    </a:solidFill>
                  </a:tcPr>
                </a:tc>
                <a:tc>
                  <a:txBody>
                    <a:bodyPr/>
                    <a:lstStyle/>
                    <a:p>
                      <a:pPr>
                        <a:defRPr sz="800">
                          <a:solidFill>
                            <a:srgbClr val="333333"/>
                          </a:solidFill>
                        </a:defRPr>
                      </a:pPr>
                      <a:r>
                        <a:t>예</a:t>
                      </a:r>
                    </a:p>
                  </a:txBody>
                  <a:tcPr>
                    <a:solidFill>
                      <a:srgbClr val="F2F2F2"/>
                    </a:solidFill>
                  </a:tcPr>
                </a:tc>
                <a:tc>
                  <a:txBody>
                    <a:bodyPr/>
                    <a:lstStyle/>
                    <a:p>
                      <a:pPr>
                        <a:defRPr sz="800">
                          <a:solidFill>
                            <a:srgbClr val="333333"/>
                          </a:solidFill>
                        </a:defRPr>
                      </a:pPr>
                      <a:r>
                        <a:t>예</a:t>
                      </a:r>
                    </a:p>
                  </a:txBody>
                  <a:tcPr>
                    <a:solidFill>
                      <a:srgbClr val="F2F2F2"/>
                    </a:solidFill>
                  </a:tcPr>
                </a:tc>
                <a:tc>
                  <a:txBody>
                    <a:bodyPr/>
                    <a:lstStyle/>
                    <a:p>
                      <a:pPr>
                        <a:defRPr sz="800">
                          <a:solidFill>
                            <a:srgbClr val="333333"/>
                          </a:solidFill>
                        </a:defRPr>
                      </a:pPr>
                      <a:r>
                        <a:t>아니오 (가변)</a:t>
                      </a:r>
                    </a:p>
                  </a:txBody>
                  <a:tcPr>
                    <a:solidFill>
                      <a:srgbClr val="F2F2F2"/>
                    </a:solidFill>
                  </a:tcPr>
                </a:tc>
                <a:tc>
                  <a:txBody>
                    <a:bodyPr/>
                    <a:lstStyle/>
                    <a:p>
                      <a:pPr>
                        <a:defRPr sz="800">
                          <a:solidFill>
                            <a:srgbClr val="333333"/>
                          </a:solidFill>
                        </a:defRPr>
                      </a:pPr>
                      <a:r>
                        <a:t>혼합 (고정3+동적4)</a:t>
                      </a:r>
                    </a:p>
                  </a:txBody>
                  <a:tcPr>
                    <a:solidFill>
                      <a:srgbClr val="F2F2F2"/>
                    </a:solidFill>
                  </a:tcPr>
                </a:tc>
              </a:tr>
              <a:tr h="274320">
                <a:tc>
                  <a:txBody>
                    <a:bodyPr/>
                    <a:lstStyle/>
                    <a:p>
                      <a:pPr>
                        <a:defRPr sz="800">
                          <a:solidFill>
                            <a:srgbClr val="333333"/>
                          </a:solidFill>
                        </a:defRPr>
                      </a:pPr>
                      <a:r>
                        <a:t>Metaspace Min</a:t>
                      </a:r>
                    </a:p>
                  </a:txBody>
                  <a:tcPr>
                    <a:solidFill>
                      <a:srgbClr val="FFFFFF"/>
                    </a:solidFill>
                  </a:tcPr>
                </a:tc>
                <a:tc>
                  <a:txBody>
                    <a:bodyPr/>
                    <a:lstStyle/>
                    <a:p>
                      <a:pPr>
                        <a:defRPr sz="800">
                          <a:solidFill>
                            <a:srgbClr val="333333"/>
                          </a:solidFill>
                        </a:defRPr>
                      </a:pPr>
                      <a:r>
                        <a:t>128m</a:t>
                      </a:r>
                    </a:p>
                  </a:txBody>
                  <a:tcPr>
                    <a:solidFill>
                      <a:srgbClr val="FFFFFF"/>
                    </a:solidFill>
                  </a:tcPr>
                </a:tc>
                <a:tc>
                  <a:txBody>
                    <a:bodyPr/>
                    <a:lstStyle/>
                    <a:p>
                      <a:pPr>
                        <a:defRPr sz="800">
                          <a:solidFill>
                            <a:srgbClr val="333333"/>
                          </a:solidFill>
                        </a:defRPr>
                      </a:pPr>
                      <a:r>
                        <a:t>512m</a:t>
                      </a:r>
                    </a:p>
                  </a:txBody>
                  <a:tcPr>
                    <a:solidFill>
                      <a:srgbClr val="FFFFFF"/>
                    </a:solidFill>
                  </a:tcPr>
                </a:tc>
                <a:tc>
                  <a:txBody>
                    <a:bodyPr/>
                    <a:lstStyle/>
                    <a:p>
                      <a:pPr>
                        <a:defRPr sz="800">
                          <a:solidFill>
                            <a:srgbClr val="333333"/>
                          </a:solidFill>
                        </a:defRPr>
                      </a:pPr>
                      <a:r>
                        <a:t>미설정</a:t>
                      </a:r>
                    </a:p>
                  </a:txBody>
                  <a:tcPr>
                    <a:solidFill>
                      <a:srgbClr val="FFFFFF"/>
                    </a:solidFill>
                  </a:tcPr>
                </a:tc>
                <a:tc>
                  <a:txBody>
                    <a:bodyPr/>
                    <a:lstStyle/>
                    <a:p>
                      <a:pPr>
                        <a:defRPr sz="800">
                          <a:solidFill>
                            <a:srgbClr val="333333"/>
                          </a:solidFill>
                        </a:defRPr>
                      </a:pPr>
                      <a:r>
                        <a:t>미기입</a:t>
                      </a:r>
                    </a:p>
                  </a:txBody>
                  <a:tcPr>
                    <a:solidFill>
                      <a:srgbClr val="FFFFFF"/>
                    </a:solidFill>
                  </a:tcPr>
                </a:tc>
                <a:tc>
                  <a:txBody>
                    <a:bodyPr/>
                    <a:lstStyle/>
                    <a:p>
                      <a:pPr>
                        <a:defRPr sz="800">
                          <a:solidFill>
                            <a:srgbClr val="333333"/>
                          </a:solidFill>
                        </a:defRPr>
                      </a:pPr>
                      <a:r>
                        <a:t>256~2048m</a:t>
                      </a:r>
                    </a:p>
                  </a:txBody>
                  <a:tcPr>
                    <a:solidFill>
                      <a:srgbClr val="FFFFFF"/>
                    </a:solidFill>
                  </a:tcPr>
                </a:tc>
              </a:tr>
              <a:tr h="274320">
                <a:tc>
                  <a:txBody>
                    <a:bodyPr/>
                    <a:lstStyle/>
                    <a:p>
                      <a:pPr>
                        <a:defRPr sz="800">
                          <a:solidFill>
                            <a:srgbClr val="333333"/>
                          </a:solidFill>
                        </a:defRPr>
                      </a:pPr>
                      <a:r>
                        <a:t>Metaspace Max</a:t>
                      </a:r>
                    </a:p>
                  </a:txBody>
                  <a:tcPr>
                    <a:solidFill>
                      <a:srgbClr val="F2F2F2"/>
                    </a:solidFill>
                  </a:tcPr>
                </a:tc>
                <a:tc>
                  <a:txBody>
                    <a:bodyPr/>
                    <a:lstStyle/>
                    <a:p>
                      <a:pPr>
                        <a:defRPr sz="800">
                          <a:solidFill>
                            <a:srgbClr val="333333"/>
                          </a:solidFill>
                        </a:defRPr>
                      </a:pPr>
                      <a:r>
                        <a:t>128m</a:t>
                      </a:r>
                    </a:p>
                  </a:txBody>
                  <a:tcPr>
                    <a:solidFill>
                      <a:srgbClr val="F2F2F2"/>
                    </a:solidFill>
                  </a:tcPr>
                </a:tc>
                <a:tc>
                  <a:txBody>
                    <a:bodyPr/>
                    <a:lstStyle/>
                    <a:p>
                      <a:pPr>
                        <a:defRPr sz="800">
                          <a:solidFill>
                            <a:srgbClr val="333333"/>
                          </a:solidFill>
                        </a:defRPr>
                      </a:pPr>
                      <a:r>
                        <a:t>512m</a:t>
                      </a:r>
                    </a:p>
                  </a:txBody>
                  <a:tcPr>
                    <a:solidFill>
                      <a:srgbClr val="F2F2F2"/>
                    </a:solidFill>
                  </a:tcPr>
                </a:tc>
                <a:tc>
                  <a:txBody>
                    <a:bodyPr/>
                    <a:lstStyle/>
                    <a:p>
                      <a:pPr>
                        <a:defRPr sz="800">
                          <a:solidFill>
                            <a:srgbClr val="333333"/>
                          </a:solidFill>
                        </a:defRPr>
                      </a:pPr>
                      <a:r>
                        <a:t>미설정</a:t>
                      </a:r>
                    </a:p>
                  </a:txBody>
                  <a:tcPr>
                    <a:solidFill>
                      <a:srgbClr val="F2F2F2"/>
                    </a:solidFill>
                  </a:tcPr>
                </a:tc>
                <a:tc>
                  <a:txBody>
                    <a:bodyPr/>
                    <a:lstStyle/>
                    <a:p>
                      <a:pPr>
                        <a:defRPr sz="800">
                          <a:solidFill>
                            <a:srgbClr val="333333"/>
                          </a:solidFill>
                        </a:defRPr>
                      </a:pPr>
                      <a:r>
                        <a:t>미기입</a:t>
                      </a:r>
                    </a:p>
                  </a:txBody>
                  <a:tcPr>
                    <a:solidFill>
                      <a:srgbClr val="F2F2F2"/>
                    </a:solidFill>
                  </a:tcPr>
                </a:tc>
                <a:tc>
                  <a:txBody>
                    <a:bodyPr/>
                    <a:lstStyle/>
                    <a:p>
                      <a:pPr>
                        <a:defRPr sz="800">
                          <a:solidFill>
                            <a:srgbClr val="333333"/>
                          </a:solidFill>
                        </a:defRPr>
                      </a:pPr>
                      <a:r>
                        <a:t>16m / 미기재</a:t>
                      </a:r>
                    </a:p>
                  </a:txBody>
                  <a:tcPr>
                    <a:solidFill>
                      <a:srgbClr val="F2F2F2"/>
                    </a:solidFill>
                  </a:tcPr>
                </a:tc>
              </a:tr>
              <a:tr h="274320">
                <a:tc>
                  <a:txBody>
                    <a:bodyPr/>
                    <a:lstStyle/>
                    <a:p>
                      <a:pPr>
                        <a:defRPr sz="800">
                          <a:solidFill>
                            <a:srgbClr val="333333"/>
                          </a:solidFill>
                        </a:defRPr>
                      </a:pPr>
                      <a:r>
                        <a:t>Old Gen 사용률</a:t>
                      </a:r>
                    </a:p>
                  </a:txBody>
                  <a:tcPr>
                    <a:solidFill>
                      <a:srgbClr val="FFFFFF"/>
                    </a:solidFill>
                  </a:tcPr>
                </a:tc>
                <a:tc>
                  <a:txBody>
                    <a:bodyPr/>
                    <a:lstStyle/>
                    <a:p>
                      <a:pPr>
                        <a:defRPr sz="800">
                          <a:solidFill>
                            <a:srgbClr val="333333"/>
                          </a:solidFill>
                        </a:defRPr>
                      </a:pPr>
                      <a:r>
                        <a:t>미측정</a:t>
                      </a:r>
                    </a:p>
                  </a:txBody>
                  <a:tcPr>
                    <a:solidFill>
                      <a:srgbClr val="FFFFFF"/>
                    </a:solidFill>
                  </a:tcPr>
                </a:tc>
                <a:tc>
                  <a:txBody>
                    <a:bodyPr/>
                    <a:lstStyle/>
                    <a:p>
                      <a:pPr>
                        <a:defRPr sz="800">
                          <a:solidFill>
                            <a:srgbClr val="333333"/>
                          </a:solidFill>
                        </a:defRPr>
                      </a:pPr>
                      <a:r>
                        <a:t>미측정</a:t>
                      </a:r>
                    </a:p>
                  </a:txBody>
                  <a:tcPr>
                    <a:solidFill>
                      <a:srgbClr val="FFFFFF"/>
                    </a:solidFill>
                  </a:tcPr>
                </a:tc>
                <a:tc>
                  <a:txBody>
                    <a:bodyPr/>
                    <a:lstStyle/>
                    <a:p>
                      <a:pPr>
                        <a:defRPr sz="800" b="1">
                          <a:solidFill>
                            <a:srgbClr val="CC0000"/>
                          </a:solidFill>
                        </a:defRPr>
                      </a:pPr>
                      <a:r>
                        <a:t>**90.2%**</a:t>
                      </a:r>
                    </a:p>
                  </a:txBody>
                  <a:tcPr>
                    <a:solidFill>
                      <a:srgbClr val="FFFFFF"/>
                    </a:solidFill>
                  </a:tcPr>
                </a:tc>
                <a:tc>
                  <a:txBody>
                    <a:bodyPr/>
                    <a:lstStyle/>
                    <a:p>
                      <a:pPr>
                        <a:defRPr sz="800">
                          <a:solidFill>
                            <a:srgbClr val="333333"/>
                          </a:solidFill>
                        </a:defRPr>
                      </a:pPr>
                      <a:r>
                        <a:t>미측정</a:t>
                      </a:r>
                    </a:p>
                  </a:txBody>
                  <a:tcPr>
                    <a:solidFill>
                      <a:srgbClr val="FFFFFF"/>
                    </a:solidFill>
                  </a:tcPr>
                </a:tc>
                <a:tc>
                  <a:txBody>
                    <a:bodyPr/>
                    <a:lstStyle/>
                    <a:p>
                      <a:pPr>
                        <a:defRPr sz="800">
                          <a:solidFill>
                            <a:srgbClr val="333333"/>
                          </a:solidFill>
                        </a:defRPr>
                      </a:pPr>
                      <a:r>
                        <a:t>미측정</a:t>
                      </a:r>
                    </a:p>
                  </a:txBody>
                  <a:tcPr>
                    <a:solidFill>
                      <a:srgbClr val="FFFFFF"/>
                    </a:solidFill>
                  </a:tcPr>
                </a:tc>
              </a:tr>
            </a:tbl>
          </a:graphicData>
        </a:graphic>
      </p:graphicFrame>
      <p:sp>
        <p:nvSpPr>
          <p:cNvPr id="4" name="TextBox 3"/>
          <p:cNvSpPr txBox="1"/>
          <p:nvPr/>
        </p:nvSpPr>
        <p:spPr>
          <a:xfrm>
            <a:off x="457200" y="5669280"/>
            <a:ext cx="10972800" cy="365760"/>
          </a:xfrm>
          <a:prstGeom prst="rect">
            <a:avLst/>
          </a:prstGeom>
          <a:noFill/>
        </p:spPr>
        <p:txBody>
          <a:bodyPr wrap="square">
            <a:spAutoFit/>
          </a:bodyPr>
          <a:lstStyle/>
          <a:p>
            <a:pPr algn="l">
              <a:defRPr sz="900" b="0">
                <a:solidFill>
                  <a:srgbClr val="999999"/>
                </a:solidFill>
              </a:defRPr>
            </a:pPr>
            <a:r>
              <a:t>(참조용 -- 컨설팅사가 전체 현황을 한눈에 파악할 수 있도록 제공)</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square">
            <a:spAutoFit/>
          </a:bodyPr>
          <a:lstStyle/>
          <a:p>
            <a:pPr>
              <a:defRPr sz="2400" b="1">
                <a:solidFill>
                  <a:srgbClr val="1B2A4A"/>
                </a:solidFill>
              </a:defRPr>
            </a:pPr>
            <a:r>
              <a:t>[B-03b] 4개 팀 인프라 설정 비교 총괄표 -- Connection Pool &amp; Thread</a:t>
            </a:r>
          </a:p>
        </p:txBody>
      </p:sp>
      <p:graphicFrame>
        <p:nvGraphicFramePr>
          <p:cNvPr id="3" name="Table 2"/>
          <p:cNvGraphicFramePr>
            <a:graphicFrameLocks noGrp="1"/>
          </p:cNvGraphicFramePr>
          <p:nvPr/>
        </p:nvGraphicFramePr>
        <p:xfrm>
          <a:off x="457200" y="1005840"/>
          <a:ext cx="10972800" cy="3017520"/>
        </p:xfrm>
        <a:graphic>
          <a:graphicData uri="http://schemas.openxmlformats.org/drawingml/2006/table">
            <a:tbl>
              <a:tblPr firstRow="1" bandRow="1">
                <a:tableStyleId>{5C22544A-7EE6-4342-B048-85BDC9FD1C3A}</a:tableStyleId>
              </a:tblPr>
              <a:tblGrid>
                <a:gridCol w="1645920"/>
                <a:gridCol w="1865376"/>
                <a:gridCol w="1865376"/>
                <a:gridCol w="1865376"/>
                <a:gridCol w="1865376"/>
                <a:gridCol w="1865376"/>
              </a:tblGrid>
              <a:tr h="274320">
                <a:tc>
                  <a:txBody>
                    <a:bodyPr/>
                    <a:lstStyle/>
                    <a:p>
                      <a:pPr algn="ctr">
                        <a:defRPr sz="900" b="1">
                          <a:solidFill>
                            <a:srgbClr val="FFFFFF"/>
                          </a:solidFill>
                        </a:defRPr>
                      </a:pPr>
                      <a:r>
                        <a:t>설정 항목</a:t>
                      </a:r>
                    </a:p>
                  </a:txBody>
                  <a:tcPr>
                    <a:solidFill>
                      <a:srgbClr val="1B2A4A"/>
                    </a:solidFill>
                  </a:tcPr>
                </a:tc>
                <a:tc>
                  <a:txBody>
                    <a:bodyPr/>
                    <a:lstStyle/>
                    <a:p>
                      <a:pPr algn="ctr">
                        <a:defRPr sz="900" b="1">
                          <a:solidFill>
                            <a:srgbClr val="FFFFFF"/>
                          </a:solidFill>
                        </a:defRPr>
                      </a:pPr>
                      <a:r>
                        <a:t>플랫폼개발(NP)</a:t>
                      </a:r>
                    </a:p>
                  </a:txBody>
                  <a:tcPr>
                    <a:solidFill>
                      <a:srgbClr val="1B2A4A"/>
                    </a:solidFill>
                  </a:tcPr>
                </a:tc>
                <a:tc>
                  <a:txBody>
                    <a:bodyPr/>
                    <a:lstStyle/>
                    <a:p>
                      <a:pPr algn="ctr">
                        <a:defRPr sz="900" b="1">
                          <a:solidFill>
                            <a:srgbClr val="FFFFFF"/>
                          </a:solidFill>
                        </a:defRPr>
                      </a:pPr>
                      <a:r>
                        <a:t>플랫폼개발(NC)</a:t>
                      </a:r>
                    </a:p>
                  </a:txBody>
                  <a:tcPr>
                    <a:solidFill>
                      <a:srgbClr val="1B2A4A"/>
                    </a:solidFill>
                  </a:tcPr>
                </a:tc>
                <a:tc>
                  <a:txBody>
                    <a:bodyPr/>
                    <a:lstStyle/>
                    <a:p>
                      <a:pPr algn="ctr">
                        <a:defRPr sz="900" b="1">
                          <a:solidFill>
                            <a:srgbClr val="FFFFFF"/>
                          </a:solidFill>
                        </a:defRPr>
                      </a:pPr>
                      <a:r>
                        <a:t>CL플랫폼</a:t>
                      </a:r>
                    </a:p>
                  </a:txBody>
                  <a:tcPr>
                    <a:solidFill>
                      <a:srgbClr val="1B2A4A"/>
                    </a:solidFill>
                  </a:tcPr>
                </a:tc>
                <a:tc>
                  <a:txBody>
                    <a:bodyPr/>
                    <a:lstStyle/>
                    <a:p>
                      <a:pPr algn="ctr">
                        <a:defRPr sz="900" b="1">
                          <a:solidFill>
                            <a:srgbClr val="FFFFFF"/>
                          </a:solidFill>
                        </a:defRPr>
                      </a:pPr>
                      <a:r>
                        <a:t>주차서비스</a:t>
                      </a:r>
                    </a:p>
                  </a:txBody>
                  <a:tcPr>
                    <a:solidFill>
                      <a:srgbClr val="1B2A4A"/>
                    </a:solidFill>
                  </a:tcPr>
                </a:tc>
                <a:tc>
                  <a:txBody>
                    <a:bodyPr/>
                    <a:lstStyle/>
                    <a:p>
                      <a:pPr algn="ctr">
                        <a:defRPr sz="900" b="1">
                          <a:solidFill>
                            <a:srgbClr val="FFFFFF"/>
                          </a:solidFill>
                        </a:defRPr>
                      </a:pPr>
                      <a:r>
                        <a:t>현금정보계</a:t>
                      </a:r>
                    </a:p>
                  </a:txBody>
                  <a:tcPr>
                    <a:solidFill>
                      <a:srgbClr val="1B2A4A"/>
                    </a:solidFill>
                  </a:tcPr>
                </a:tc>
              </a:tr>
              <a:tr h="274320">
                <a:tc>
                  <a:txBody>
                    <a:bodyPr/>
                    <a:lstStyle/>
                    <a:p>
                      <a:pPr>
                        <a:defRPr sz="800">
                          <a:solidFill>
                            <a:srgbClr val="333333"/>
                          </a:solidFill>
                        </a:defRPr>
                      </a:pPr>
                      <a:r>
                        <a:t>Pool 구현체</a:t>
                      </a:r>
                    </a:p>
                  </a:txBody>
                  <a:tcPr>
                    <a:solidFill>
                      <a:srgbClr val="FFFFFF"/>
                    </a:solidFill>
                  </a:tcPr>
                </a:tc>
                <a:tc>
                  <a:txBody>
                    <a:bodyPr/>
                    <a:lstStyle/>
                    <a:p>
                      <a:pPr>
                        <a:defRPr sz="800">
                          <a:solidFill>
                            <a:srgbClr val="333333"/>
                          </a:solidFill>
                        </a:defRPr>
                      </a:pPr>
                      <a:r>
                        <a:t>HikariCP</a:t>
                      </a:r>
                    </a:p>
                  </a:txBody>
                  <a:tcPr>
                    <a:solidFill>
                      <a:srgbClr val="FFFFFF"/>
                    </a:solidFill>
                  </a:tcPr>
                </a:tc>
                <a:tc>
                  <a:txBody>
                    <a:bodyPr/>
                    <a:lstStyle/>
                    <a:p>
                      <a:pPr>
                        <a:defRPr sz="800">
                          <a:solidFill>
                            <a:srgbClr val="333333"/>
                          </a:solidFill>
                        </a:defRPr>
                      </a:pPr>
                      <a:r>
                        <a:t>HikariCP</a:t>
                      </a:r>
                    </a:p>
                  </a:txBody>
                  <a:tcPr>
                    <a:solidFill>
                      <a:srgbClr val="FFFFFF"/>
                    </a:solidFill>
                  </a:tcPr>
                </a:tc>
                <a:tc>
                  <a:txBody>
                    <a:bodyPr/>
                    <a:lstStyle/>
                    <a:p>
                      <a:pPr>
                        <a:defRPr sz="800">
                          <a:solidFill>
                            <a:srgbClr val="333333"/>
                          </a:solidFill>
                        </a:defRPr>
                      </a:pPr>
                      <a:r>
                        <a:t>미명시</a:t>
                      </a:r>
                    </a:p>
                  </a:txBody>
                  <a:tcPr>
                    <a:solidFill>
                      <a:srgbClr val="FFFFFF"/>
                    </a:solidFill>
                  </a:tcPr>
                </a:tc>
                <a:tc>
                  <a:txBody>
                    <a:bodyPr/>
                    <a:lstStyle/>
                    <a:p>
                      <a:pPr>
                        <a:defRPr sz="800">
                          <a:solidFill>
                            <a:srgbClr val="333333"/>
                          </a:solidFill>
                        </a:defRPr>
                      </a:pPr>
                      <a:r>
                        <a:t>DBCP</a:t>
                      </a:r>
                    </a:p>
                  </a:txBody>
                  <a:tcPr>
                    <a:solidFill>
                      <a:srgbClr val="FFFFFF"/>
                    </a:solidFill>
                  </a:tcPr>
                </a:tc>
                <a:tc>
                  <a:txBody>
                    <a:bodyPr/>
                    <a:lstStyle/>
                    <a:p>
                      <a:pPr>
                        <a:defRPr sz="800">
                          <a:solidFill>
                            <a:srgbClr val="333333"/>
                          </a:solidFill>
                        </a:defRPr>
                      </a:pPr>
                      <a:r>
                        <a:t>Liberty ConnMgr</a:t>
                      </a:r>
                    </a:p>
                  </a:txBody>
                  <a:tcPr>
                    <a:solidFill>
                      <a:srgbClr val="FFFFFF"/>
                    </a:solidFill>
                  </a:tcPr>
                </a:tc>
              </a:tr>
              <a:tr h="274320">
                <a:tc>
                  <a:txBody>
                    <a:bodyPr/>
                    <a:lstStyle/>
                    <a:p>
                      <a:pPr>
                        <a:defRPr sz="800">
                          <a:solidFill>
                            <a:srgbClr val="333333"/>
                          </a:solidFill>
                        </a:defRPr>
                      </a:pPr>
                      <a:r>
                        <a:t>maxPoolSize</a:t>
                      </a:r>
                    </a:p>
                  </a:txBody>
                  <a:tcPr>
                    <a:solidFill>
                      <a:srgbClr val="F2F2F2"/>
                    </a:solidFill>
                  </a:tcPr>
                </a:tc>
                <a:tc>
                  <a:txBody>
                    <a:bodyPr/>
                    <a:lstStyle/>
                    <a:p>
                      <a:pPr>
                        <a:defRPr sz="800">
                          <a:solidFill>
                            <a:srgbClr val="333333"/>
                          </a:solidFill>
                        </a:defRPr>
                      </a:pPr>
                      <a:r>
                        <a:t>5</a:t>
                      </a:r>
                    </a:p>
                  </a:txBody>
                  <a:tcPr>
                    <a:solidFill>
                      <a:srgbClr val="F2F2F2"/>
                    </a:solidFill>
                  </a:tcPr>
                </a:tc>
                <a:tc>
                  <a:txBody>
                    <a:bodyPr/>
                    <a:lstStyle/>
                    <a:p>
                      <a:pPr>
                        <a:defRPr sz="800">
                          <a:solidFill>
                            <a:srgbClr val="333333"/>
                          </a:solidFill>
                        </a:defRPr>
                      </a:pPr>
                      <a:r>
                        <a:t>100(w)/20(a)</a:t>
                      </a:r>
                    </a:p>
                  </a:txBody>
                  <a:tcPr>
                    <a:solidFill>
                      <a:srgbClr val="F2F2F2"/>
                    </a:solidFill>
                  </a:tcPr>
                </a:tc>
                <a:tc>
                  <a:txBody>
                    <a:bodyPr/>
                    <a:lstStyle/>
                    <a:p>
                      <a:pPr>
                        <a:defRPr sz="800">
                          <a:solidFill>
                            <a:srgbClr val="333333"/>
                          </a:solidFill>
                        </a:defRPr>
                      </a:pPr>
                      <a:r>
                        <a:t>50</a:t>
                      </a:r>
                    </a:p>
                  </a:txBody>
                  <a:tcPr>
                    <a:solidFill>
                      <a:srgbClr val="F2F2F2"/>
                    </a:solidFill>
                  </a:tcPr>
                </a:tc>
                <a:tc>
                  <a:txBody>
                    <a:bodyPr/>
                    <a:lstStyle/>
                    <a:p>
                      <a:pPr>
                        <a:defRPr sz="800">
                          <a:solidFill>
                            <a:srgbClr val="333333"/>
                          </a:solidFill>
                        </a:defRPr>
                      </a:pPr>
                      <a:r>
                        <a:t>100 (maxTotal)</a:t>
                      </a:r>
                    </a:p>
                  </a:txBody>
                  <a:tcPr>
                    <a:solidFill>
                      <a:srgbClr val="F2F2F2"/>
                    </a:solidFill>
                  </a:tcPr>
                </a:tc>
                <a:tc>
                  <a:txBody>
                    <a:bodyPr/>
                    <a:lstStyle/>
                    <a:p>
                      <a:pPr>
                        <a:defRPr sz="800">
                          <a:solidFill>
                            <a:srgbClr val="333333"/>
                          </a:solidFill>
                        </a:defRPr>
                      </a:pPr>
                      <a:r>
                        <a:t>50</a:t>
                      </a:r>
                    </a:p>
                  </a:txBody>
                  <a:tcPr>
                    <a:solidFill>
                      <a:srgbClr val="F2F2F2"/>
                    </a:solidFill>
                  </a:tcPr>
                </a:tc>
              </a:tr>
              <a:tr h="274320">
                <a:tc>
                  <a:txBody>
                    <a:bodyPr/>
                    <a:lstStyle/>
                    <a:p>
                      <a:pPr>
                        <a:defRPr sz="800">
                          <a:solidFill>
                            <a:srgbClr val="333333"/>
                          </a:solidFill>
                        </a:defRPr>
                      </a:pPr>
                      <a:r>
                        <a:t>minIdle/minPool</a:t>
                      </a:r>
                    </a:p>
                  </a:txBody>
                  <a:tcPr>
                    <a:solidFill>
                      <a:srgbClr val="FFFFFF"/>
                    </a:solidFill>
                  </a:tcPr>
                </a:tc>
                <a:tc>
                  <a:txBody>
                    <a:bodyPr/>
                    <a:lstStyle/>
                    <a:p>
                      <a:pPr>
                        <a:defRPr sz="800">
                          <a:solidFill>
                            <a:srgbClr val="333333"/>
                          </a:solidFill>
                        </a:defRPr>
                      </a:pPr>
                      <a:r>
                        <a:t>2</a:t>
                      </a:r>
                    </a:p>
                  </a:txBody>
                  <a:tcPr>
                    <a:solidFill>
                      <a:srgbClr val="FFFFFF"/>
                    </a:solidFill>
                  </a:tcPr>
                </a:tc>
                <a:tc>
                  <a:txBody>
                    <a:bodyPr/>
                    <a:lstStyle/>
                    <a:p>
                      <a:pPr>
                        <a:defRPr sz="800">
                          <a:solidFill>
                            <a:srgbClr val="333333"/>
                          </a:solidFill>
                        </a:defRPr>
                      </a:pPr>
                      <a:r>
                        <a:t>5</a:t>
                      </a:r>
                    </a:p>
                  </a:txBody>
                  <a:tcPr>
                    <a:solidFill>
                      <a:srgbClr val="FFFFFF"/>
                    </a:solidFill>
                  </a:tcPr>
                </a:tc>
                <a:tc>
                  <a:txBody>
                    <a:bodyPr/>
                    <a:lstStyle/>
                    <a:p>
                      <a:pPr>
                        <a:defRPr sz="800">
                          <a:solidFill>
                            <a:srgbClr val="333333"/>
                          </a:solidFill>
                        </a:defRPr>
                      </a:pPr>
                      <a:r>
                        <a:t>0</a:t>
                      </a:r>
                    </a:p>
                  </a:txBody>
                  <a:tcPr>
                    <a:solidFill>
                      <a:srgbClr val="FFFFFF"/>
                    </a:solidFill>
                  </a:tcPr>
                </a:tc>
                <a:tc>
                  <a:txBody>
                    <a:bodyPr/>
                    <a:lstStyle/>
                    <a:p>
                      <a:pPr>
                        <a:defRPr sz="800">
                          <a:solidFill>
                            <a:srgbClr val="333333"/>
                          </a:solidFill>
                        </a:defRPr>
                      </a:pPr>
                      <a:r>
                        <a:t>100</a:t>
                      </a:r>
                    </a:p>
                  </a:txBody>
                  <a:tcPr>
                    <a:solidFill>
                      <a:srgbClr val="FFFFFF"/>
                    </a:solidFill>
                  </a:tcPr>
                </a:tc>
                <a:tc>
                  <a:txBody>
                    <a:bodyPr/>
                    <a:lstStyle/>
                    <a:p>
                      <a:pPr>
                        <a:defRPr sz="800">
                          <a:solidFill>
                            <a:srgbClr val="333333"/>
                          </a:solidFill>
                        </a:defRPr>
                      </a:pPr>
                      <a:r>
                        <a:t>0</a:t>
                      </a:r>
                    </a:p>
                  </a:txBody>
                  <a:tcPr>
                    <a:solidFill>
                      <a:srgbClr val="FFFFFF"/>
                    </a:solidFill>
                  </a:tcPr>
                </a:tc>
              </a:tr>
              <a:tr h="274320">
                <a:tc>
                  <a:txBody>
                    <a:bodyPr/>
                    <a:lstStyle/>
                    <a:p>
                      <a:pPr>
                        <a:defRPr sz="800">
                          <a:solidFill>
                            <a:srgbClr val="333333"/>
                          </a:solidFill>
                        </a:defRPr>
                      </a:pPr>
                      <a:r>
                        <a:t>maxLifetime</a:t>
                      </a:r>
                    </a:p>
                  </a:txBody>
                  <a:tcPr>
                    <a:solidFill>
                      <a:srgbClr val="F2F2F2"/>
                    </a:solidFill>
                  </a:tcPr>
                </a:tc>
                <a:tc>
                  <a:txBody>
                    <a:bodyPr/>
                    <a:lstStyle/>
                    <a:p>
                      <a:pPr>
                        <a:defRPr sz="800">
                          <a:solidFill>
                            <a:srgbClr val="333333"/>
                          </a:solidFill>
                        </a:defRPr>
                      </a:pPr>
                      <a:r>
                        <a:t>1,800,000 ms</a:t>
                      </a:r>
                    </a:p>
                  </a:txBody>
                  <a:tcPr>
                    <a:solidFill>
                      <a:srgbClr val="F2F2F2"/>
                    </a:solidFill>
                  </a:tcPr>
                </a:tc>
                <a:tc>
                  <a:txBody>
                    <a:bodyPr/>
                    <a:lstStyle/>
                    <a:p>
                      <a:pPr>
                        <a:defRPr sz="800">
                          <a:solidFill>
                            <a:srgbClr val="333333"/>
                          </a:solidFill>
                        </a:defRPr>
                      </a:pPr>
                      <a:r>
                        <a:t>2,000,000 ms</a:t>
                      </a:r>
                    </a:p>
                  </a:txBody>
                  <a:tcPr>
                    <a:solidFill>
                      <a:srgbClr val="F2F2F2"/>
                    </a:solidFill>
                  </a:tcPr>
                </a:tc>
                <a:tc>
                  <a:txBody>
                    <a:bodyPr/>
                    <a:lstStyle/>
                    <a:p>
                      <a:pPr>
                        <a:defRPr sz="800">
                          <a:solidFill>
                            <a:srgbClr val="333333"/>
                          </a:solidFill>
                        </a:defRPr>
                      </a:pPr>
                      <a:r>
                        <a:t>1800 (단위불명)</a:t>
                      </a:r>
                    </a:p>
                  </a:txBody>
                  <a:tcPr>
                    <a:solidFill>
                      <a:srgbClr val="F2F2F2"/>
                    </a:solidFill>
                  </a:tcPr>
                </a:tc>
                <a:tc>
                  <a:txBody>
                    <a:bodyPr/>
                    <a:lstStyle/>
                    <a:p>
                      <a:pPr>
                        <a:defRPr sz="800">
                          <a:solidFill>
                            <a:srgbClr val="333333"/>
                          </a:solidFill>
                        </a:defRPr>
                      </a:pPr>
                      <a:r>
                        <a:t>10,000 ms (의심)</a:t>
                      </a:r>
                    </a:p>
                  </a:txBody>
                  <a:tcPr>
                    <a:solidFill>
                      <a:srgbClr val="F2F2F2"/>
                    </a:solidFill>
                  </a:tcPr>
                </a:tc>
                <a:tc>
                  <a:txBody>
                    <a:bodyPr/>
                    <a:lstStyle/>
                    <a:p>
                      <a:pPr>
                        <a:defRPr sz="800">
                          <a:solidFill>
                            <a:srgbClr val="333333"/>
                          </a:solidFill>
                        </a:defRPr>
                      </a:pPr>
                      <a:r>
                        <a:t>1,800 s</a:t>
                      </a:r>
                    </a:p>
                  </a:txBody>
                  <a:tcPr>
                    <a:solidFill>
                      <a:srgbClr val="F2F2F2"/>
                    </a:solidFill>
                  </a:tcPr>
                </a:tc>
              </a:tr>
              <a:tr h="274320">
                <a:tc>
                  <a:txBody>
                    <a:bodyPr/>
                    <a:lstStyle/>
                    <a:p>
                      <a:pPr>
                        <a:defRPr sz="800">
                          <a:solidFill>
                            <a:srgbClr val="333333"/>
                          </a:solidFill>
                        </a:defRPr>
                      </a:pPr>
                      <a:r>
                        <a:t>connectionTimeout</a:t>
                      </a:r>
                    </a:p>
                  </a:txBody>
                  <a:tcPr>
                    <a:solidFill>
                      <a:srgbClr val="FFFFFF"/>
                    </a:solidFill>
                  </a:tcPr>
                </a:tc>
                <a:tc>
                  <a:txBody>
                    <a:bodyPr/>
                    <a:lstStyle/>
                    <a:p>
                      <a:pPr>
                        <a:defRPr sz="800">
                          <a:solidFill>
                            <a:srgbClr val="333333"/>
                          </a:solidFill>
                        </a:defRPr>
                      </a:pPr>
                      <a:r>
                        <a:t>미설정</a:t>
                      </a:r>
                    </a:p>
                  </a:txBody>
                  <a:tcPr>
                    <a:solidFill>
                      <a:srgbClr val="FFFFFF"/>
                    </a:solidFill>
                  </a:tcPr>
                </a:tc>
                <a:tc>
                  <a:txBody>
                    <a:bodyPr/>
                    <a:lstStyle/>
                    <a:p>
                      <a:pPr>
                        <a:defRPr sz="800">
                          <a:solidFill>
                            <a:srgbClr val="333333"/>
                          </a:solidFill>
                        </a:defRPr>
                      </a:pPr>
                      <a:r>
                        <a:t>미설정</a:t>
                      </a:r>
                    </a:p>
                  </a:txBody>
                  <a:tcPr>
                    <a:solidFill>
                      <a:srgbClr val="FFFFFF"/>
                    </a:solidFill>
                  </a:tcPr>
                </a:tc>
                <a:tc>
                  <a:txBody>
                    <a:bodyPr/>
                    <a:lstStyle/>
                    <a:p>
                      <a:pPr>
                        <a:defRPr sz="800">
                          <a:solidFill>
                            <a:srgbClr val="333333"/>
                          </a:solidFill>
                        </a:defRPr>
                      </a:pPr>
                      <a:r>
                        <a:t>30s</a:t>
                      </a:r>
                    </a:p>
                  </a:txBody>
                  <a:tcPr>
                    <a:solidFill>
                      <a:srgbClr val="FFFFFF"/>
                    </a:solidFill>
                  </a:tcPr>
                </a:tc>
                <a:tc>
                  <a:txBody>
                    <a:bodyPr/>
                    <a:lstStyle/>
                    <a:p>
                      <a:pPr>
                        <a:defRPr sz="800">
                          <a:solidFill>
                            <a:srgbClr val="333333"/>
                          </a:solidFill>
                        </a:defRPr>
                      </a:pPr>
                      <a:r>
                        <a:t>20,000 ms</a:t>
                      </a:r>
                    </a:p>
                  </a:txBody>
                  <a:tcPr>
                    <a:solidFill>
                      <a:srgbClr val="FFFFFF"/>
                    </a:solidFill>
                  </a:tcPr>
                </a:tc>
                <a:tc>
                  <a:txBody>
                    <a:bodyPr/>
                    <a:lstStyle/>
                    <a:p>
                      <a:pPr>
                        <a:defRPr sz="800">
                          <a:solidFill>
                            <a:srgbClr val="333333"/>
                          </a:solidFill>
                        </a:defRPr>
                      </a:pPr>
                      <a:r>
                        <a:t>30s</a:t>
                      </a:r>
                    </a:p>
                  </a:txBody>
                  <a:tcPr>
                    <a:solidFill>
                      <a:srgbClr val="FFFFFF"/>
                    </a:solidFill>
                  </a:tcPr>
                </a:tc>
              </a:tr>
              <a:tr h="274320">
                <a:tc>
                  <a:txBody>
                    <a:bodyPr/>
                    <a:lstStyle/>
                    <a:p>
                      <a:pPr>
                        <a:defRPr sz="800">
                          <a:solidFill>
                            <a:srgbClr val="333333"/>
                          </a:solidFill>
                        </a:defRPr>
                      </a:pPr>
                      <a:r>
                        <a:t>reapTime</a:t>
                      </a:r>
                    </a:p>
                  </a:txBody>
                  <a:tcPr>
                    <a:solidFill>
                      <a:srgbClr val="F2F2F2"/>
                    </a:solidFill>
                  </a:tcPr>
                </a:tc>
                <a:tc>
                  <a:txBody>
                    <a:bodyPr/>
                    <a:lstStyle/>
                    <a:p>
                      <a:pPr>
                        <a:defRPr sz="800">
                          <a:solidFill>
                            <a:srgbClr val="333333"/>
                          </a:solidFill>
                        </a:defRPr>
                      </a:pPr>
                      <a:r>
                        <a:t>N/A</a:t>
                      </a:r>
                    </a:p>
                  </a:txBody>
                  <a:tcPr>
                    <a:solidFill>
                      <a:srgbClr val="F2F2F2"/>
                    </a:solidFill>
                  </a:tcPr>
                </a:tc>
                <a:tc>
                  <a:txBody>
                    <a:bodyPr/>
                    <a:lstStyle/>
                    <a:p>
                      <a:pPr>
                        <a:defRPr sz="800">
                          <a:solidFill>
                            <a:srgbClr val="333333"/>
                          </a:solidFill>
                        </a:defRPr>
                      </a:pPr>
                      <a:r>
                        <a:t>N/A</a:t>
                      </a:r>
                    </a:p>
                  </a:txBody>
                  <a:tcPr>
                    <a:solidFill>
                      <a:srgbClr val="F2F2F2"/>
                    </a:solidFill>
                  </a:tcPr>
                </a:tc>
                <a:tc>
                  <a:txBody>
                    <a:bodyPr/>
                    <a:lstStyle/>
                    <a:p>
                      <a:pPr>
                        <a:defRPr sz="800">
                          <a:solidFill>
                            <a:srgbClr val="333333"/>
                          </a:solidFill>
                        </a:defRPr>
                      </a:pPr>
                      <a:r>
                        <a:t>300s</a:t>
                      </a:r>
                    </a:p>
                  </a:txBody>
                  <a:tcPr>
                    <a:solidFill>
                      <a:srgbClr val="F2F2F2"/>
                    </a:solidFill>
                  </a:tcPr>
                </a:tc>
                <a:tc>
                  <a:txBody>
                    <a:bodyPr/>
                    <a:lstStyle/>
                    <a:p>
                      <a:pPr>
                        <a:defRPr sz="800">
                          <a:solidFill>
                            <a:srgbClr val="333333"/>
                          </a:solidFill>
                        </a:defRPr>
                      </a:pPr>
                      <a:r>
                        <a:t>N/A</a:t>
                      </a:r>
                    </a:p>
                  </a:txBody>
                  <a:tcPr>
                    <a:solidFill>
                      <a:srgbClr val="F2F2F2"/>
                    </a:solidFill>
                  </a:tcPr>
                </a:tc>
                <a:tc>
                  <a:txBody>
                    <a:bodyPr/>
                    <a:lstStyle/>
                    <a:p>
                      <a:pPr>
                        <a:defRPr sz="800">
                          <a:solidFill>
                            <a:srgbClr val="333333"/>
                          </a:solidFill>
                        </a:defRPr>
                      </a:pPr>
                      <a:r>
                        <a:t>300s</a:t>
                      </a:r>
                    </a:p>
                  </a:txBody>
                  <a:tcPr>
                    <a:solidFill>
                      <a:srgbClr val="F2F2F2"/>
                    </a:solidFill>
                  </a:tcPr>
                </a:tc>
              </a:tr>
              <a:tr h="274320">
                <a:tc>
                  <a:txBody>
                    <a:bodyPr/>
                    <a:lstStyle/>
                    <a:p>
                      <a:pPr>
                        <a:defRPr sz="800">
                          <a:solidFill>
                            <a:srgbClr val="333333"/>
                          </a:solidFill>
                        </a:defRPr>
                      </a:pPr>
                      <a:r>
                        <a:t>maxIdleTime</a:t>
                      </a:r>
                    </a:p>
                  </a:txBody>
                  <a:tcPr>
                    <a:solidFill>
                      <a:srgbClr val="FFFFFF"/>
                    </a:solidFill>
                  </a:tcPr>
                </a:tc>
                <a:tc>
                  <a:txBody>
                    <a:bodyPr/>
                    <a:lstStyle/>
                    <a:p>
                      <a:pPr>
                        <a:defRPr sz="800">
                          <a:solidFill>
                            <a:srgbClr val="333333"/>
                          </a:solidFill>
                        </a:defRPr>
                      </a:pPr>
                      <a:r>
                        <a:t>N/A</a:t>
                      </a:r>
                    </a:p>
                  </a:txBody>
                  <a:tcPr>
                    <a:solidFill>
                      <a:srgbClr val="FFFFFF"/>
                    </a:solidFill>
                  </a:tcPr>
                </a:tc>
                <a:tc>
                  <a:txBody>
                    <a:bodyPr/>
                    <a:lstStyle/>
                    <a:p>
                      <a:pPr>
                        <a:defRPr sz="800">
                          <a:solidFill>
                            <a:srgbClr val="333333"/>
                          </a:solidFill>
                        </a:defRPr>
                      </a:pPr>
                      <a:r>
                        <a:t>N/A</a:t>
                      </a:r>
                    </a:p>
                  </a:txBody>
                  <a:tcPr>
                    <a:solidFill>
                      <a:srgbClr val="FFFFFF"/>
                    </a:solidFill>
                  </a:tcPr>
                </a:tc>
                <a:tc>
                  <a:txBody>
                    <a:bodyPr/>
                    <a:lstStyle/>
                    <a:p>
                      <a:pPr>
                        <a:defRPr sz="800">
                          <a:solidFill>
                            <a:srgbClr val="333333"/>
                          </a:solidFill>
                        </a:defRPr>
                      </a:pPr>
                      <a:r>
                        <a:t>1,800s</a:t>
                      </a:r>
                    </a:p>
                  </a:txBody>
                  <a:tcPr>
                    <a:solidFill>
                      <a:srgbClr val="FFFFFF"/>
                    </a:solidFill>
                  </a:tcPr>
                </a:tc>
                <a:tc>
                  <a:txBody>
                    <a:bodyPr/>
                    <a:lstStyle/>
                    <a:p>
                      <a:pPr>
                        <a:defRPr sz="800">
                          <a:solidFill>
                            <a:srgbClr val="333333"/>
                          </a:solidFill>
                        </a:defRPr>
                      </a:pPr>
                      <a:r>
                        <a:t>N/A</a:t>
                      </a:r>
                    </a:p>
                  </a:txBody>
                  <a:tcPr>
                    <a:solidFill>
                      <a:srgbClr val="FFFFFF"/>
                    </a:solidFill>
                  </a:tcPr>
                </a:tc>
                <a:tc>
                  <a:txBody>
                    <a:bodyPr/>
                    <a:lstStyle/>
                    <a:p>
                      <a:pPr>
                        <a:defRPr sz="800">
                          <a:solidFill>
                            <a:srgbClr val="333333"/>
                          </a:solidFill>
                        </a:defRPr>
                      </a:pPr>
                      <a:r>
                        <a:t>1,800s</a:t>
                      </a:r>
                    </a:p>
                  </a:txBody>
                  <a:tcPr>
                    <a:solidFill>
                      <a:srgbClr val="FFFFFF"/>
                    </a:solidFill>
                  </a:tcPr>
                </a:tc>
              </a:tr>
              <a:tr h="274320">
                <a:tc>
                  <a:txBody>
                    <a:bodyPr/>
                    <a:lstStyle/>
                    <a:p>
                      <a:pPr>
                        <a:defRPr sz="800">
                          <a:solidFill>
                            <a:srgbClr val="333333"/>
                          </a:solidFill>
                        </a:defRPr>
                      </a:pPr>
                      <a:r>
                        <a:t>maxThreads</a:t>
                      </a:r>
                    </a:p>
                  </a:txBody>
                  <a:tcPr>
                    <a:solidFill>
                      <a:srgbClr val="F2F2F2"/>
                    </a:solidFill>
                  </a:tcPr>
                </a:tc>
                <a:tc>
                  <a:txBody>
                    <a:bodyPr/>
                    <a:lstStyle/>
                    <a:p>
                      <a:pPr>
                        <a:defRPr sz="800">
                          <a:solidFill>
                            <a:srgbClr val="333333"/>
                          </a:solidFill>
                        </a:defRPr>
                      </a:pPr>
                      <a:r>
                        <a:t>기본값(200)</a:t>
                      </a:r>
                    </a:p>
                  </a:txBody>
                  <a:tcPr>
                    <a:solidFill>
                      <a:srgbClr val="F2F2F2"/>
                    </a:solidFill>
                  </a:tcPr>
                </a:tc>
                <a:tc>
                  <a:txBody>
                    <a:bodyPr/>
                    <a:lstStyle/>
                    <a:p>
                      <a:pPr>
                        <a:defRPr sz="800">
                          <a:solidFill>
                            <a:srgbClr val="333333"/>
                          </a:solidFill>
                        </a:defRPr>
                      </a:pPr>
                      <a:r>
                        <a:t>기본값(200)</a:t>
                      </a:r>
                    </a:p>
                  </a:txBody>
                  <a:tcPr>
                    <a:solidFill>
                      <a:srgbClr val="F2F2F2"/>
                    </a:solidFill>
                  </a:tcPr>
                </a:tc>
                <a:tc>
                  <a:txBody>
                    <a:bodyPr/>
                    <a:lstStyle/>
                    <a:p>
                      <a:pPr>
                        <a:defRPr sz="800" b="1">
                          <a:solidFill>
                            <a:srgbClr val="CC0000"/>
                          </a:solidFill>
                        </a:defRPr>
                      </a:pPr>
                      <a:r>
                        <a:t>**-1 (무제한)**</a:t>
                      </a:r>
                    </a:p>
                  </a:txBody>
                  <a:tcPr>
                    <a:solidFill>
                      <a:srgbClr val="F2F2F2"/>
                    </a:solidFill>
                  </a:tcPr>
                </a:tc>
                <a:tc>
                  <a:txBody>
                    <a:bodyPr/>
                    <a:lstStyle/>
                    <a:p>
                      <a:pPr>
                        <a:defRPr sz="800">
                          <a:solidFill>
                            <a:srgbClr val="333333"/>
                          </a:solidFill>
                        </a:defRPr>
                      </a:pPr>
                      <a:r>
                        <a:t>500</a:t>
                      </a:r>
                    </a:p>
                  </a:txBody>
                  <a:tcPr>
                    <a:solidFill>
                      <a:srgbClr val="F2F2F2"/>
                    </a:solidFill>
                  </a:tcPr>
                </a:tc>
                <a:tc>
                  <a:txBody>
                    <a:bodyPr/>
                    <a:lstStyle/>
                    <a:p>
                      <a:pPr>
                        <a:defRPr sz="800">
                          <a:solidFill>
                            <a:srgbClr val="333333"/>
                          </a:solidFill>
                        </a:defRPr>
                      </a:pPr>
                      <a:r>
                        <a:t>-1 (자동)</a:t>
                      </a:r>
                    </a:p>
                  </a:txBody>
                  <a:tcPr>
                    <a:solidFill>
                      <a:srgbClr val="F2F2F2"/>
                    </a:solidFill>
                  </a:tcPr>
                </a:tc>
              </a:tr>
              <a:tr h="274320">
                <a:tc>
                  <a:txBody>
                    <a:bodyPr/>
                    <a:lstStyle/>
                    <a:p>
                      <a:pPr>
                        <a:defRPr sz="800">
                          <a:solidFill>
                            <a:srgbClr val="333333"/>
                          </a:solidFill>
                        </a:defRPr>
                      </a:pPr>
                      <a:r>
                        <a:t>minSpareThreads</a:t>
                      </a:r>
                    </a:p>
                  </a:txBody>
                  <a:tcPr>
                    <a:solidFill>
                      <a:srgbClr val="FFFFFF"/>
                    </a:solidFill>
                  </a:tcPr>
                </a:tc>
                <a:tc>
                  <a:txBody>
                    <a:bodyPr/>
                    <a:lstStyle/>
                    <a:p>
                      <a:pPr>
                        <a:defRPr sz="800">
                          <a:solidFill>
                            <a:srgbClr val="333333"/>
                          </a:solidFill>
                        </a:defRPr>
                      </a:pPr>
                      <a:r>
                        <a:t>기본값(10)</a:t>
                      </a:r>
                    </a:p>
                  </a:txBody>
                  <a:tcPr>
                    <a:solidFill>
                      <a:srgbClr val="FFFFFF"/>
                    </a:solidFill>
                  </a:tcPr>
                </a:tc>
                <a:tc>
                  <a:txBody>
                    <a:bodyPr/>
                    <a:lstStyle/>
                    <a:p>
                      <a:pPr>
                        <a:defRPr sz="800">
                          <a:solidFill>
                            <a:srgbClr val="333333"/>
                          </a:solidFill>
                        </a:defRPr>
                      </a:pPr>
                      <a:r>
                        <a:t>기본값</a:t>
                      </a:r>
                    </a:p>
                  </a:txBody>
                  <a:tcPr>
                    <a:solidFill>
                      <a:srgbClr val="FFFFFF"/>
                    </a:solidFill>
                  </a:tcPr>
                </a:tc>
                <a:tc>
                  <a:txBody>
                    <a:bodyPr/>
                    <a:lstStyle/>
                    <a:p>
                      <a:pPr>
                        <a:defRPr sz="800">
                          <a:solidFill>
                            <a:srgbClr val="333333"/>
                          </a:solidFill>
                        </a:defRPr>
                      </a:pPr>
                      <a:r>
                        <a:t>기본값</a:t>
                      </a:r>
                    </a:p>
                  </a:txBody>
                  <a:tcPr>
                    <a:solidFill>
                      <a:srgbClr val="FFFFFF"/>
                    </a:solidFill>
                  </a:tcPr>
                </a:tc>
                <a:tc>
                  <a:txBody>
                    <a:bodyPr/>
                    <a:lstStyle/>
                    <a:p>
                      <a:pPr>
                        <a:defRPr sz="800">
                          <a:solidFill>
                            <a:srgbClr val="333333"/>
                          </a:solidFill>
                        </a:defRPr>
                      </a:pPr>
                      <a:r>
                        <a:t>25</a:t>
                      </a:r>
                    </a:p>
                  </a:txBody>
                  <a:tcPr>
                    <a:solidFill>
                      <a:srgbClr val="FFFFFF"/>
                    </a:solidFill>
                  </a:tcPr>
                </a:tc>
                <a:tc>
                  <a:txBody>
                    <a:bodyPr/>
                    <a:lstStyle/>
                    <a:p>
                      <a:pPr>
                        <a:defRPr sz="800">
                          <a:solidFill>
                            <a:srgbClr val="333333"/>
                          </a:solidFill>
                        </a:defRPr>
                      </a:pPr>
                      <a:r>
                        <a:t>-1 (자동)</a:t>
                      </a:r>
                    </a:p>
                  </a:txBody>
                  <a:tcPr>
                    <a:solidFill>
                      <a:srgbClr val="FFFFFF"/>
                    </a:solidFill>
                  </a:tcPr>
                </a:tc>
              </a:tr>
              <a:tr h="274320">
                <a:tc>
                  <a:txBody>
                    <a:bodyPr/>
                    <a:lstStyle/>
                    <a:p>
                      <a:pPr>
                        <a:defRPr sz="800">
                          <a:solidFill>
                            <a:srgbClr val="333333"/>
                          </a:solidFill>
                        </a:defRPr>
                      </a:pPr>
                      <a:r>
                        <a:t>acceptCount</a:t>
                      </a:r>
                    </a:p>
                  </a:txBody>
                  <a:tcPr>
                    <a:solidFill>
                      <a:srgbClr val="F2F2F2"/>
                    </a:solidFill>
                  </a:tcPr>
                </a:tc>
                <a:tc>
                  <a:txBody>
                    <a:bodyPr/>
                    <a:lstStyle/>
                    <a:p>
                      <a:pPr>
                        <a:defRPr sz="800">
                          <a:solidFill>
                            <a:srgbClr val="333333"/>
                          </a:solidFill>
                        </a:defRPr>
                      </a:pPr>
                      <a:r>
                        <a:t>기본값(100)</a:t>
                      </a:r>
                    </a:p>
                  </a:txBody>
                  <a:tcPr>
                    <a:solidFill>
                      <a:srgbClr val="F2F2F2"/>
                    </a:solidFill>
                  </a:tcPr>
                </a:tc>
                <a:tc>
                  <a:txBody>
                    <a:bodyPr/>
                    <a:lstStyle/>
                    <a:p>
                      <a:pPr>
                        <a:defRPr sz="800">
                          <a:solidFill>
                            <a:srgbClr val="333333"/>
                          </a:solidFill>
                        </a:defRPr>
                      </a:pPr>
                      <a:r>
                        <a:t>기본값</a:t>
                      </a:r>
                    </a:p>
                  </a:txBody>
                  <a:tcPr>
                    <a:solidFill>
                      <a:srgbClr val="F2F2F2"/>
                    </a:solidFill>
                  </a:tcPr>
                </a:tc>
                <a:tc>
                  <a:txBody>
                    <a:bodyPr/>
                    <a:lstStyle/>
                    <a:p>
                      <a:pPr>
                        <a:defRPr sz="800">
                          <a:solidFill>
                            <a:srgbClr val="333333"/>
                          </a:solidFill>
                        </a:defRPr>
                      </a:pPr>
                      <a:r>
                        <a:t>기본값</a:t>
                      </a:r>
                    </a:p>
                  </a:txBody>
                  <a:tcPr>
                    <a:solidFill>
                      <a:srgbClr val="F2F2F2"/>
                    </a:solidFill>
                  </a:tcPr>
                </a:tc>
                <a:tc>
                  <a:txBody>
                    <a:bodyPr/>
                    <a:lstStyle/>
                    <a:p>
                      <a:pPr>
                        <a:defRPr sz="800">
                          <a:solidFill>
                            <a:srgbClr val="333333"/>
                          </a:solidFill>
                        </a:defRPr>
                      </a:pPr>
                      <a:r>
                        <a:t>기본값(100)</a:t>
                      </a:r>
                    </a:p>
                  </a:txBody>
                  <a:tcPr>
                    <a:solidFill>
                      <a:srgbClr val="F2F2F2"/>
                    </a:solidFill>
                  </a:tcPr>
                </a:tc>
                <a:tc>
                  <a:txBody>
                    <a:bodyPr/>
                    <a:lstStyle/>
                    <a:p>
                      <a:pPr>
                        <a:defRPr sz="800">
                          <a:solidFill>
                            <a:srgbClr val="333333"/>
                          </a:solidFill>
                        </a:defRPr>
                      </a:pPr>
                      <a:r>
                        <a:t>N/A</a:t>
                      </a:r>
                    </a:p>
                  </a:txBody>
                  <a:tcPr>
                    <a:solidFill>
                      <a:srgbClr val="F2F2F2"/>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square">
            <a:spAutoFit/>
          </a:bodyPr>
          <a:lstStyle/>
          <a:p>
            <a:pPr>
              <a:defRPr sz="2400" b="1">
                <a:solidFill>
                  <a:srgbClr val="1B2A4A"/>
                </a:solidFill>
              </a:defRPr>
            </a:pPr>
            <a:r>
              <a:t>[C-01] Java 버전 파편화 및 비LTS(Java 15) EOL 리스크</a:t>
            </a:r>
          </a:p>
        </p:txBody>
      </p:sp>
      <p:sp>
        <p:nvSpPr>
          <p:cNvPr id="3" name="TextBox 2"/>
          <p:cNvSpPr txBox="1"/>
          <p:nvPr/>
        </p:nvSpPr>
        <p:spPr>
          <a:xfrm>
            <a:off x="457200" y="914400"/>
            <a:ext cx="10972800" cy="320040"/>
          </a:xfrm>
          <a:prstGeom prst="rect">
            <a:avLst/>
          </a:prstGeom>
          <a:noFill/>
        </p:spPr>
        <p:txBody>
          <a:bodyPr wrap="none">
            <a:spAutoFit/>
          </a:bodyPr>
          <a:lstStyle/>
          <a:p>
            <a:pPr>
              <a:defRPr sz="1300" b="1" u="sng">
                <a:solidFill>
                  <a:srgbClr val="006D6F"/>
                </a:solidFill>
              </a:defRPr>
            </a:pPr>
            <a:r>
              <a:t>[Step 1: 현황 (Current State)]</a:t>
            </a:r>
          </a:p>
        </p:txBody>
      </p:sp>
      <p:graphicFrame>
        <p:nvGraphicFramePr>
          <p:cNvPr id="4" name="Table 3"/>
          <p:cNvGraphicFramePr>
            <a:graphicFrameLocks noGrp="1"/>
          </p:cNvGraphicFramePr>
          <p:nvPr/>
        </p:nvGraphicFramePr>
        <p:xfrm>
          <a:off x="457200" y="1280160"/>
          <a:ext cx="10972800" cy="1645919"/>
        </p:xfrm>
        <a:graphic>
          <a:graphicData uri="http://schemas.openxmlformats.org/drawingml/2006/table">
            <a:tbl>
              <a:tblPr firstRow="1" bandRow="1">
                <a:tableStyleId>{5C22544A-7EE6-4342-B048-85BDC9FD1C3A}</a:tableStyleId>
              </a:tblPr>
              <a:tblGrid>
                <a:gridCol w="1463040"/>
                <a:gridCol w="2377440"/>
                <a:gridCol w="1645920"/>
                <a:gridCol w="1188720"/>
                <a:gridCol w="1463040"/>
                <a:gridCol w="2834640"/>
              </a:tblGrid>
              <a:tr h="274319">
                <a:tc>
                  <a:txBody>
                    <a:bodyPr/>
                    <a:lstStyle/>
                    <a:p>
                      <a:pPr algn="ctr">
                        <a:defRPr sz="900" b="1">
                          <a:solidFill>
                            <a:srgbClr val="FFFFFF"/>
                          </a:solidFill>
                        </a:defRPr>
                      </a:pPr>
                      <a:r>
                        <a:t>팀</a:t>
                      </a:r>
                    </a:p>
                  </a:txBody>
                  <a:tcPr>
                    <a:solidFill>
                      <a:srgbClr val="1B2A4A"/>
                    </a:solidFill>
                  </a:tcPr>
                </a:tc>
                <a:tc>
                  <a:txBody>
                    <a:bodyPr/>
                    <a:lstStyle/>
                    <a:p>
                      <a:pPr algn="ctr">
                        <a:defRPr sz="900" b="1">
                          <a:solidFill>
                            <a:srgbClr val="FFFFFF"/>
                          </a:solidFill>
                        </a:defRPr>
                      </a:pPr>
                      <a:r>
                        <a:t>WAS</a:t>
                      </a:r>
                    </a:p>
                  </a:txBody>
                  <a:tcPr>
                    <a:solidFill>
                      <a:srgbClr val="1B2A4A"/>
                    </a:solidFill>
                  </a:tcPr>
                </a:tc>
                <a:tc>
                  <a:txBody>
                    <a:bodyPr/>
                    <a:lstStyle/>
                    <a:p>
                      <a:pPr algn="ctr">
                        <a:defRPr sz="900" b="1">
                          <a:solidFill>
                            <a:srgbClr val="FFFFFF"/>
                          </a:solidFill>
                        </a:defRPr>
                      </a:pPr>
                      <a:r>
                        <a:t>Java 버전</a:t>
                      </a:r>
                    </a:p>
                  </a:txBody>
                  <a:tcPr>
                    <a:solidFill>
                      <a:srgbClr val="1B2A4A"/>
                    </a:solidFill>
                  </a:tcPr>
                </a:tc>
                <a:tc>
                  <a:txBody>
                    <a:bodyPr/>
                    <a:lstStyle/>
                    <a:p>
                      <a:pPr algn="ctr">
                        <a:defRPr sz="900" b="1">
                          <a:solidFill>
                            <a:srgbClr val="FFFFFF"/>
                          </a:solidFill>
                        </a:defRPr>
                      </a:pPr>
                      <a:r>
                        <a:t>LTS 여부</a:t>
                      </a:r>
                    </a:p>
                  </a:txBody>
                  <a:tcPr>
                    <a:solidFill>
                      <a:srgbClr val="1B2A4A"/>
                    </a:solidFill>
                  </a:tcPr>
                </a:tc>
                <a:tc>
                  <a:txBody>
                    <a:bodyPr/>
                    <a:lstStyle/>
                    <a:p>
                      <a:pPr algn="ctr">
                        <a:defRPr sz="900" b="1">
                          <a:solidFill>
                            <a:srgbClr val="FFFFFF"/>
                          </a:solidFill>
                        </a:defRPr>
                      </a:pPr>
                      <a:r>
                        <a:t>EOL</a:t>
                      </a:r>
                    </a:p>
                  </a:txBody>
                  <a:tcPr>
                    <a:solidFill>
                      <a:srgbClr val="1B2A4A"/>
                    </a:solidFill>
                  </a:tcPr>
                </a:tc>
                <a:tc>
                  <a:txBody>
                    <a:bodyPr/>
                    <a:lstStyle/>
                    <a:p>
                      <a:pPr algn="ctr">
                        <a:defRPr sz="900" b="1">
                          <a:solidFill>
                            <a:srgbClr val="FFFFFF"/>
                          </a:solidFill>
                        </a:defRPr>
                      </a:pPr>
                      <a:r>
                        <a:t>비고</a:t>
                      </a:r>
                    </a:p>
                  </a:txBody>
                  <a:tcPr>
                    <a:solidFill>
                      <a:srgbClr val="1B2A4A"/>
                    </a:solidFill>
                  </a:tcPr>
                </a:tc>
              </a:tr>
              <a:tr h="274319">
                <a:tc>
                  <a:txBody>
                    <a:bodyPr/>
                    <a:lstStyle/>
                    <a:p>
                      <a:pPr>
                        <a:defRPr sz="800">
                          <a:solidFill>
                            <a:srgbClr val="333333"/>
                          </a:solidFill>
                        </a:defRPr>
                      </a:pPr>
                      <a:r>
                        <a:t>플랫폼개발(NP)</a:t>
                      </a:r>
                    </a:p>
                  </a:txBody>
                  <a:tcPr>
                    <a:solidFill>
                      <a:srgbClr val="FFFFFF"/>
                    </a:solidFill>
                  </a:tcPr>
                </a:tc>
                <a:tc>
                  <a:txBody>
                    <a:bodyPr/>
                    <a:lstStyle/>
                    <a:p>
                      <a:pPr>
                        <a:defRPr sz="800">
                          <a:solidFill>
                            <a:srgbClr val="333333"/>
                          </a:solidFill>
                        </a:defRPr>
                      </a:pPr>
                      <a:r>
                        <a:t>Spring Boot 3.5.3 내장</a:t>
                      </a:r>
                    </a:p>
                  </a:txBody>
                  <a:tcPr>
                    <a:solidFill>
                      <a:srgbClr val="FFFFFF"/>
                    </a:solidFill>
                  </a:tcPr>
                </a:tc>
                <a:tc>
                  <a:txBody>
                    <a:bodyPr/>
                    <a:lstStyle/>
                    <a:p>
                      <a:pPr>
                        <a:defRPr sz="800">
                          <a:solidFill>
                            <a:srgbClr val="333333"/>
                          </a:solidFill>
                        </a:defRPr>
                      </a:pPr>
                      <a:r>
                        <a:t>17</a:t>
                      </a:r>
                    </a:p>
                  </a:txBody>
                  <a:tcPr>
                    <a:solidFill>
                      <a:srgbClr val="FFFFFF"/>
                    </a:solidFill>
                  </a:tcPr>
                </a:tc>
                <a:tc>
                  <a:txBody>
                    <a:bodyPr/>
                    <a:lstStyle/>
                    <a:p>
                      <a:pPr>
                        <a:defRPr sz="800">
                          <a:solidFill>
                            <a:srgbClr val="333333"/>
                          </a:solidFill>
                        </a:defRPr>
                      </a:pPr>
                      <a:r>
                        <a:t>LTS</a:t>
                      </a:r>
                    </a:p>
                  </a:txBody>
                  <a:tcPr>
                    <a:solidFill>
                      <a:srgbClr val="FFFFFF"/>
                    </a:solidFill>
                  </a:tcPr>
                </a:tc>
                <a:tc>
                  <a:txBody>
                    <a:bodyPr/>
                    <a:lstStyle/>
                    <a:p>
                      <a:pPr>
                        <a:defRPr sz="800">
                          <a:solidFill>
                            <a:srgbClr val="333333"/>
                          </a:solidFill>
                        </a:defRPr>
                      </a:pPr>
                      <a:r>
                        <a:t>2029-09</a:t>
                      </a:r>
                    </a:p>
                  </a:txBody>
                  <a:tcPr>
                    <a:solidFill>
                      <a:srgbClr val="FFFFFF"/>
                    </a:solidFill>
                  </a:tcPr>
                </a:tc>
                <a:tc>
                  <a:txBody>
                    <a:bodyPr/>
                    <a:lstStyle/>
                    <a:p>
                      <a:pPr>
                        <a:defRPr sz="800">
                          <a:solidFill>
                            <a:srgbClr val="333333"/>
                          </a:solidFill>
                        </a:defRPr>
                      </a:pPr>
                      <a:r>
                        <a:t>유일한 LTS 인스턴스</a:t>
                      </a:r>
                    </a:p>
                  </a:txBody>
                  <a:tcPr>
                    <a:solidFill>
                      <a:srgbClr val="FFFFFF"/>
                    </a:solidFill>
                  </a:tcPr>
                </a:tc>
              </a:tr>
              <a:tr h="274319">
                <a:tc>
                  <a:txBody>
                    <a:bodyPr/>
                    <a:lstStyle/>
                    <a:p>
                      <a:pPr>
                        <a:defRPr sz="800">
                          <a:solidFill>
                            <a:srgbClr val="333333"/>
                          </a:solidFill>
                        </a:defRPr>
                      </a:pPr>
                      <a:r>
                        <a:t>플랫폼개발(NC)</a:t>
                      </a:r>
                    </a:p>
                  </a:txBody>
                  <a:tcPr>
                    <a:solidFill>
                      <a:srgbClr val="F2F2F2"/>
                    </a:solidFill>
                  </a:tcPr>
                </a:tc>
                <a:tc>
                  <a:txBody>
                    <a:bodyPr/>
                    <a:lstStyle/>
                    <a:p>
                      <a:pPr>
                        <a:defRPr sz="800">
                          <a:solidFill>
                            <a:srgbClr val="333333"/>
                          </a:solidFill>
                        </a:defRPr>
                      </a:pPr>
                      <a:r>
                        <a:t>Tomcat 9/Spring Boot 4.0.5</a:t>
                      </a:r>
                    </a:p>
                  </a:txBody>
                  <a:tcPr>
                    <a:solidFill>
                      <a:srgbClr val="F2F2F2"/>
                    </a:solidFill>
                  </a:tcPr>
                </a:tc>
                <a:tc>
                  <a:txBody>
                    <a:bodyPr/>
                    <a:lstStyle/>
                    <a:p>
                      <a:pPr>
                        <a:defRPr sz="800">
                          <a:solidFill>
                            <a:srgbClr val="333333"/>
                          </a:solidFill>
                        </a:defRPr>
                      </a:pPr>
                      <a:r>
                        <a:t>15 / 25</a:t>
                      </a:r>
                    </a:p>
                  </a:txBody>
                  <a:tcPr>
                    <a:solidFill>
                      <a:srgbClr val="F2F2F2"/>
                    </a:solidFill>
                  </a:tcPr>
                </a:tc>
                <a:tc>
                  <a:txBody>
                    <a:bodyPr/>
                    <a:lstStyle/>
                    <a:p>
                      <a:pPr>
                        <a:defRPr sz="800">
                          <a:solidFill>
                            <a:srgbClr val="333333"/>
                          </a:solidFill>
                        </a:defRPr>
                      </a:pPr>
                      <a:r>
                        <a:t>비LTS/비LTS</a:t>
                      </a:r>
                    </a:p>
                  </a:txBody>
                  <a:tcPr>
                    <a:solidFill>
                      <a:srgbClr val="F2F2F2"/>
                    </a:solidFill>
                  </a:tcPr>
                </a:tc>
                <a:tc>
                  <a:txBody>
                    <a:bodyPr/>
                    <a:lstStyle/>
                    <a:p>
                      <a:pPr>
                        <a:defRPr sz="800">
                          <a:solidFill>
                            <a:srgbClr val="333333"/>
                          </a:solidFill>
                        </a:defRPr>
                      </a:pPr>
                      <a:r>
                        <a:t>2021-03/예상</a:t>
                      </a:r>
                    </a:p>
                  </a:txBody>
                  <a:tcPr>
                    <a:solidFill>
                      <a:srgbClr val="F2F2F2"/>
                    </a:solidFill>
                  </a:tcPr>
                </a:tc>
                <a:tc>
                  <a:txBody>
                    <a:bodyPr/>
                    <a:lstStyle/>
                    <a:p>
                      <a:pPr>
                        <a:defRPr sz="800">
                          <a:solidFill>
                            <a:srgbClr val="333333"/>
                          </a:solidFill>
                        </a:defRPr>
                      </a:pPr>
                      <a:r>
                        <a:t>동일 팀 2버전 혼재</a:t>
                      </a:r>
                    </a:p>
                  </a:txBody>
                  <a:tcPr>
                    <a:solidFill>
                      <a:srgbClr val="F2F2F2"/>
                    </a:solidFill>
                  </a:tcPr>
                </a:tc>
              </a:tr>
              <a:tr h="274319">
                <a:tc>
                  <a:txBody>
                    <a:bodyPr/>
                    <a:lstStyle/>
                    <a:p>
                      <a:pPr>
                        <a:defRPr sz="800">
                          <a:solidFill>
                            <a:srgbClr val="333333"/>
                          </a:solidFill>
                        </a:defRPr>
                      </a:pPr>
                      <a:r>
                        <a:t>CL플랫폼</a:t>
                      </a:r>
                    </a:p>
                  </a:txBody>
                  <a:tcPr>
                    <a:solidFill>
                      <a:srgbClr val="FFFFFF"/>
                    </a:solidFill>
                  </a:tcPr>
                </a:tc>
                <a:tc>
                  <a:txBody>
                    <a:bodyPr/>
                    <a:lstStyle/>
                    <a:p>
                      <a:pPr>
                        <a:defRPr sz="800">
                          <a:solidFill>
                            <a:srgbClr val="333333"/>
                          </a:solidFill>
                        </a:defRPr>
                      </a:pPr>
                      <a:r>
                        <a:t>CLS 전용 WAS</a:t>
                      </a:r>
                    </a:p>
                  </a:txBody>
                  <a:tcPr>
                    <a:solidFill>
                      <a:srgbClr val="FFFFFF"/>
                    </a:solidFill>
                  </a:tcPr>
                </a:tc>
                <a:tc>
                  <a:txBody>
                    <a:bodyPr/>
                    <a:lstStyle/>
                    <a:p>
                      <a:pPr>
                        <a:defRPr sz="800">
                          <a:solidFill>
                            <a:srgbClr val="333333"/>
                          </a:solidFill>
                        </a:defRPr>
                      </a:pPr>
                      <a:r>
                        <a:t>15.0.2</a:t>
                      </a:r>
                    </a:p>
                  </a:txBody>
                  <a:tcPr>
                    <a:solidFill>
                      <a:srgbClr val="FFFFFF"/>
                    </a:solidFill>
                  </a:tcPr>
                </a:tc>
                <a:tc>
                  <a:txBody>
                    <a:bodyPr/>
                    <a:lstStyle/>
                    <a:p>
                      <a:pPr>
                        <a:defRPr sz="800">
                          <a:solidFill>
                            <a:srgbClr val="333333"/>
                          </a:solidFill>
                        </a:defRPr>
                      </a:pPr>
                      <a:r>
                        <a:t>비LTS</a:t>
                      </a:r>
                    </a:p>
                  </a:txBody>
                  <a:tcPr>
                    <a:solidFill>
                      <a:srgbClr val="FFFFFF"/>
                    </a:solidFill>
                  </a:tcPr>
                </a:tc>
                <a:tc>
                  <a:txBody>
                    <a:bodyPr/>
                    <a:lstStyle/>
                    <a:p>
                      <a:pPr>
                        <a:defRPr sz="800">
                          <a:solidFill>
                            <a:srgbClr val="333333"/>
                          </a:solidFill>
                        </a:defRPr>
                      </a:pPr>
                      <a:r>
                        <a:t>2021-03</a:t>
                      </a:r>
                    </a:p>
                  </a:txBody>
                  <a:tcPr>
                    <a:solidFill>
                      <a:srgbClr val="FFFFFF"/>
                    </a:solidFill>
                  </a:tcPr>
                </a:tc>
                <a:tc>
                  <a:txBody>
                    <a:bodyPr/>
                    <a:lstStyle/>
                    <a:p>
                      <a:pPr>
                        <a:defRPr sz="800">
                          <a:solidFill>
                            <a:srgbClr val="333333"/>
                          </a:solidFill>
                        </a:defRPr>
                      </a:pPr>
                      <a:r>
                        <a:t>EOL 후 5년 경과</a:t>
                      </a:r>
                    </a:p>
                  </a:txBody>
                  <a:tcPr>
                    <a:solidFill>
                      <a:srgbClr val="FFFFFF"/>
                    </a:solidFill>
                  </a:tcPr>
                </a:tc>
              </a:tr>
              <a:tr h="274319">
                <a:tc>
                  <a:txBody>
                    <a:bodyPr/>
                    <a:lstStyle/>
                    <a:p>
                      <a:pPr>
                        <a:defRPr sz="800">
                          <a:solidFill>
                            <a:srgbClr val="333333"/>
                          </a:solidFill>
                        </a:defRPr>
                      </a:pPr>
                      <a:r>
                        <a:t>주차서비스</a:t>
                      </a:r>
                    </a:p>
                  </a:txBody>
                  <a:tcPr>
                    <a:solidFill>
                      <a:srgbClr val="F2F2F2"/>
                    </a:solidFill>
                  </a:tcPr>
                </a:tc>
                <a:tc>
                  <a:txBody>
                    <a:bodyPr/>
                    <a:lstStyle/>
                    <a:p>
                      <a:pPr>
                        <a:defRPr sz="800">
                          <a:solidFill>
                            <a:srgbClr val="333333"/>
                          </a:solidFill>
                        </a:defRPr>
                      </a:pPr>
                      <a:r>
                        <a:t>Tomcat 9.0.70</a:t>
                      </a:r>
                    </a:p>
                  </a:txBody>
                  <a:tcPr>
                    <a:solidFill>
                      <a:srgbClr val="F2F2F2"/>
                    </a:solidFill>
                  </a:tcPr>
                </a:tc>
                <a:tc>
                  <a:txBody>
                    <a:bodyPr/>
                    <a:lstStyle/>
                    <a:p>
                      <a:pPr>
                        <a:defRPr sz="800">
                          <a:solidFill>
                            <a:srgbClr val="333333"/>
                          </a:solidFill>
                        </a:defRPr>
                      </a:pPr>
                      <a:r>
                        <a:t>15.0.2 (OpenJDK)</a:t>
                      </a:r>
                    </a:p>
                  </a:txBody>
                  <a:tcPr>
                    <a:solidFill>
                      <a:srgbClr val="F2F2F2"/>
                    </a:solidFill>
                  </a:tcPr>
                </a:tc>
                <a:tc>
                  <a:txBody>
                    <a:bodyPr/>
                    <a:lstStyle/>
                    <a:p>
                      <a:pPr>
                        <a:defRPr sz="800">
                          <a:solidFill>
                            <a:srgbClr val="333333"/>
                          </a:solidFill>
                        </a:defRPr>
                      </a:pPr>
                      <a:r>
                        <a:t>비LTS</a:t>
                      </a:r>
                    </a:p>
                  </a:txBody>
                  <a:tcPr>
                    <a:solidFill>
                      <a:srgbClr val="F2F2F2"/>
                    </a:solidFill>
                  </a:tcPr>
                </a:tc>
                <a:tc>
                  <a:txBody>
                    <a:bodyPr/>
                    <a:lstStyle/>
                    <a:p>
                      <a:pPr>
                        <a:defRPr sz="800">
                          <a:solidFill>
                            <a:srgbClr val="333333"/>
                          </a:solidFill>
                        </a:defRPr>
                      </a:pPr>
                      <a:r>
                        <a:t>2021-03</a:t>
                      </a:r>
                    </a:p>
                  </a:txBody>
                  <a:tcPr>
                    <a:solidFill>
                      <a:srgbClr val="F2F2F2"/>
                    </a:solidFill>
                  </a:tcPr>
                </a:tc>
                <a:tc>
                  <a:txBody>
                    <a:bodyPr/>
                    <a:lstStyle/>
                    <a:p>
                      <a:pPr>
                        <a:defRPr sz="800">
                          <a:solidFill>
                            <a:srgbClr val="333333"/>
                          </a:solidFill>
                        </a:defRPr>
                      </a:pPr>
                      <a:r>
                        <a:t>EOL 후 5년 경과</a:t>
                      </a:r>
                    </a:p>
                  </a:txBody>
                  <a:tcPr>
                    <a:solidFill>
                      <a:srgbClr val="F2F2F2"/>
                    </a:solidFill>
                  </a:tcPr>
                </a:tc>
              </a:tr>
              <a:tr h="274324">
                <a:tc>
                  <a:txBody>
                    <a:bodyPr/>
                    <a:lstStyle/>
                    <a:p>
                      <a:pPr>
                        <a:defRPr sz="800">
                          <a:solidFill>
                            <a:srgbClr val="333333"/>
                          </a:solidFill>
                        </a:defRPr>
                      </a:pPr>
                      <a:r>
                        <a:t>현금정보계</a:t>
                      </a:r>
                    </a:p>
                  </a:txBody>
                  <a:tcPr>
                    <a:solidFill>
                      <a:srgbClr val="FFFFFF"/>
                    </a:solidFill>
                  </a:tcPr>
                </a:tc>
                <a:tc>
                  <a:txBody>
                    <a:bodyPr/>
                    <a:lstStyle/>
                    <a:p>
                      <a:pPr>
                        <a:defRPr sz="800">
                          <a:solidFill>
                            <a:srgbClr val="333333"/>
                          </a:solidFill>
                        </a:defRPr>
                      </a:pPr>
                      <a:r>
                        <a:t>Liberty 23.0.0.2 ND</a:t>
                      </a:r>
                    </a:p>
                  </a:txBody>
                  <a:tcPr>
                    <a:solidFill>
                      <a:srgbClr val="FFFFFF"/>
                    </a:solidFill>
                  </a:tcPr>
                </a:tc>
                <a:tc>
                  <a:txBody>
                    <a:bodyPr/>
                    <a:lstStyle/>
                    <a:p>
                      <a:pPr>
                        <a:defRPr sz="800">
                          <a:solidFill>
                            <a:srgbClr val="333333"/>
                          </a:solidFill>
                        </a:defRPr>
                      </a:pPr>
                      <a:r>
                        <a:t>15.0.2+7 (OpenJDK)</a:t>
                      </a:r>
                    </a:p>
                  </a:txBody>
                  <a:tcPr>
                    <a:solidFill>
                      <a:srgbClr val="FFFFFF"/>
                    </a:solidFill>
                  </a:tcPr>
                </a:tc>
                <a:tc>
                  <a:txBody>
                    <a:bodyPr/>
                    <a:lstStyle/>
                    <a:p>
                      <a:pPr>
                        <a:defRPr sz="800">
                          <a:solidFill>
                            <a:srgbClr val="333333"/>
                          </a:solidFill>
                        </a:defRPr>
                      </a:pPr>
                      <a:r>
                        <a:t>비LTS</a:t>
                      </a:r>
                    </a:p>
                  </a:txBody>
                  <a:tcPr>
                    <a:solidFill>
                      <a:srgbClr val="FFFFFF"/>
                    </a:solidFill>
                  </a:tcPr>
                </a:tc>
                <a:tc>
                  <a:txBody>
                    <a:bodyPr/>
                    <a:lstStyle/>
                    <a:p>
                      <a:pPr>
                        <a:defRPr sz="800">
                          <a:solidFill>
                            <a:srgbClr val="333333"/>
                          </a:solidFill>
                        </a:defRPr>
                      </a:pPr>
                      <a:r>
                        <a:t>2021-03</a:t>
                      </a:r>
                    </a:p>
                  </a:txBody>
                  <a:tcPr>
                    <a:solidFill>
                      <a:srgbClr val="FFFFFF"/>
                    </a:solidFill>
                  </a:tcPr>
                </a:tc>
                <a:tc>
                  <a:txBody>
                    <a:bodyPr/>
                    <a:lstStyle/>
                    <a:p>
                      <a:pPr>
                        <a:defRPr sz="800">
                          <a:solidFill>
                            <a:srgbClr val="333333"/>
                          </a:solidFill>
                        </a:defRPr>
                      </a:pPr>
                      <a:r>
                        <a:t>7개 컨테이너 전수 EOL</a:t>
                      </a:r>
                    </a:p>
                  </a:txBody>
                  <a:tcPr>
                    <a:solidFill>
                      <a:srgbClr val="FFFFFF"/>
                    </a:solidFill>
                  </a:tcPr>
                </a:tc>
              </a:tr>
            </a:tbl>
          </a:graphicData>
        </a:graphic>
      </p:graphicFrame>
      <p:sp>
        <p:nvSpPr>
          <p:cNvPr id="5" name="TextBox 4"/>
          <p:cNvSpPr txBox="1"/>
          <p:nvPr/>
        </p:nvSpPr>
        <p:spPr>
          <a:xfrm>
            <a:off x="457200" y="3200400"/>
            <a:ext cx="10972800" cy="365760"/>
          </a:xfrm>
          <a:prstGeom prst="rect">
            <a:avLst/>
          </a:prstGeom>
          <a:noFill/>
        </p:spPr>
        <p:txBody>
          <a:bodyPr wrap="square">
            <a:spAutoFit/>
          </a:bodyPr>
          <a:lstStyle/>
          <a:p>
            <a:pPr algn="l">
              <a:defRPr sz="1000" b="1">
                <a:solidFill>
                  <a:srgbClr val="CC0000"/>
                </a:solidFill>
              </a:defRPr>
            </a:pPr>
            <a:r>
              <a:t>핵심 지표: 전사 5개 런타임 중 4개(80%)가 EOL 상태. 보안 패치 미제공 상태 5년 경과.</a:t>
            </a:r>
          </a:p>
        </p:txBody>
      </p:sp>
      <p:sp>
        <p:nvSpPr>
          <p:cNvPr id="6" name="TextBox 5"/>
          <p:cNvSpPr txBox="1"/>
          <p:nvPr/>
        </p:nvSpPr>
        <p:spPr>
          <a:xfrm>
            <a:off x="457200" y="3566160"/>
            <a:ext cx="10972800" cy="320040"/>
          </a:xfrm>
          <a:prstGeom prst="rect">
            <a:avLst/>
          </a:prstGeom>
          <a:noFill/>
        </p:spPr>
        <p:txBody>
          <a:bodyPr wrap="none">
            <a:spAutoFit/>
          </a:bodyPr>
          <a:lstStyle/>
          <a:p>
            <a:pPr>
              <a:defRPr sz="1300" b="1" u="sng">
                <a:solidFill>
                  <a:srgbClr val="CC6600"/>
                </a:solidFill>
              </a:defRPr>
            </a:pPr>
            <a:r>
              <a:t>[Step 2: 당사 자체 진단 및 개선 가설]</a:t>
            </a:r>
          </a:p>
        </p:txBody>
      </p:sp>
      <p:graphicFrame>
        <p:nvGraphicFramePr>
          <p:cNvPr id="7" name="Table 6"/>
          <p:cNvGraphicFramePr>
            <a:graphicFrameLocks noGrp="1"/>
          </p:cNvGraphicFramePr>
          <p:nvPr/>
        </p:nvGraphicFramePr>
        <p:xfrm>
          <a:off x="457200" y="3931920"/>
          <a:ext cx="10972800" cy="1371600"/>
        </p:xfrm>
        <a:graphic>
          <a:graphicData uri="http://schemas.openxmlformats.org/drawingml/2006/table">
            <a:tbl>
              <a:tblPr firstRow="1" bandRow="1">
                <a:tableStyleId>{5C22544A-7EE6-4342-B048-85BDC9FD1C3A}</a:tableStyleId>
              </a:tblPr>
              <a:tblGrid>
                <a:gridCol w="1828800"/>
                <a:gridCol w="4572000"/>
                <a:gridCol w="4572000"/>
              </a:tblGrid>
              <a:tr h="274320">
                <a:tc>
                  <a:txBody>
                    <a:bodyPr/>
                    <a:lstStyle/>
                    <a:p>
                      <a:pPr algn="ctr">
                        <a:defRPr sz="900" b="1">
                          <a:solidFill>
                            <a:srgbClr val="FFFFFF"/>
                          </a:solidFill>
                        </a:defRPr>
                      </a:pPr>
                      <a:r>
                        <a:t>진단 항목</a:t>
                      </a:r>
                    </a:p>
                  </a:txBody>
                  <a:tcPr>
                    <a:solidFill>
                      <a:srgbClr val="1B2A4A"/>
                    </a:solidFill>
                  </a:tcPr>
                </a:tc>
                <a:tc>
                  <a:txBody>
                    <a:bodyPr/>
                    <a:lstStyle/>
                    <a:p>
                      <a:pPr algn="ctr">
                        <a:defRPr sz="900" b="1">
                          <a:solidFill>
                            <a:srgbClr val="FFFFFF"/>
                          </a:solidFill>
                        </a:defRPr>
                      </a:pPr>
                      <a:r>
                        <a:t>당사 가설</a:t>
                      </a:r>
                    </a:p>
                  </a:txBody>
                  <a:tcPr>
                    <a:solidFill>
                      <a:srgbClr val="1B2A4A"/>
                    </a:solidFill>
                  </a:tcPr>
                </a:tc>
                <a:tc>
                  <a:txBody>
                    <a:bodyPr/>
                    <a:lstStyle/>
                    <a:p>
                      <a:pPr algn="ctr">
                        <a:defRPr sz="900" b="1">
                          <a:solidFill>
                            <a:srgbClr val="FFFFFF"/>
                          </a:solidFill>
                        </a:defRPr>
                      </a:pPr>
                      <a:r>
                        <a:t>근거</a:t>
                      </a:r>
                    </a:p>
                  </a:txBody>
                  <a:tcPr>
                    <a:solidFill>
                      <a:srgbClr val="1B2A4A"/>
                    </a:solidFill>
                  </a:tcPr>
                </a:tc>
              </a:tr>
              <a:tr h="274320">
                <a:tc>
                  <a:txBody>
                    <a:bodyPr/>
                    <a:lstStyle/>
                    <a:p>
                      <a:pPr>
                        <a:defRPr sz="800">
                          <a:solidFill>
                            <a:srgbClr val="333333"/>
                          </a:solidFill>
                        </a:defRPr>
                      </a:pPr>
                      <a:r>
                        <a:t>표준 버전 설정</a:t>
                      </a:r>
                    </a:p>
                  </a:txBody>
                  <a:tcPr>
                    <a:solidFill>
                      <a:srgbClr val="FFFFFF"/>
                    </a:solidFill>
                  </a:tcPr>
                </a:tc>
                <a:tc>
                  <a:txBody>
                    <a:bodyPr/>
                    <a:lstStyle/>
                    <a:p>
                      <a:pPr>
                        <a:defRPr sz="800">
                          <a:solidFill>
                            <a:srgbClr val="333333"/>
                          </a:solidFill>
                        </a:defRPr>
                      </a:pPr>
                      <a:r>
                        <a:t>최소 Java 17 LTS, 권장 Java 21 LTS</a:t>
                      </a:r>
                    </a:p>
                  </a:txBody>
                  <a:tcPr>
                    <a:solidFill>
                      <a:srgbClr val="FFFFFF"/>
                    </a:solidFill>
                  </a:tcPr>
                </a:tc>
                <a:tc>
                  <a:txBody>
                    <a:bodyPr/>
                    <a:lstStyle/>
                    <a:p>
                      <a:pPr>
                        <a:defRPr sz="800">
                          <a:solidFill>
                            <a:srgbClr val="333333"/>
                          </a:solidFill>
                        </a:defRPr>
                      </a:pPr>
                      <a:r>
                        <a:t>비LTS는 6개월 후 EOL</a:t>
                      </a:r>
                    </a:p>
                  </a:txBody>
                  <a:tcPr>
                    <a:solidFill>
                      <a:srgbClr val="FFFFFF"/>
                    </a:solidFill>
                  </a:tcPr>
                </a:tc>
              </a:tr>
              <a:tr h="274320">
                <a:tc>
                  <a:txBody>
                    <a:bodyPr/>
                    <a:lstStyle/>
                    <a:p>
                      <a:pPr>
                        <a:defRPr sz="800">
                          <a:solidFill>
                            <a:srgbClr val="333333"/>
                          </a:solidFill>
                        </a:defRPr>
                      </a:pPr>
                      <a:r>
                        <a:t>보안 리스크</a:t>
                      </a:r>
                    </a:p>
                  </a:txBody>
                  <a:tcPr>
                    <a:solidFill>
                      <a:srgbClr val="F2F2F2"/>
                    </a:solidFill>
                  </a:tcPr>
                </a:tc>
                <a:tc>
                  <a:txBody>
                    <a:bodyPr/>
                    <a:lstStyle/>
                    <a:p>
                      <a:pPr>
                        <a:defRPr sz="800">
                          <a:solidFill>
                            <a:srgbClr val="333333"/>
                          </a:solidFill>
                        </a:defRPr>
                      </a:pPr>
                      <a:r>
                        <a:t>Java 15 EOL, CVE 대응 불가</a:t>
                      </a:r>
                    </a:p>
                  </a:txBody>
                  <a:tcPr>
                    <a:solidFill>
                      <a:srgbClr val="F2F2F2"/>
                    </a:solidFill>
                  </a:tcPr>
                </a:tc>
                <a:tc>
                  <a:txBody>
                    <a:bodyPr/>
                    <a:lstStyle/>
                    <a:p>
                      <a:pPr>
                        <a:defRPr sz="800">
                          <a:solidFill>
                            <a:srgbClr val="333333"/>
                          </a:solidFill>
                        </a:defRPr>
                      </a:pPr>
                      <a:r>
                        <a:t>Zero-day 무방비 상태</a:t>
                      </a:r>
                    </a:p>
                  </a:txBody>
                  <a:tcPr>
                    <a:solidFill>
                      <a:srgbClr val="F2F2F2"/>
                    </a:solidFill>
                  </a:tcPr>
                </a:tc>
              </a:tr>
              <a:tr h="274320">
                <a:tc>
                  <a:txBody>
                    <a:bodyPr/>
                    <a:lstStyle/>
                    <a:p>
                      <a:pPr>
                        <a:defRPr sz="800">
                          <a:solidFill>
                            <a:srgbClr val="333333"/>
                          </a:solidFill>
                        </a:defRPr>
                      </a:pPr>
                      <a:r>
                        <a:t>NC 혼재</a:t>
                      </a:r>
                    </a:p>
                  </a:txBody>
                  <a:tcPr>
                    <a:solidFill>
                      <a:srgbClr val="FFFFFF"/>
                    </a:solidFill>
                  </a:tcPr>
                </a:tc>
                <a:tc>
                  <a:txBody>
                    <a:bodyPr/>
                    <a:lstStyle/>
                    <a:p>
                      <a:pPr>
                        <a:defRPr sz="800">
                          <a:solidFill>
                            <a:srgbClr val="333333"/>
                          </a:solidFill>
                        </a:defRPr>
                      </a:pPr>
                      <a:r>
                        <a:t>Java 15/25를 단일 버전 통합</a:t>
                      </a:r>
                    </a:p>
                  </a:txBody>
                  <a:tcPr>
                    <a:solidFill>
                      <a:srgbClr val="FFFFFF"/>
                    </a:solidFill>
                  </a:tcPr>
                </a:tc>
                <a:tc>
                  <a:txBody>
                    <a:bodyPr/>
                    <a:lstStyle/>
                    <a:p>
                      <a:pPr>
                        <a:defRPr sz="800">
                          <a:solidFill>
                            <a:srgbClr val="333333"/>
                          </a:solidFill>
                        </a:defRPr>
                      </a:pPr>
                      <a:r>
                        <a:t>런타임 호환성, 배포 복잡도</a:t>
                      </a:r>
                    </a:p>
                  </a:txBody>
                  <a:tcPr>
                    <a:solidFill>
                      <a:srgbClr val="FFFFFF"/>
                    </a:solidFill>
                  </a:tcPr>
                </a:tc>
              </a:tr>
              <a:tr h="274320">
                <a:tc>
                  <a:txBody>
                    <a:bodyPr/>
                    <a:lstStyle/>
                    <a:p>
                      <a:pPr>
                        <a:defRPr sz="800">
                          <a:solidFill>
                            <a:srgbClr val="333333"/>
                          </a:solidFill>
                        </a:defRPr>
                      </a:pPr>
                      <a:r>
                        <a:t>Java 21 검토</a:t>
                      </a:r>
                    </a:p>
                  </a:txBody>
                  <a:tcPr>
                    <a:solidFill>
                      <a:srgbClr val="F2F2F2"/>
                    </a:solidFill>
                  </a:tcPr>
                </a:tc>
                <a:tc>
                  <a:txBody>
                    <a:bodyPr/>
                    <a:lstStyle/>
                    <a:p>
                      <a:pPr>
                        <a:defRPr sz="800">
                          <a:solidFill>
                            <a:srgbClr val="333333"/>
                          </a:solidFill>
                        </a:defRPr>
                      </a:pPr>
                      <a:r>
                        <a:t>ZGC, Virtual Threads 활용 가능</a:t>
                      </a:r>
                    </a:p>
                  </a:txBody>
                  <a:tcPr>
                    <a:solidFill>
                      <a:srgbClr val="F2F2F2"/>
                    </a:solidFill>
                  </a:tcPr>
                </a:tc>
                <a:tc>
                  <a:txBody>
                    <a:bodyPr/>
                    <a:lstStyle/>
                    <a:p>
                      <a:pPr>
                        <a:defRPr sz="800">
                          <a:solidFill>
                            <a:srgbClr val="333333"/>
                          </a:solidFill>
                        </a:defRPr>
                      </a:pPr>
                      <a:r>
                        <a:t>Java 21 LTS 2031-09까지</a:t>
                      </a:r>
                    </a:p>
                  </a:txBody>
                  <a:tcPr>
                    <a:solidFill>
                      <a:srgbClr val="F2F2F2"/>
                    </a:solidFill>
                  </a:tcPr>
                </a:tc>
              </a:tr>
            </a:tbl>
          </a:graphicData>
        </a:graphic>
      </p:graphicFrame>
      <p:sp>
        <p:nvSpPr>
          <p:cNvPr id="8" name="TextBox 7"/>
          <p:cNvSpPr txBox="1"/>
          <p:nvPr/>
        </p:nvSpPr>
        <p:spPr>
          <a:xfrm>
            <a:off x="457200" y="5212080"/>
            <a:ext cx="10972800" cy="320040"/>
          </a:xfrm>
          <a:prstGeom prst="rect">
            <a:avLst/>
          </a:prstGeom>
          <a:noFill/>
        </p:spPr>
        <p:txBody>
          <a:bodyPr wrap="none">
            <a:spAutoFit/>
          </a:bodyPr>
          <a:lstStyle/>
          <a:p>
            <a:pPr>
              <a:defRPr sz="1300" b="1" u="sng">
                <a:solidFill>
                  <a:srgbClr val="003366"/>
                </a:solidFill>
              </a:defRPr>
            </a:pPr>
            <a:r>
              <a:t>[Step 3: 컨설팅사 제언 요청]</a:t>
            </a:r>
          </a:p>
        </p:txBody>
      </p:sp>
      <p:sp>
        <p:nvSpPr>
          <p:cNvPr id="9" name="TextBox 8"/>
          <p:cNvSpPr txBox="1"/>
          <p:nvPr/>
        </p:nvSpPr>
        <p:spPr>
          <a:xfrm>
            <a:off x="457200" y="5486400"/>
            <a:ext cx="10972800" cy="1097280"/>
          </a:xfrm>
          <a:prstGeom prst="rect">
            <a:avLst/>
          </a:prstGeom>
          <a:noFill/>
        </p:spPr>
        <p:txBody>
          <a:bodyPr wrap="square">
            <a:spAutoFit/>
          </a:bodyPr>
          <a:lstStyle/>
          <a:p>
            <a:pPr>
              <a:spcAft>
                <a:spcPts val="400"/>
              </a:spcAft>
              <a:defRPr sz="900" b="0">
                <a:solidFill>
                  <a:srgbClr val="333333"/>
                </a:solidFill>
              </a:defRPr>
            </a:pPr>
            <a:r>
              <a:t>Q1: Java 15에서 17 혹은 21로의 가장 안정적 마이그레이션 경로와 리스크 최소화 방안은?</a:t>
            </a:r>
          </a:p>
          <a:p>
            <a:pPr>
              <a:spcAft>
                <a:spcPts val="400"/>
              </a:spcAft>
              <a:defRPr sz="900" b="0">
                <a:solidFill>
                  <a:srgbClr val="333333"/>
                </a:solidFill>
              </a:defRPr>
            </a:pPr>
            <a:r>
              <a:t>Q2: Java 17을 최소 목표로 할지, Java 21을 직접 목표로 할지에 대한 권장은?</a:t>
            </a:r>
          </a:p>
          <a:p>
            <a:pPr>
              <a:spcAft>
                <a:spcPts val="400"/>
              </a:spcAft>
              <a:defRPr sz="900" b="0">
                <a:solidFill>
                  <a:srgbClr val="333333"/>
                </a:solidFill>
              </a:defRPr>
            </a:pPr>
            <a:r>
              <a:t>Q3: 플랫폼개발팀 내 Java 15/25 혼합 운영에 대한 권장 통합 방향은?</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square">
            <a:spAutoFit/>
          </a:bodyPr>
          <a:lstStyle/>
          <a:p>
            <a:pPr>
              <a:defRPr sz="2400" b="1">
                <a:solidFill>
                  <a:srgbClr val="1B2A4A"/>
                </a:solidFill>
              </a:defRPr>
            </a:pPr>
            <a:r>
              <a:t>[C-02] GC 알고리즘 이원화 및 CL플랫폼 Old 영역 90% 임계치</a:t>
            </a:r>
          </a:p>
        </p:txBody>
      </p:sp>
      <p:sp>
        <p:nvSpPr>
          <p:cNvPr id="3" name="TextBox 2"/>
          <p:cNvSpPr txBox="1"/>
          <p:nvPr/>
        </p:nvSpPr>
        <p:spPr>
          <a:xfrm>
            <a:off x="457200" y="914400"/>
            <a:ext cx="10972800" cy="320040"/>
          </a:xfrm>
          <a:prstGeom prst="rect">
            <a:avLst/>
          </a:prstGeom>
          <a:noFill/>
        </p:spPr>
        <p:txBody>
          <a:bodyPr wrap="none">
            <a:spAutoFit/>
          </a:bodyPr>
          <a:lstStyle/>
          <a:p>
            <a:pPr>
              <a:defRPr sz="1300" b="1" u="sng">
                <a:solidFill>
                  <a:srgbClr val="006D6F"/>
                </a:solidFill>
              </a:defRPr>
            </a:pPr>
            <a:r>
              <a:t>[Step 1: 현황 (Current State)]</a:t>
            </a:r>
          </a:p>
        </p:txBody>
      </p:sp>
      <p:graphicFrame>
        <p:nvGraphicFramePr>
          <p:cNvPr id="4" name="Table 3"/>
          <p:cNvGraphicFramePr>
            <a:graphicFrameLocks noGrp="1"/>
          </p:cNvGraphicFramePr>
          <p:nvPr/>
        </p:nvGraphicFramePr>
        <p:xfrm>
          <a:off x="457200" y="1280160"/>
          <a:ext cx="10972800" cy="1645919"/>
        </p:xfrm>
        <a:graphic>
          <a:graphicData uri="http://schemas.openxmlformats.org/drawingml/2006/table">
            <a:tbl>
              <a:tblPr firstRow="1" bandRow="1">
                <a:tableStyleId>{5C22544A-7EE6-4342-B048-85BDC9FD1C3A}</a:tableStyleId>
              </a:tblPr>
              <a:tblGrid>
                <a:gridCol w="1645920"/>
                <a:gridCol w="1645920"/>
                <a:gridCol w="1828800"/>
                <a:gridCol w="2560320"/>
                <a:gridCol w="3291840"/>
              </a:tblGrid>
              <a:tr h="274319">
                <a:tc>
                  <a:txBody>
                    <a:bodyPr/>
                    <a:lstStyle/>
                    <a:p>
                      <a:pPr algn="ctr">
                        <a:defRPr sz="900" b="1">
                          <a:solidFill>
                            <a:srgbClr val="FFFFFF"/>
                          </a:solidFill>
                        </a:defRPr>
                      </a:pPr>
                      <a:r>
                        <a:t>팀</a:t>
                      </a:r>
                    </a:p>
                  </a:txBody>
                  <a:tcPr>
                    <a:solidFill>
                      <a:srgbClr val="1B2A4A"/>
                    </a:solidFill>
                  </a:tcPr>
                </a:tc>
                <a:tc>
                  <a:txBody>
                    <a:bodyPr/>
                    <a:lstStyle/>
                    <a:p>
                      <a:pPr algn="ctr">
                        <a:defRPr sz="900" b="1">
                          <a:solidFill>
                            <a:srgbClr val="FFFFFF"/>
                          </a:solidFill>
                        </a:defRPr>
                      </a:pPr>
                      <a:r>
                        <a:t>GC</a:t>
                      </a:r>
                    </a:p>
                  </a:txBody>
                  <a:tcPr>
                    <a:solidFill>
                      <a:srgbClr val="1B2A4A"/>
                    </a:solidFill>
                  </a:tcPr>
                </a:tc>
                <a:tc>
                  <a:txBody>
                    <a:bodyPr/>
                    <a:lstStyle/>
                    <a:p>
                      <a:pPr algn="ctr">
                        <a:defRPr sz="900" b="1">
                          <a:solidFill>
                            <a:srgbClr val="FFFFFF"/>
                          </a:solidFill>
                        </a:defRPr>
                      </a:pPr>
                      <a:r>
                        <a:t>Heap</a:t>
                      </a:r>
                    </a:p>
                  </a:txBody>
                  <a:tcPr>
                    <a:solidFill>
                      <a:srgbClr val="1B2A4A"/>
                    </a:solidFill>
                  </a:tcPr>
                </a:tc>
                <a:tc>
                  <a:txBody>
                    <a:bodyPr/>
                    <a:lstStyle/>
                    <a:p>
                      <a:pPr algn="ctr">
                        <a:defRPr sz="900" b="1">
                          <a:solidFill>
                            <a:srgbClr val="FFFFFF"/>
                          </a:solidFill>
                        </a:defRPr>
                      </a:pPr>
                      <a:r>
                        <a:t>Old 사용률</a:t>
                      </a:r>
                    </a:p>
                  </a:txBody>
                  <a:tcPr>
                    <a:solidFill>
                      <a:srgbClr val="1B2A4A"/>
                    </a:solidFill>
                  </a:tcPr>
                </a:tc>
                <a:tc>
                  <a:txBody>
                    <a:bodyPr/>
                    <a:lstStyle/>
                    <a:p>
                      <a:pPr algn="ctr">
                        <a:defRPr sz="900" b="1">
                          <a:solidFill>
                            <a:srgbClr val="FFFFFF"/>
                          </a:solidFill>
                        </a:defRPr>
                      </a:pPr>
                      <a:r>
                        <a:t>Full GC 시 예상 영향</a:t>
                      </a:r>
                    </a:p>
                  </a:txBody>
                  <a:tcPr>
                    <a:solidFill>
                      <a:srgbClr val="1B2A4A"/>
                    </a:solidFill>
                  </a:tcPr>
                </a:tc>
              </a:tr>
              <a:tr h="274319">
                <a:tc>
                  <a:txBody>
                    <a:bodyPr/>
                    <a:lstStyle/>
                    <a:p>
                      <a:pPr>
                        <a:defRPr sz="800">
                          <a:solidFill>
                            <a:srgbClr val="333333"/>
                          </a:solidFill>
                        </a:defRPr>
                      </a:pPr>
                      <a:r>
                        <a:t>플랫폼개발(NP)</a:t>
                      </a:r>
                    </a:p>
                  </a:txBody>
                  <a:tcPr>
                    <a:solidFill>
                      <a:srgbClr val="FFFFFF"/>
                    </a:solidFill>
                  </a:tcPr>
                </a:tc>
                <a:tc>
                  <a:txBody>
                    <a:bodyPr/>
                    <a:lstStyle/>
                    <a:p>
                      <a:pPr>
                        <a:defRPr sz="800">
                          <a:solidFill>
                            <a:srgbClr val="333333"/>
                          </a:solidFill>
                        </a:defRPr>
                      </a:pPr>
                      <a:r>
                        <a:t>G1 GC</a:t>
                      </a:r>
                    </a:p>
                  </a:txBody>
                  <a:tcPr>
                    <a:solidFill>
                      <a:srgbClr val="FFFFFF"/>
                    </a:solidFill>
                  </a:tcPr>
                </a:tc>
                <a:tc>
                  <a:txBody>
                    <a:bodyPr/>
                    <a:lstStyle/>
                    <a:p>
                      <a:pPr>
                        <a:defRPr sz="800">
                          <a:solidFill>
                            <a:srgbClr val="333333"/>
                          </a:solidFill>
                        </a:defRPr>
                      </a:pPr>
                      <a:r>
                        <a:t>70%</a:t>
                      </a:r>
                    </a:p>
                  </a:txBody>
                  <a:tcPr>
                    <a:solidFill>
                      <a:srgbClr val="FFFFFF"/>
                    </a:solidFill>
                  </a:tcPr>
                </a:tc>
                <a:tc>
                  <a:txBody>
                    <a:bodyPr/>
                    <a:lstStyle/>
                    <a:p>
                      <a:pPr>
                        <a:defRPr sz="800">
                          <a:solidFill>
                            <a:srgbClr val="333333"/>
                          </a:solidFill>
                        </a:defRPr>
                      </a:pPr>
                      <a:r>
                        <a:t>미측정</a:t>
                      </a:r>
                    </a:p>
                  </a:txBody>
                  <a:tcPr>
                    <a:solidFill>
                      <a:srgbClr val="FFFFFF"/>
                    </a:solidFill>
                  </a:tcPr>
                </a:tc>
                <a:tc>
                  <a:txBody>
                    <a:bodyPr/>
                    <a:lstStyle/>
                    <a:p>
                      <a:pPr>
                        <a:defRPr sz="800">
                          <a:solidFill>
                            <a:srgbClr val="333333"/>
                          </a:solidFill>
                        </a:defRPr>
                      </a:pPr>
                      <a:r>
                        <a:t>예측 가능 (50~200ms)</a:t>
                      </a:r>
                    </a:p>
                  </a:txBody>
                  <a:tcPr>
                    <a:solidFill>
                      <a:srgbClr val="FFFFFF"/>
                    </a:solidFill>
                  </a:tcPr>
                </a:tc>
              </a:tr>
              <a:tr h="274319">
                <a:tc>
                  <a:txBody>
                    <a:bodyPr/>
                    <a:lstStyle/>
                    <a:p>
                      <a:pPr>
                        <a:defRPr sz="800">
                          <a:solidFill>
                            <a:srgbClr val="333333"/>
                          </a:solidFill>
                        </a:defRPr>
                      </a:pPr>
                      <a:r>
                        <a:t>플랫폼개발(NC)</a:t>
                      </a:r>
                    </a:p>
                  </a:txBody>
                  <a:tcPr>
                    <a:solidFill>
                      <a:srgbClr val="F2F2F2"/>
                    </a:solidFill>
                  </a:tcPr>
                </a:tc>
                <a:tc>
                  <a:txBody>
                    <a:bodyPr/>
                    <a:lstStyle/>
                    <a:p>
                      <a:pPr>
                        <a:defRPr sz="800">
                          <a:solidFill>
                            <a:srgbClr val="333333"/>
                          </a:solidFill>
                        </a:defRPr>
                      </a:pPr>
                      <a:r>
                        <a:t>G1 GC</a:t>
                      </a:r>
                    </a:p>
                  </a:txBody>
                  <a:tcPr>
                    <a:solidFill>
                      <a:srgbClr val="F2F2F2"/>
                    </a:solidFill>
                  </a:tcPr>
                </a:tc>
                <a:tc>
                  <a:txBody>
                    <a:bodyPr/>
                    <a:lstStyle/>
                    <a:p>
                      <a:pPr>
                        <a:defRPr sz="800">
                          <a:solidFill>
                            <a:srgbClr val="333333"/>
                          </a:solidFill>
                        </a:defRPr>
                      </a:pPr>
                      <a:r>
                        <a:t>2048m 고정</a:t>
                      </a:r>
                    </a:p>
                  </a:txBody>
                  <a:tcPr>
                    <a:solidFill>
                      <a:srgbClr val="F2F2F2"/>
                    </a:solidFill>
                  </a:tcPr>
                </a:tc>
                <a:tc>
                  <a:txBody>
                    <a:bodyPr/>
                    <a:lstStyle/>
                    <a:p>
                      <a:pPr>
                        <a:defRPr sz="800">
                          <a:solidFill>
                            <a:srgbClr val="333333"/>
                          </a:solidFill>
                        </a:defRPr>
                      </a:pPr>
                      <a:r>
                        <a:t>미측정</a:t>
                      </a:r>
                    </a:p>
                  </a:txBody>
                  <a:tcPr>
                    <a:solidFill>
                      <a:srgbClr val="F2F2F2"/>
                    </a:solidFill>
                  </a:tcPr>
                </a:tc>
                <a:tc>
                  <a:txBody>
                    <a:bodyPr/>
                    <a:lstStyle/>
                    <a:p>
                      <a:pPr>
                        <a:defRPr sz="800">
                          <a:solidFill>
                            <a:srgbClr val="333333"/>
                          </a:solidFill>
                        </a:defRPr>
                      </a:pPr>
                      <a:r>
                        <a:t>예측 가능 (50~200ms)</a:t>
                      </a:r>
                    </a:p>
                  </a:txBody>
                  <a:tcPr>
                    <a:solidFill>
                      <a:srgbClr val="F2F2F2"/>
                    </a:solidFill>
                  </a:tcPr>
                </a:tc>
              </a:tr>
              <a:tr h="274319">
                <a:tc>
                  <a:txBody>
                    <a:bodyPr/>
                    <a:lstStyle/>
                    <a:p>
                      <a:pPr>
                        <a:defRPr sz="800">
                          <a:solidFill>
                            <a:srgbClr val="333333"/>
                          </a:solidFill>
                        </a:defRPr>
                      </a:pPr>
                      <a:r>
                        <a:t>주차서비스</a:t>
                      </a:r>
                    </a:p>
                  </a:txBody>
                  <a:tcPr>
                    <a:solidFill>
                      <a:srgbClr val="FFFFFF"/>
                    </a:solidFill>
                  </a:tcPr>
                </a:tc>
                <a:tc>
                  <a:txBody>
                    <a:bodyPr/>
                    <a:lstStyle/>
                    <a:p>
                      <a:pPr>
                        <a:defRPr sz="800">
                          <a:solidFill>
                            <a:srgbClr val="333333"/>
                          </a:solidFill>
                        </a:defRPr>
                      </a:pPr>
                      <a:r>
                        <a:t>G1 GC</a:t>
                      </a:r>
                    </a:p>
                  </a:txBody>
                  <a:tcPr>
                    <a:solidFill>
                      <a:srgbClr val="FFFFFF"/>
                    </a:solidFill>
                  </a:tcPr>
                </a:tc>
                <a:tc>
                  <a:txBody>
                    <a:bodyPr/>
                    <a:lstStyle/>
                    <a:p>
                      <a:pPr>
                        <a:defRPr sz="800">
                          <a:solidFill>
                            <a:srgbClr val="333333"/>
                          </a:solidFill>
                        </a:defRPr>
                      </a:pPr>
                      <a:r>
                        <a:t>2048~4096m</a:t>
                      </a:r>
                    </a:p>
                  </a:txBody>
                  <a:tcPr>
                    <a:solidFill>
                      <a:srgbClr val="FFFFFF"/>
                    </a:solidFill>
                  </a:tcPr>
                </a:tc>
                <a:tc>
                  <a:txBody>
                    <a:bodyPr/>
                    <a:lstStyle/>
                    <a:p>
                      <a:pPr>
                        <a:defRPr sz="800">
                          <a:solidFill>
                            <a:srgbClr val="333333"/>
                          </a:solidFill>
                        </a:defRPr>
                      </a:pPr>
                      <a:r>
                        <a:t>미측정</a:t>
                      </a:r>
                    </a:p>
                  </a:txBody>
                  <a:tcPr>
                    <a:solidFill>
                      <a:srgbClr val="FFFFFF"/>
                    </a:solidFill>
                  </a:tcPr>
                </a:tc>
                <a:tc>
                  <a:txBody>
                    <a:bodyPr/>
                    <a:lstStyle/>
                    <a:p>
                      <a:pPr>
                        <a:defRPr sz="800">
                          <a:solidFill>
                            <a:srgbClr val="333333"/>
                          </a:solidFill>
                        </a:defRPr>
                      </a:pPr>
                      <a:r>
                        <a:t>예측 가능 (50~200ms)</a:t>
                      </a:r>
                    </a:p>
                  </a:txBody>
                  <a:tcPr>
                    <a:solidFill>
                      <a:srgbClr val="FFFFFF"/>
                    </a:solidFill>
                  </a:tcPr>
                </a:tc>
              </a:tr>
              <a:tr h="274319">
                <a:tc>
                  <a:txBody>
                    <a:bodyPr/>
                    <a:lstStyle/>
                    <a:p>
                      <a:pPr>
                        <a:defRPr sz="800" b="1">
                          <a:solidFill>
                            <a:srgbClr val="CC0000"/>
                          </a:solidFill>
                        </a:defRPr>
                      </a:pPr>
                      <a:r>
                        <a:t>**CL플랫폼**</a:t>
                      </a:r>
                    </a:p>
                  </a:txBody>
                  <a:tcPr>
                    <a:solidFill>
                      <a:srgbClr val="FFE0E0"/>
                    </a:solidFill>
                  </a:tcPr>
                </a:tc>
                <a:tc>
                  <a:txBody>
                    <a:bodyPr/>
                    <a:lstStyle/>
                    <a:p>
                      <a:pPr>
                        <a:defRPr sz="800" b="1">
                          <a:solidFill>
                            <a:srgbClr val="CC0000"/>
                          </a:solidFill>
                        </a:defRPr>
                      </a:pPr>
                      <a:r>
                        <a:t>**Parallel GC**</a:t>
                      </a:r>
                    </a:p>
                  </a:txBody>
                  <a:tcPr>
                    <a:solidFill>
                      <a:srgbClr val="FFE0E0"/>
                    </a:solidFill>
                  </a:tcPr>
                </a:tc>
                <a:tc>
                  <a:txBody>
                    <a:bodyPr/>
                    <a:lstStyle/>
                    <a:p>
                      <a:pPr>
                        <a:defRPr sz="800" b="1">
                          <a:solidFill>
                            <a:srgbClr val="CC0000"/>
                          </a:solidFill>
                        </a:defRPr>
                      </a:pPr>
                      <a:r>
                        <a:t>**2048m 고정**</a:t>
                      </a:r>
                    </a:p>
                  </a:txBody>
                  <a:tcPr>
                    <a:solidFill>
                      <a:srgbClr val="FFE0E0"/>
                    </a:solidFill>
                  </a:tcPr>
                </a:tc>
                <a:tc>
                  <a:txBody>
                    <a:bodyPr/>
                    <a:lstStyle/>
                    <a:p>
                      <a:pPr>
                        <a:defRPr sz="800" b="1">
                          <a:solidFill>
                            <a:srgbClr val="CC0000"/>
                          </a:solidFill>
                        </a:defRPr>
                      </a:pPr>
                      <a:r>
                        <a:t>**90.2% (CRITICAL)**</a:t>
                      </a:r>
                    </a:p>
                  </a:txBody>
                  <a:tcPr>
                    <a:solidFill>
                      <a:srgbClr val="FFE0E0"/>
                    </a:solidFill>
                  </a:tcPr>
                </a:tc>
                <a:tc>
                  <a:txBody>
                    <a:bodyPr/>
                    <a:lstStyle/>
                    <a:p>
                      <a:pPr>
                        <a:defRPr sz="800" b="1">
                          <a:solidFill>
                            <a:srgbClr val="CC0000"/>
                          </a:solidFill>
                        </a:defRPr>
                      </a:pPr>
                      <a:r>
                        <a:t>**수초~수십초 STW**</a:t>
                      </a:r>
                    </a:p>
                  </a:txBody>
                  <a:tcPr>
                    <a:solidFill>
                      <a:srgbClr val="FFE0E0"/>
                    </a:solidFill>
                  </a:tcPr>
                </a:tc>
              </a:tr>
              <a:tr h="274324">
                <a:tc>
                  <a:txBody>
                    <a:bodyPr/>
                    <a:lstStyle/>
                    <a:p>
                      <a:pPr>
                        <a:defRPr sz="800" b="1">
                          <a:solidFill>
                            <a:srgbClr val="CC0000"/>
                          </a:solidFill>
                        </a:defRPr>
                      </a:pPr>
                      <a:r>
                        <a:t>**현금정보계**</a:t>
                      </a:r>
                    </a:p>
                  </a:txBody>
                  <a:tcPr>
                    <a:solidFill>
                      <a:srgbClr val="FFE0E0"/>
                    </a:solidFill>
                  </a:tcPr>
                </a:tc>
                <a:tc>
                  <a:txBody>
                    <a:bodyPr/>
                    <a:lstStyle/>
                    <a:p>
                      <a:pPr>
                        <a:defRPr sz="800" b="1">
                          <a:solidFill>
                            <a:srgbClr val="CC0000"/>
                          </a:solidFill>
                        </a:defRPr>
                      </a:pPr>
                      <a:r>
                        <a:t>**Parallel GC**</a:t>
                      </a:r>
                    </a:p>
                  </a:txBody>
                  <a:tcPr>
                    <a:solidFill>
                      <a:srgbClr val="FFE0E0"/>
                    </a:solidFill>
                  </a:tcPr>
                </a:tc>
                <a:tc>
                  <a:txBody>
                    <a:bodyPr/>
                    <a:lstStyle/>
                    <a:p>
                      <a:pPr>
                        <a:defRPr sz="800" b="1">
                          <a:solidFill>
                            <a:srgbClr val="CC0000"/>
                          </a:solidFill>
                        </a:defRPr>
                      </a:pPr>
                      <a:r>
                        <a:t>**1024~8192m**</a:t>
                      </a:r>
                    </a:p>
                  </a:txBody>
                  <a:tcPr>
                    <a:solidFill>
                      <a:srgbClr val="FFE0E0"/>
                    </a:solidFill>
                  </a:tcPr>
                </a:tc>
                <a:tc>
                  <a:txBody>
                    <a:bodyPr/>
                    <a:lstStyle/>
                    <a:p>
                      <a:pPr>
                        <a:defRPr sz="800" b="1">
                          <a:solidFill>
                            <a:srgbClr val="CC0000"/>
                          </a:solidFill>
                        </a:defRPr>
                      </a:pPr>
                      <a:r>
                        <a:t>**미측정**</a:t>
                      </a:r>
                    </a:p>
                  </a:txBody>
                  <a:tcPr>
                    <a:solidFill>
                      <a:srgbClr val="FFE0E0"/>
                    </a:solidFill>
                  </a:tcPr>
                </a:tc>
                <a:tc>
                  <a:txBody>
                    <a:bodyPr/>
                    <a:lstStyle/>
                    <a:p>
                      <a:pPr>
                        <a:defRPr sz="800" b="1">
                          <a:solidFill>
                            <a:srgbClr val="CC0000"/>
                          </a:solidFill>
                        </a:defRPr>
                      </a:pPr>
                      <a:r>
                        <a:t>**고정 Heap 동일 리스크**</a:t>
                      </a:r>
                    </a:p>
                  </a:txBody>
                  <a:tcPr>
                    <a:solidFill>
                      <a:srgbClr val="FFE0E0"/>
                    </a:solidFill>
                  </a:tcPr>
                </a:tc>
              </a:tr>
            </a:tbl>
          </a:graphicData>
        </a:graphic>
      </p:graphicFrame>
      <p:sp>
        <p:nvSpPr>
          <p:cNvPr id="5" name="TextBox 4"/>
          <p:cNvSpPr txBox="1"/>
          <p:nvPr/>
        </p:nvSpPr>
        <p:spPr>
          <a:xfrm>
            <a:off x="457200" y="3108960"/>
            <a:ext cx="10972800" cy="320040"/>
          </a:xfrm>
          <a:prstGeom prst="rect">
            <a:avLst/>
          </a:prstGeom>
          <a:noFill/>
        </p:spPr>
        <p:txBody>
          <a:bodyPr wrap="none">
            <a:spAutoFit/>
          </a:bodyPr>
          <a:lstStyle/>
          <a:p>
            <a:pPr>
              <a:defRPr sz="1300" b="1" u="sng">
                <a:solidFill>
                  <a:srgbClr val="CC6600"/>
                </a:solidFill>
              </a:defRPr>
            </a:pPr>
            <a:r>
              <a:t>[Step 2: 당사 자체 진단 및 개선 가설]</a:t>
            </a:r>
          </a:p>
        </p:txBody>
      </p:sp>
      <p:graphicFrame>
        <p:nvGraphicFramePr>
          <p:cNvPr id="6" name="Table 5"/>
          <p:cNvGraphicFramePr>
            <a:graphicFrameLocks noGrp="1"/>
          </p:cNvGraphicFramePr>
          <p:nvPr/>
        </p:nvGraphicFramePr>
        <p:xfrm>
          <a:off x="457200" y="3474720"/>
          <a:ext cx="10972800" cy="1371600"/>
        </p:xfrm>
        <a:graphic>
          <a:graphicData uri="http://schemas.openxmlformats.org/drawingml/2006/table">
            <a:tbl>
              <a:tblPr firstRow="1" bandRow="1">
                <a:tableStyleId>{5C22544A-7EE6-4342-B048-85BDC9FD1C3A}</a:tableStyleId>
              </a:tblPr>
              <a:tblGrid>
                <a:gridCol w="1828800"/>
                <a:gridCol w="4572000"/>
                <a:gridCol w="4572000"/>
              </a:tblGrid>
              <a:tr h="274320">
                <a:tc>
                  <a:txBody>
                    <a:bodyPr/>
                    <a:lstStyle/>
                    <a:p>
                      <a:pPr algn="ctr">
                        <a:defRPr sz="900" b="1">
                          <a:solidFill>
                            <a:srgbClr val="FFFFFF"/>
                          </a:solidFill>
                        </a:defRPr>
                      </a:pPr>
                      <a:r>
                        <a:t>진단 항목</a:t>
                      </a:r>
                    </a:p>
                  </a:txBody>
                  <a:tcPr>
                    <a:solidFill>
                      <a:srgbClr val="1B2A4A"/>
                    </a:solidFill>
                  </a:tcPr>
                </a:tc>
                <a:tc>
                  <a:txBody>
                    <a:bodyPr/>
                    <a:lstStyle/>
                    <a:p>
                      <a:pPr algn="ctr">
                        <a:defRPr sz="900" b="1">
                          <a:solidFill>
                            <a:srgbClr val="FFFFFF"/>
                          </a:solidFill>
                        </a:defRPr>
                      </a:pPr>
                      <a:r>
                        <a:t>가설</a:t>
                      </a:r>
                    </a:p>
                  </a:txBody>
                  <a:tcPr>
                    <a:solidFill>
                      <a:srgbClr val="1B2A4A"/>
                    </a:solidFill>
                  </a:tcPr>
                </a:tc>
                <a:tc>
                  <a:txBody>
                    <a:bodyPr/>
                    <a:lstStyle/>
                    <a:p>
                      <a:pPr algn="ctr">
                        <a:defRPr sz="900" b="1">
                          <a:solidFill>
                            <a:srgbClr val="FFFFFF"/>
                          </a:solidFill>
                        </a:defRPr>
                      </a:pPr>
                      <a:r>
                        <a:t>근거</a:t>
                      </a:r>
                    </a:p>
                  </a:txBody>
                  <a:tcPr>
                    <a:solidFill>
                      <a:srgbClr val="1B2A4A"/>
                    </a:solidFill>
                  </a:tcPr>
                </a:tc>
              </a:tr>
              <a:tr h="274320">
                <a:tc>
                  <a:txBody>
                    <a:bodyPr/>
                    <a:lstStyle/>
                    <a:p>
                      <a:pPr>
                        <a:defRPr sz="800">
                          <a:solidFill>
                            <a:srgbClr val="333333"/>
                          </a:solidFill>
                        </a:defRPr>
                      </a:pPr>
                      <a:r>
                        <a:t>GC 표준화</a:t>
                      </a:r>
                    </a:p>
                  </a:txBody>
                  <a:tcPr>
                    <a:solidFill>
                      <a:srgbClr val="FFFFFF"/>
                    </a:solidFill>
                  </a:tcPr>
                </a:tc>
                <a:tc>
                  <a:txBody>
                    <a:bodyPr/>
                    <a:lstStyle/>
                    <a:p>
                      <a:pPr>
                        <a:defRPr sz="800">
                          <a:solidFill>
                            <a:srgbClr val="333333"/>
                          </a:solidFill>
                        </a:defRPr>
                      </a:pPr>
                      <a:r>
                        <a:t>전사 G1 GC 통일</a:t>
                      </a:r>
                    </a:p>
                  </a:txBody>
                  <a:tcPr>
                    <a:solidFill>
                      <a:srgbClr val="FFFFFF"/>
                    </a:solidFill>
                  </a:tcPr>
                </a:tc>
                <a:tc>
                  <a:txBody>
                    <a:bodyPr/>
                    <a:lstStyle/>
                    <a:p>
                      <a:pPr>
                        <a:defRPr sz="800">
                          <a:solidFill>
                            <a:srgbClr val="333333"/>
                          </a:solidFill>
                        </a:defRPr>
                      </a:pPr>
                      <a:r>
                        <a:t>G1은 Java 9+ 기본, 웹 서비스 최적</a:t>
                      </a:r>
                    </a:p>
                  </a:txBody>
                  <a:tcPr>
                    <a:solidFill>
                      <a:srgbClr val="FFFFFF"/>
                    </a:solidFill>
                  </a:tcPr>
                </a:tc>
              </a:tr>
              <a:tr h="274320">
                <a:tc>
                  <a:txBody>
                    <a:bodyPr/>
                    <a:lstStyle/>
                    <a:p>
                      <a:pPr>
                        <a:defRPr sz="800">
                          <a:solidFill>
                            <a:srgbClr val="333333"/>
                          </a:solidFill>
                        </a:defRPr>
                      </a:pPr>
                      <a:r>
                        <a:t>CL 즉각 조치</a:t>
                      </a:r>
                    </a:p>
                  </a:txBody>
                  <a:tcPr>
                    <a:solidFill>
                      <a:srgbClr val="F2F2F2"/>
                    </a:solidFill>
                  </a:tcPr>
                </a:tc>
                <a:tc>
                  <a:txBody>
                    <a:bodyPr/>
                    <a:lstStyle/>
                    <a:p>
                      <a:pPr>
                        <a:defRPr sz="800">
                          <a:solidFill>
                            <a:srgbClr val="333333"/>
                          </a:solidFill>
                        </a:defRPr>
                      </a:pPr>
                      <a:r>
                        <a:t>G1 전환 + Heap 2048m-&gt;4096m 이상</a:t>
                      </a:r>
                    </a:p>
                  </a:txBody>
                  <a:tcPr>
                    <a:solidFill>
                      <a:srgbClr val="F2F2F2"/>
                    </a:solidFill>
                  </a:tcPr>
                </a:tc>
                <a:tc>
                  <a:txBody>
                    <a:bodyPr/>
                    <a:lstStyle/>
                    <a:p>
                      <a:pPr>
                        <a:defRPr sz="800">
                          <a:solidFill>
                            <a:srgbClr val="333333"/>
                          </a:solidFill>
                        </a:defRPr>
                      </a:pPr>
                      <a:r>
                        <a:t>Old 90.2%는 경고 임계치 초과, 잔여 150MB</a:t>
                      </a:r>
                    </a:p>
                  </a:txBody>
                  <a:tcPr>
                    <a:solidFill>
                      <a:srgbClr val="F2F2F2"/>
                    </a:solidFill>
                  </a:tcPr>
                </a:tc>
              </a:tr>
              <a:tr h="274320">
                <a:tc>
                  <a:txBody>
                    <a:bodyPr/>
                    <a:lstStyle/>
                    <a:p>
                      <a:pPr>
                        <a:defRPr sz="800">
                          <a:solidFill>
                            <a:srgbClr val="333333"/>
                          </a:solidFill>
                        </a:defRPr>
                      </a:pPr>
                      <a:r>
                        <a:t>현금정보계</a:t>
                      </a:r>
                    </a:p>
                  </a:txBody>
                  <a:tcPr>
                    <a:solidFill>
                      <a:srgbClr val="FFFFFF"/>
                    </a:solidFill>
                  </a:tcPr>
                </a:tc>
                <a:tc>
                  <a:txBody>
                    <a:bodyPr/>
                    <a:lstStyle/>
                    <a:p>
                      <a:pPr>
                        <a:defRPr sz="800">
                          <a:solidFill>
                            <a:srgbClr val="333333"/>
                          </a:solidFill>
                        </a:defRPr>
                      </a:pPr>
                      <a:r>
                        <a:t>고정 Heap 컨테이너 우선 전환</a:t>
                      </a:r>
                    </a:p>
                  </a:txBody>
                  <a:tcPr>
                    <a:solidFill>
                      <a:srgbClr val="FFFFFF"/>
                    </a:solidFill>
                  </a:tcPr>
                </a:tc>
                <a:tc>
                  <a:txBody>
                    <a:bodyPr/>
                    <a:lstStyle/>
                    <a:p>
                      <a:pPr>
                        <a:defRPr sz="800" b="1">
                          <a:solidFill>
                            <a:srgbClr val="CC0000"/>
                          </a:solidFill>
                        </a:defRPr>
                      </a:pPr>
                      <a:r>
                        <a:t>Heap 확장 불가 상태에서 Full GC 위험</a:t>
                      </a:r>
                    </a:p>
                  </a:txBody>
                  <a:tcPr>
                    <a:solidFill>
                      <a:srgbClr val="FFFFFF"/>
                    </a:solidFill>
                  </a:tcPr>
                </a:tc>
              </a:tr>
              <a:tr h="274320">
                <a:tc>
                  <a:txBody>
                    <a:bodyPr/>
                    <a:lstStyle/>
                    <a:p>
                      <a:pPr>
                        <a:defRPr sz="800">
                          <a:solidFill>
                            <a:srgbClr val="333333"/>
                          </a:solidFill>
                        </a:defRPr>
                      </a:pPr>
                      <a:r>
                        <a:t>GC 로그 수집</a:t>
                      </a:r>
                    </a:p>
                  </a:txBody>
                  <a:tcPr>
                    <a:solidFill>
                      <a:srgbClr val="F2F2F2"/>
                    </a:solidFill>
                  </a:tcPr>
                </a:tc>
                <a:tc>
                  <a:txBody>
                    <a:bodyPr/>
                    <a:lstStyle/>
                    <a:p>
                      <a:pPr>
                        <a:defRPr sz="800">
                          <a:solidFill>
                            <a:srgbClr val="333333"/>
                          </a:solidFill>
                        </a:defRPr>
                      </a:pPr>
                      <a:r>
                        <a:t>전사 활성화 필수</a:t>
                      </a:r>
                    </a:p>
                  </a:txBody>
                  <a:tcPr>
                    <a:solidFill>
                      <a:srgbClr val="F2F2F2"/>
                    </a:solidFill>
                  </a:tcPr>
                </a:tc>
                <a:tc>
                  <a:txBody>
                    <a:bodyPr/>
                    <a:lstStyle/>
                    <a:p>
                      <a:pPr>
                        <a:defRPr sz="800">
                          <a:solidFill>
                            <a:srgbClr val="333333"/>
                          </a:solidFill>
                        </a:defRPr>
                      </a:pPr>
                      <a:r>
                        <a:t>-Xlog:gc* 설정, Full GC 이력 파악 불가</a:t>
                      </a:r>
                    </a:p>
                  </a:txBody>
                  <a:tcPr>
                    <a:solidFill>
                      <a:srgbClr val="F2F2F2"/>
                    </a:solidFill>
                  </a:tcPr>
                </a:tc>
              </a:tr>
            </a:tbl>
          </a:graphicData>
        </a:graphic>
      </p:graphicFrame>
      <p:sp>
        <p:nvSpPr>
          <p:cNvPr id="7" name="TextBox 6"/>
          <p:cNvSpPr txBox="1"/>
          <p:nvPr/>
        </p:nvSpPr>
        <p:spPr>
          <a:xfrm>
            <a:off x="457200" y="4937760"/>
            <a:ext cx="10972800" cy="320040"/>
          </a:xfrm>
          <a:prstGeom prst="rect">
            <a:avLst/>
          </a:prstGeom>
          <a:noFill/>
        </p:spPr>
        <p:txBody>
          <a:bodyPr wrap="none">
            <a:spAutoFit/>
          </a:bodyPr>
          <a:lstStyle/>
          <a:p>
            <a:pPr>
              <a:defRPr sz="1300" b="1" u="sng">
                <a:solidFill>
                  <a:srgbClr val="003366"/>
                </a:solidFill>
              </a:defRPr>
            </a:pPr>
            <a:r>
              <a:t>[Step 3: 컨설팅사 제언 요청]</a:t>
            </a:r>
          </a:p>
        </p:txBody>
      </p:sp>
      <p:sp>
        <p:nvSpPr>
          <p:cNvPr id="8" name="TextBox 7"/>
          <p:cNvSpPr txBox="1"/>
          <p:nvPr/>
        </p:nvSpPr>
        <p:spPr>
          <a:xfrm>
            <a:off x="457200" y="5212080"/>
            <a:ext cx="10972800" cy="1371600"/>
          </a:xfrm>
          <a:prstGeom prst="rect">
            <a:avLst/>
          </a:prstGeom>
          <a:noFill/>
        </p:spPr>
        <p:txBody>
          <a:bodyPr wrap="square">
            <a:spAutoFit/>
          </a:bodyPr>
          <a:lstStyle/>
          <a:p>
            <a:pPr>
              <a:spcAft>
                <a:spcPts val="400"/>
              </a:spcAft>
              <a:defRPr sz="900" b="0">
                <a:solidFill>
                  <a:srgbClr val="333333"/>
                </a:solidFill>
              </a:defRPr>
            </a:pPr>
            <a:r>
              <a:t>Q1: CL플랫폼 Old 영역 90% 상태에서 G1 GC 전환 시 예상 성능 변화와 안정화 소요?</a:t>
            </a:r>
          </a:p>
          <a:p>
            <a:pPr>
              <a:spcAft>
                <a:spcPts val="400"/>
              </a:spcAft>
              <a:defRPr sz="900" b="0">
                <a:solidFill>
                  <a:srgbClr val="333333"/>
                </a:solidFill>
              </a:defRPr>
            </a:pPr>
            <a:r>
              <a:t>Q2: CL플랫폼 Heap 증설 시 권장 적정 크기와 산출 근거?</a:t>
            </a:r>
          </a:p>
          <a:p>
            <a:pPr>
              <a:spcAft>
                <a:spcPts val="400"/>
              </a:spcAft>
              <a:defRPr sz="900" b="1">
                <a:solidFill>
                  <a:srgbClr val="CC0000"/>
                </a:solidFill>
              </a:defRPr>
            </a:pPr>
            <a:r>
              <a:t>Q3: CLS 전용 WAS 환경에서 Parallel-&gt;G1 GC 전환 시 WAS 엔진 자체와 충돌 가능성이 없는지?</a:t>
            </a:r>
          </a:p>
          <a:p>
            <a:pPr>
              <a:spcAft>
                <a:spcPts val="400"/>
              </a:spcAft>
              <a:defRPr sz="900" b="0">
                <a:solidFill>
                  <a:srgbClr val="333333"/>
                </a:solidFill>
              </a:defRPr>
            </a:pPr>
            <a:r>
              <a:t>Q4: 현금정보계팀 7개 컨테이너 중 고정/동적 Heap 어느 쪽을 우선 전환해야 하는지?</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square">
            <a:spAutoFit/>
          </a:bodyPr>
          <a:lstStyle/>
          <a:p>
            <a:pPr>
              <a:defRPr sz="2400" b="1">
                <a:solidFill>
                  <a:srgbClr val="1B2A4A"/>
                </a:solidFill>
              </a:defRPr>
            </a:pPr>
            <a:r>
              <a:t>[C-03] JVM Heap 및 Metaspace 전략 비표준화</a:t>
            </a:r>
          </a:p>
        </p:txBody>
      </p:sp>
      <p:sp>
        <p:nvSpPr>
          <p:cNvPr id="3" name="TextBox 2"/>
          <p:cNvSpPr txBox="1"/>
          <p:nvPr/>
        </p:nvSpPr>
        <p:spPr>
          <a:xfrm>
            <a:off x="457200" y="914400"/>
            <a:ext cx="10972800" cy="320040"/>
          </a:xfrm>
          <a:prstGeom prst="rect">
            <a:avLst/>
          </a:prstGeom>
          <a:noFill/>
        </p:spPr>
        <p:txBody>
          <a:bodyPr wrap="none">
            <a:spAutoFit/>
          </a:bodyPr>
          <a:lstStyle/>
          <a:p>
            <a:pPr>
              <a:defRPr sz="1300" b="1" u="sng">
                <a:solidFill>
                  <a:srgbClr val="006D6F"/>
                </a:solidFill>
              </a:defRPr>
            </a:pPr>
            <a:r>
              <a:t>[Step 1: 현황 (Current State)]</a:t>
            </a:r>
          </a:p>
        </p:txBody>
      </p:sp>
      <p:graphicFrame>
        <p:nvGraphicFramePr>
          <p:cNvPr id="4" name="Table 3"/>
          <p:cNvGraphicFramePr>
            <a:graphicFrameLocks noGrp="1"/>
          </p:cNvGraphicFramePr>
          <p:nvPr/>
        </p:nvGraphicFramePr>
        <p:xfrm>
          <a:off x="457200" y="1188720"/>
          <a:ext cx="10972799" cy="3291839"/>
        </p:xfrm>
        <a:graphic>
          <a:graphicData uri="http://schemas.openxmlformats.org/drawingml/2006/table">
            <a:tbl>
              <a:tblPr firstRow="1" bandRow="1">
                <a:tableStyleId>{5C22544A-7EE6-4342-B048-85BDC9FD1C3A}</a:tableStyleId>
              </a:tblPr>
              <a:tblGrid>
                <a:gridCol w="1554480"/>
                <a:gridCol w="1188720"/>
                <a:gridCol w="1188720"/>
                <a:gridCol w="914400"/>
                <a:gridCol w="1188720"/>
                <a:gridCol w="1188720"/>
                <a:gridCol w="3749039"/>
              </a:tblGrid>
              <a:tr h="274319">
                <a:tc>
                  <a:txBody>
                    <a:bodyPr/>
                    <a:lstStyle/>
                    <a:p>
                      <a:pPr algn="ctr">
                        <a:defRPr sz="900" b="1">
                          <a:solidFill>
                            <a:srgbClr val="FFFFFF"/>
                          </a:solidFill>
                        </a:defRPr>
                      </a:pPr>
                      <a:r>
                        <a:t>팀/컨테이너</a:t>
                      </a:r>
                    </a:p>
                  </a:txBody>
                  <a:tcPr>
                    <a:solidFill>
                      <a:srgbClr val="1B2A4A"/>
                    </a:solidFill>
                  </a:tcPr>
                </a:tc>
                <a:tc>
                  <a:txBody>
                    <a:bodyPr/>
                    <a:lstStyle/>
                    <a:p>
                      <a:pPr algn="ctr">
                        <a:defRPr sz="900" b="1">
                          <a:solidFill>
                            <a:srgbClr val="FFFFFF"/>
                          </a:solidFill>
                        </a:defRPr>
                      </a:pPr>
                      <a:r>
                        <a:t>Xms</a:t>
                      </a:r>
                    </a:p>
                  </a:txBody>
                  <a:tcPr>
                    <a:solidFill>
                      <a:srgbClr val="1B2A4A"/>
                    </a:solidFill>
                  </a:tcPr>
                </a:tc>
                <a:tc>
                  <a:txBody>
                    <a:bodyPr/>
                    <a:lstStyle/>
                    <a:p>
                      <a:pPr algn="ctr">
                        <a:defRPr sz="900" b="1">
                          <a:solidFill>
                            <a:srgbClr val="FFFFFF"/>
                          </a:solidFill>
                        </a:defRPr>
                      </a:pPr>
                      <a:r>
                        <a:t>Xmx</a:t>
                      </a:r>
                    </a:p>
                  </a:txBody>
                  <a:tcPr>
                    <a:solidFill>
                      <a:srgbClr val="1B2A4A"/>
                    </a:solidFill>
                  </a:tcPr>
                </a:tc>
                <a:tc>
                  <a:txBody>
                    <a:bodyPr/>
                    <a:lstStyle/>
                    <a:p>
                      <a:pPr algn="ctr">
                        <a:defRPr sz="900" b="1">
                          <a:solidFill>
                            <a:srgbClr val="FFFFFF"/>
                          </a:solidFill>
                        </a:defRPr>
                      </a:pPr>
                      <a:r>
                        <a:t>전략</a:t>
                      </a:r>
                    </a:p>
                  </a:txBody>
                  <a:tcPr>
                    <a:solidFill>
                      <a:srgbClr val="1B2A4A"/>
                    </a:solidFill>
                  </a:tcPr>
                </a:tc>
                <a:tc>
                  <a:txBody>
                    <a:bodyPr/>
                    <a:lstStyle/>
                    <a:p>
                      <a:pPr algn="ctr">
                        <a:defRPr sz="900" b="1">
                          <a:solidFill>
                            <a:srgbClr val="FFFFFF"/>
                          </a:solidFill>
                        </a:defRPr>
                      </a:pPr>
                      <a:r>
                        <a:t>Meta Min</a:t>
                      </a:r>
                    </a:p>
                  </a:txBody>
                  <a:tcPr>
                    <a:solidFill>
                      <a:srgbClr val="1B2A4A"/>
                    </a:solidFill>
                  </a:tcPr>
                </a:tc>
                <a:tc>
                  <a:txBody>
                    <a:bodyPr/>
                    <a:lstStyle/>
                    <a:p>
                      <a:pPr algn="ctr">
                        <a:defRPr sz="900" b="1">
                          <a:solidFill>
                            <a:srgbClr val="FFFFFF"/>
                          </a:solidFill>
                        </a:defRPr>
                      </a:pPr>
                      <a:r>
                        <a:t>Meta Max</a:t>
                      </a:r>
                    </a:p>
                  </a:txBody>
                  <a:tcPr>
                    <a:solidFill>
                      <a:srgbClr val="1B2A4A"/>
                    </a:solidFill>
                  </a:tcPr>
                </a:tc>
                <a:tc>
                  <a:txBody>
                    <a:bodyPr/>
                    <a:lstStyle/>
                    <a:p>
                      <a:pPr algn="ctr">
                        <a:defRPr sz="900" b="1">
                          <a:solidFill>
                            <a:srgbClr val="FFFFFF"/>
                          </a:solidFill>
                        </a:defRPr>
                      </a:pPr>
                      <a:r>
                        <a:t>비고</a:t>
                      </a:r>
                    </a:p>
                  </a:txBody>
                  <a:tcPr>
                    <a:solidFill>
                      <a:srgbClr val="1B2A4A"/>
                    </a:solidFill>
                  </a:tcPr>
                </a:tc>
              </a:tr>
              <a:tr h="274319">
                <a:tc>
                  <a:txBody>
                    <a:bodyPr/>
                    <a:lstStyle/>
                    <a:p>
                      <a:pPr>
                        <a:defRPr sz="800">
                          <a:solidFill>
                            <a:srgbClr val="333333"/>
                          </a:solidFill>
                        </a:defRPr>
                      </a:pPr>
                      <a:r>
                        <a:t>플랫폼개발(NP)</a:t>
                      </a:r>
                    </a:p>
                  </a:txBody>
                  <a:tcPr>
                    <a:solidFill>
                      <a:srgbClr val="FFFFFF"/>
                    </a:solidFill>
                  </a:tcPr>
                </a:tc>
                <a:tc>
                  <a:txBody>
                    <a:bodyPr/>
                    <a:lstStyle/>
                    <a:p>
                      <a:pPr>
                        <a:defRPr sz="800">
                          <a:solidFill>
                            <a:srgbClr val="333333"/>
                          </a:solidFill>
                        </a:defRPr>
                      </a:pPr>
                      <a:r>
                        <a:t>70%</a:t>
                      </a:r>
                    </a:p>
                  </a:txBody>
                  <a:tcPr>
                    <a:solidFill>
                      <a:srgbClr val="FFFFFF"/>
                    </a:solidFill>
                  </a:tcPr>
                </a:tc>
                <a:tc>
                  <a:txBody>
                    <a:bodyPr/>
                    <a:lstStyle/>
                    <a:p>
                      <a:pPr>
                        <a:defRPr sz="800">
                          <a:solidFill>
                            <a:srgbClr val="333333"/>
                          </a:solidFill>
                        </a:defRPr>
                      </a:pPr>
                      <a:r>
                        <a:t>70%</a:t>
                      </a:r>
                    </a:p>
                  </a:txBody>
                  <a:tcPr>
                    <a:solidFill>
                      <a:srgbClr val="FFFFFF"/>
                    </a:solidFill>
                  </a:tcPr>
                </a:tc>
                <a:tc>
                  <a:txBody>
                    <a:bodyPr/>
                    <a:lstStyle/>
                    <a:p>
                      <a:pPr>
                        <a:defRPr sz="800">
                          <a:solidFill>
                            <a:srgbClr val="333333"/>
                          </a:solidFill>
                        </a:defRPr>
                      </a:pPr>
                      <a:r>
                        <a:t>비율</a:t>
                      </a:r>
                    </a:p>
                  </a:txBody>
                  <a:tcPr>
                    <a:solidFill>
                      <a:srgbClr val="FFFFFF"/>
                    </a:solidFill>
                  </a:tcPr>
                </a:tc>
                <a:tc>
                  <a:txBody>
                    <a:bodyPr/>
                    <a:lstStyle/>
                    <a:p>
                      <a:pPr>
                        <a:defRPr sz="800">
                          <a:solidFill>
                            <a:srgbClr val="333333"/>
                          </a:solidFill>
                        </a:defRPr>
                      </a:pPr>
                      <a:r>
                        <a:t>128m</a:t>
                      </a:r>
                    </a:p>
                  </a:txBody>
                  <a:tcPr>
                    <a:solidFill>
                      <a:srgbClr val="FFFFFF"/>
                    </a:solidFill>
                  </a:tcPr>
                </a:tc>
                <a:tc>
                  <a:txBody>
                    <a:bodyPr/>
                    <a:lstStyle/>
                    <a:p>
                      <a:pPr>
                        <a:defRPr sz="800">
                          <a:solidFill>
                            <a:srgbClr val="333333"/>
                          </a:solidFill>
                        </a:defRPr>
                      </a:pPr>
                      <a:r>
                        <a:t>128m</a:t>
                      </a:r>
                    </a:p>
                  </a:txBody>
                  <a:tcPr>
                    <a:solidFill>
                      <a:srgbClr val="FFFFFF"/>
                    </a:solidFill>
                  </a:tcPr>
                </a:tc>
                <a:tc>
                  <a:txBody>
                    <a:bodyPr/>
                    <a:lstStyle/>
                    <a:p>
                      <a:pPr>
                        <a:defRPr sz="800">
                          <a:solidFill>
                            <a:srgbClr val="333333"/>
                          </a:solidFill>
                        </a:defRPr>
                      </a:pPr>
                      <a:r>
                        <a:t>heapPercent</a:t>
                      </a:r>
                    </a:p>
                  </a:txBody>
                  <a:tcPr>
                    <a:solidFill>
                      <a:srgbClr val="FFFFFF"/>
                    </a:solidFill>
                  </a:tcPr>
                </a:tc>
              </a:tr>
              <a:tr h="274319">
                <a:tc>
                  <a:txBody>
                    <a:bodyPr/>
                    <a:lstStyle/>
                    <a:p>
                      <a:pPr>
                        <a:defRPr sz="800">
                          <a:solidFill>
                            <a:srgbClr val="333333"/>
                          </a:solidFill>
                        </a:defRPr>
                      </a:pPr>
                      <a:r>
                        <a:t>플랫폼개발(NC)</a:t>
                      </a:r>
                    </a:p>
                  </a:txBody>
                  <a:tcPr>
                    <a:solidFill>
                      <a:srgbClr val="F2F2F2"/>
                    </a:solidFill>
                  </a:tcPr>
                </a:tc>
                <a:tc>
                  <a:txBody>
                    <a:bodyPr/>
                    <a:lstStyle/>
                    <a:p>
                      <a:pPr>
                        <a:defRPr sz="800">
                          <a:solidFill>
                            <a:srgbClr val="333333"/>
                          </a:solidFill>
                        </a:defRPr>
                      </a:pPr>
                      <a:r>
                        <a:t>2048m</a:t>
                      </a:r>
                    </a:p>
                  </a:txBody>
                  <a:tcPr>
                    <a:solidFill>
                      <a:srgbClr val="F2F2F2"/>
                    </a:solidFill>
                  </a:tcPr>
                </a:tc>
                <a:tc>
                  <a:txBody>
                    <a:bodyPr/>
                    <a:lstStyle/>
                    <a:p>
                      <a:pPr>
                        <a:defRPr sz="800">
                          <a:solidFill>
                            <a:srgbClr val="333333"/>
                          </a:solidFill>
                        </a:defRPr>
                      </a:pPr>
                      <a:r>
                        <a:t>2048m</a:t>
                      </a:r>
                    </a:p>
                  </a:txBody>
                  <a:tcPr>
                    <a:solidFill>
                      <a:srgbClr val="F2F2F2"/>
                    </a:solidFill>
                  </a:tcPr>
                </a:tc>
                <a:tc>
                  <a:txBody>
                    <a:bodyPr/>
                    <a:lstStyle/>
                    <a:p>
                      <a:pPr>
                        <a:defRPr sz="800">
                          <a:solidFill>
                            <a:srgbClr val="333333"/>
                          </a:solidFill>
                        </a:defRPr>
                      </a:pPr>
                      <a:r>
                        <a:t>고정</a:t>
                      </a:r>
                    </a:p>
                  </a:txBody>
                  <a:tcPr>
                    <a:solidFill>
                      <a:srgbClr val="F2F2F2"/>
                    </a:solidFill>
                  </a:tcPr>
                </a:tc>
                <a:tc>
                  <a:txBody>
                    <a:bodyPr/>
                    <a:lstStyle/>
                    <a:p>
                      <a:pPr>
                        <a:defRPr sz="800">
                          <a:solidFill>
                            <a:srgbClr val="333333"/>
                          </a:solidFill>
                        </a:defRPr>
                      </a:pPr>
                      <a:r>
                        <a:t>512m</a:t>
                      </a:r>
                    </a:p>
                  </a:txBody>
                  <a:tcPr>
                    <a:solidFill>
                      <a:srgbClr val="F2F2F2"/>
                    </a:solidFill>
                  </a:tcPr>
                </a:tc>
                <a:tc>
                  <a:txBody>
                    <a:bodyPr/>
                    <a:lstStyle/>
                    <a:p>
                      <a:pPr>
                        <a:defRPr sz="800">
                          <a:solidFill>
                            <a:srgbClr val="333333"/>
                          </a:solidFill>
                        </a:defRPr>
                      </a:pPr>
                      <a:r>
                        <a:t>512m</a:t>
                      </a:r>
                    </a:p>
                  </a:txBody>
                  <a:tcPr>
                    <a:solidFill>
                      <a:srgbClr val="F2F2F2"/>
                    </a:solidFill>
                  </a:tcPr>
                </a:tc>
                <a:tc>
                  <a:txBody>
                    <a:bodyPr/>
                    <a:lstStyle/>
                    <a:p>
                      <a:pPr>
                        <a:defRPr sz="800" b="1">
                          <a:solidFill>
                            <a:srgbClr val="006600"/>
                          </a:solidFill>
                        </a:defRPr>
                      </a:pPr>
                      <a:r>
                        <a:t>적합</a:t>
                      </a:r>
                    </a:p>
                  </a:txBody>
                  <a:tcPr>
                    <a:solidFill>
                      <a:srgbClr val="F2F2F2"/>
                    </a:solidFill>
                  </a:tcPr>
                </a:tc>
              </a:tr>
              <a:tr h="274319">
                <a:tc>
                  <a:txBody>
                    <a:bodyPr/>
                    <a:lstStyle/>
                    <a:p>
                      <a:pPr>
                        <a:defRPr sz="800">
                          <a:solidFill>
                            <a:srgbClr val="333333"/>
                          </a:solidFill>
                        </a:defRPr>
                      </a:pPr>
                      <a:r>
                        <a:t>CL플랫폼</a:t>
                      </a:r>
                    </a:p>
                  </a:txBody>
                  <a:tcPr>
                    <a:solidFill>
                      <a:srgbClr val="FFFFFF"/>
                    </a:solidFill>
                  </a:tcPr>
                </a:tc>
                <a:tc>
                  <a:txBody>
                    <a:bodyPr/>
                    <a:lstStyle/>
                    <a:p>
                      <a:pPr>
                        <a:defRPr sz="800">
                          <a:solidFill>
                            <a:srgbClr val="333333"/>
                          </a:solidFill>
                        </a:defRPr>
                      </a:pPr>
                      <a:r>
                        <a:t>2048m</a:t>
                      </a:r>
                    </a:p>
                  </a:txBody>
                  <a:tcPr>
                    <a:solidFill>
                      <a:srgbClr val="FFFFFF"/>
                    </a:solidFill>
                  </a:tcPr>
                </a:tc>
                <a:tc>
                  <a:txBody>
                    <a:bodyPr/>
                    <a:lstStyle/>
                    <a:p>
                      <a:pPr>
                        <a:defRPr sz="800">
                          <a:solidFill>
                            <a:srgbClr val="333333"/>
                          </a:solidFill>
                        </a:defRPr>
                      </a:pPr>
                      <a:r>
                        <a:t>2048m</a:t>
                      </a:r>
                    </a:p>
                  </a:txBody>
                  <a:tcPr>
                    <a:solidFill>
                      <a:srgbClr val="FFFFFF"/>
                    </a:solidFill>
                  </a:tcPr>
                </a:tc>
                <a:tc>
                  <a:txBody>
                    <a:bodyPr/>
                    <a:lstStyle/>
                    <a:p>
                      <a:pPr>
                        <a:defRPr sz="800">
                          <a:solidFill>
                            <a:srgbClr val="333333"/>
                          </a:solidFill>
                        </a:defRPr>
                      </a:pPr>
                      <a:r>
                        <a:t>고정</a:t>
                      </a:r>
                    </a:p>
                  </a:txBody>
                  <a:tcPr>
                    <a:solidFill>
                      <a:srgbClr val="FFFFFF"/>
                    </a:solidFill>
                  </a:tcPr>
                </a:tc>
                <a:tc>
                  <a:txBody>
                    <a:bodyPr/>
                    <a:lstStyle/>
                    <a:p>
                      <a:pPr>
                        <a:defRPr sz="800">
                          <a:solidFill>
                            <a:srgbClr val="333333"/>
                          </a:solidFill>
                        </a:defRPr>
                      </a:pPr>
                      <a:r>
                        <a:t>미설정</a:t>
                      </a:r>
                    </a:p>
                  </a:txBody>
                  <a:tcPr>
                    <a:solidFill>
                      <a:srgbClr val="FFFFFF"/>
                    </a:solidFill>
                  </a:tcPr>
                </a:tc>
                <a:tc>
                  <a:txBody>
                    <a:bodyPr/>
                    <a:lstStyle/>
                    <a:p>
                      <a:pPr>
                        <a:defRPr sz="800">
                          <a:solidFill>
                            <a:srgbClr val="333333"/>
                          </a:solidFill>
                        </a:defRPr>
                      </a:pPr>
                      <a:r>
                        <a:t>미설정</a:t>
                      </a:r>
                    </a:p>
                  </a:txBody>
                  <a:tcPr>
                    <a:solidFill>
                      <a:srgbClr val="FFFFFF"/>
                    </a:solidFill>
                  </a:tcPr>
                </a:tc>
                <a:tc>
                  <a:txBody>
                    <a:bodyPr/>
                    <a:lstStyle/>
                    <a:p>
                      <a:pPr>
                        <a:defRPr sz="800">
                          <a:solidFill>
                            <a:srgbClr val="333333"/>
                          </a:solidFill>
                        </a:defRPr>
                      </a:pPr>
                      <a:r>
                        <a:t>무제한</a:t>
                      </a:r>
                    </a:p>
                  </a:txBody>
                  <a:tcPr>
                    <a:solidFill>
                      <a:srgbClr val="FFFFFF"/>
                    </a:solidFill>
                  </a:tcPr>
                </a:tc>
              </a:tr>
              <a:tr h="274319">
                <a:tc>
                  <a:txBody>
                    <a:bodyPr/>
                    <a:lstStyle/>
                    <a:p>
                      <a:pPr>
                        <a:defRPr sz="800">
                          <a:solidFill>
                            <a:srgbClr val="333333"/>
                          </a:solidFill>
                        </a:defRPr>
                      </a:pPr>
                      <a:r>
                        <a:t>주차서비스</a:t>
                      </a:r>
                    </a:p>
                  </a:txBody>
                  <a:tcPr>
                    <a:solidFill>
                      <a:srgbClr val="F2F2F2"/>
                    </a:solidFill>
                  </a:tcPr>
                </a:tc>
                <a:tc>
                  <a:txBody>
                    <a:bodyPr/>
                    <a:lstStyle/>
                    <a:p>
                      <a:pPr>
                        <a:defRPr sz="800">
                          <a:solidFill>
                            <a:srgbClr val="333333"/>
                          </a:solidFill>
                        </a:defRPr>
                      </a:pPr>
                      <a:r>
                        <a:t>2048m</a:t>
                      </a:r>
                    </a:p>
                  </a:txBody>
                  <a:tcPr>
                    <a:solidFill>
                      <a:srgbClr val="F2F2F2"/>
                    </a:solidFill>
                  </a:tcPr>
                </a:tc>
                <a:tc>
                  <a:txBody>
                    <a:bodyPr/>
                    <a:lstStyle/>
                    <a:p>
                      <a:pPr>
                        <a:defRPr sz="800">
                          <a:solidFill>
                            <a:srgbClr val="333333"/>
                          </a:solidFill>
                        </a:defRPr>
                      </a:pPr>
                      <a:r>
                        <a:t>4096m</a:t>
                      </a:r>
                    </a:p>
                  </a:txBody>
                  <a:tcPr>
                    <a:solidFill>
                      <a:srgbClr val="F2F2F2"/>
                    </a:solidFill>
                  </a:tcPr>
                </a:tc>
                <a:tc>
                  <a:txBody>
                    <a:bodyPr/>
                    <a:lstStyle/>
                    <a:p>
                      <a:pPr>
                        <a:defRPr sz="800">
                          <a:solidFill>
                            <a:srgbClr val="333333"/>
                          </a:solidFill>
                        </a:defRPr>
                      </a:pPr>
                      <a:r>
                        <a:t>가변</a:t>
                      </a:r>
                    </a:p>
                  </a:txBody>
                  <a:tcPr>
                    <a:solidFill>
                      <a:srgbClr val="F2F2F2"/>
                    </a:solidFill>
                  </a:tcPr>
                </a:tc>
                <a:tc>
                  <a:txBody>
                    <a:bodyPr/>
                    <a:lstStyle/>
                    <a:p>
                      <a:pPr>
                        <a:defRPr sz="800">
                          <a:solidFill>
                            <a:srgbClr val="333333"/>
                          </a:solidFill>
                        </a:defRPr>
                      </a:pPr>
                      <a:r>
                        <a:t>미기입</a:t>
                      </a:r>
                    </a:p>
                  </a:txBody>
                  <a:tcPr>
                    <a:solidFill>
                      <a:srgbClr val="F2F2F2"/>
                    </a:solidFill>
                  </a:tcPr>
                </a:tc>
                <a:tc>
                  <a:txBody>
                    <a:bodyPr/>
                    <a:lstStyle/>
                    <a:p>
                      <a:pPr>
                        <a:defRPr sz="800">
                          <a:solidFill>
                            <a:srgbClr val="333333"/>
                          </a:solidFill>
                        </a:defRPr>
                      </a:pPr>
                      <a:r>
                        <a:t>미기입</a:t>
                      </a:r>
                    </a:p>
                  </a:txBody>
                  <a:tcPr>
                    <a:solidFill>
                      <a:srgbClr val="F2F2F2"/>
                    </a:solidFill>
                  </a:tcPr>
                </a:tc>
                <a:tc>
                  <a:txBody>
                    <a:bodyPr/>
                    <a:lstStyle/>
                    <a:p>
                      <a:pPr>
                        <a:defRPr sz="800" b="1">
                          <a:solidFill>
                            <a:srgbClr val="CC0000"/>
                          </a:solidFill>
                        </a:defRPr>
                      </a:pPr>
                      <a:r>
                        <a:t>리사이즈 위험</a:t>
                      </a:r>
                    </a:p>
                  </a:txBody>
                  <a:tcPr>
                    <a:solidFill>
                      <a:srgbClr val="F2F2F2"/>
                    </a:solidFill>
                  </a:tcPr>
                </a:tc>
              </a:tr>
              <a:tr h="274319">
                <a:tc>
                  <a:txBody>
                    <a:bodyPr/>
                    <a:lstStyle/>
                    <a:p>
                      <a:pPr>
                        <a:defRPr sz="800">
                          <a:solidFill>
                            <a:srgbClr val="333333"/>
                          </a:solidFill>
                        </a:defRPr>
                      </a:pPr>
                      <a:r>
                        <a:t>현금 NIBS</a:t>
                      </a:r>
                    </a:p>
                  </a:txBody>
                  <a:tcPr>
                    <a:solidFill>
                      <a:srgbClr val="FFFFFF"/>
                    </a:solidFill>
                  </a:tcPr>
                </a:tc>
                <a:tc>
                  <a:txBody>
                    <a:bodyPr/>
                    <a:lstStyle/>
                    <a:p>
                      <a:pPr>
                        <a:defRPr sz="800">
                          <a:solidFill>
                            <a:srgbClr val="333333"/>
                          </a:solidFill>
                        </a:defRPr>
                      </a:pPr>
                      <a:r>
                        <a:t>8192m</a:t>
                      </a:r>
                    </a:p>
                  </a:txBody>
                  <a:tcPr>
                    <a:solidFill>
                      <a:srgbClr val="FFFFFF"/>
                    </a:solidFill>
                  </a:tcPr>
                </a:tc>
                <a:tc>
                  <a:txBody>
                    <a:bodyPr/>
                    <a:lstStyle/>
                    <a:p>
                      <a:pPr>
                        <a:defRPr sz="800">
                          <a:solidFill>
                            <a:srgbClr val="333333"/>
                          </a:solidFill>
                        </a:defRPr>
                      </a:pPr>
                      <a:r>
                        <a:t>8192m</a:t>
                      </a:r>
                    </a:p>
                  </a:txBody>
                  <a:tcPr>
                    <a:solidFill>
                      <a:srgbClr val="FFFFFF"/>
                    </a:solidFill>
                  </a:tcPr>
                </a:tc>
                <a:tc>
                  <a:txBody>
                    <a:bodyPr/>
                    <a:lstStyle/>
                    <a:p>
                      <a:pPr>
                        <a:defRPr sz="800">
                          <a:solidFill>
                            <a:srgbClr val="333333"/>
                          </a:solidFill>
                        </a:defRPr>
                      </a:pPr>
                      <a:r>
                        <a:t>고정</a:t>
                      </a:r>
                    </a:p>
                  </a:txBody>
                  <a:tcPr>
                    <a:solidFill>
                      <a:srgbClr val="FFFFFF"/>
                    </a:solidFill>
                  </a:tcPr>
                </a:tc>
                <a:tc>
                  <a:txBody>
                    <a:bodyPr/>
                    <a:lstStyle/>
                    <a:p>
                      <a:pPr>
                        <a:defRPr sz="800">
                          <a:solidFill>
                            <a:srgbClr val="333333"/>
                          </a:solidFill>
                        </a:defRPr>
                      </a:pPr>
                      <a:r>
                        <a:t>2048m</a:t>
                      </a:r>
                    </a:p>
                  </a:txBody>
                  <a:tcPr>
                    <a:solidFill>
                      <a:srgbClr val="FFFFFF"/>
                    </a:solidFill>
                  </a:tcPr>
                </a:tc>
                <a:tc>
                  <a:txBody>
                    <a:bodyPr/>
                    <a:lstStyle/>
                    <a:p>
                      <a:pPr>
                        <a:defRPr sz="800">
                          <a:solidFill>
                            <a:srgbClr val="333333"/>
                          </a:solidFill>
                        </a:defRPr>
                      </a:pPr>
                      <a:r>
                        <a:t>미기재</a:t>
                      </a:r>
                    </a:p>
                  </a:txBody>
                  <a:tcPr>
                    <a:solidFill>
                      <a:srgbClr val="FFFFFF"/>
                    </a:solidFill>
                  </a:tcPr>
                </a:tc>
                <a:tc>
                  <a:txBody>
                    <a:bodyPr/>
                    <a:lstStyle/>
                    <a:p>
                      <a:pPr>
                        <a:defRPr sz="800">
                          <a:solidFill>
                            <a:srgbClr val="333333"/>
                          </a:solidFill>
                        </a:defRPr>
                      </a:pPr>
                      <a:r>
                        <a:t>Max 누락</a:t>
                      </a:r>
                    </a:p>
                  </a:txBody>
                  <a:tcPr>
                    <a:solidFill>
                      <a:srgbClr val="FFFFFF"/>
                    </a:solidFill>
                  </a:tcPr>
                </a:tc>
              </a:tr>
              <a:tr h="274319">
                <a:tc>
                  <a:txBody>
                    <a:bodyPr/>
                    <a:lstStyle/>
                    <a:p>
                      <a:pPr>
                        <a:defRPr sz="800">
                          <a:solidFill>
                            <a:srgbClr val="333333"/>
                          </a:solidFill>
                        </a:defRPr>
                      </a:pPr>
                      <a:r>
                        <a:t>현금 CLS</a:t>
                      </a:r>
                    </a:p>
                  </a:txBody>
                  <a:tcPr>
                    <a:solidFill>
                      <a:srgbClr val="FFE0E0"/>
                    </a:solidFill>
                  </a:tcPr>
                </a:tc>
                <a:tc>
                  <a:txBody>
                    <a:bodyPr/>
                    <a:lstStyle/>
                    <a:p>
                      <a:pPr>
                        <a:defRPr sz="800">
                          <a:solidFill>
                            <a:srgbClr val="333333"/>
                          </a:solidFill>
                        </a:defRPr>
                      </a:pPr>
                      <a:r>
                        <a:t>2048m</a:t>
                      </a:r>
                    </a:p>
                  </a:txBody>
                  <a:tcPr>
                    <a:solidFill>
                      <a:srgbClr val="FFE0E0"/>
                    </a:solidFill>
                  </a:tcPr>
                </a:tc>
                <a:tc>
                  <a:txBody>
                    <a:bodyPr/>
                    <a:lstStyle/>
                    <a:p>
                      <a:pPr>
                        <a:defRPr sz="800">
                          <a:solidFill>
                            <a:srgbClr val="333333"/>
                          </a:solidFill>
                        </a:defRPr>
                      </a:pPr>
                      <a:r>
                        <a:t>2048m</a:t>
                      </a:r>
                    </a:p>
                  </a:txBody>
                  <a:tcPr>
                    <a:solidFill>
                      <a:srgbClr val="FFE0E0"/>
                    </a:solidFill>
                  </a:tcPr>
                </a:tc>
                <a:tc>
                  <a:txBody>
                    <a:bodyPr/>
                    <a:lstStyle/>
                    <a:p>
                      <a:pPr>
                        <a:defRPr sz="800">
                          <a:solidFill>
                            <a:srgbClr val="333333"/>
                          </a:solidFill>
                        </a:defRPr>
                      </a:pPr>
                      <a:r>
                        <a:t>고정</a:t>
                      </a:r>
                    </a:p>
                  </a:txBody>
                  <a:tcPr>
                    <a:solidFill>
                      <a:srgbClr val="FFE0E0"/>
                    </a:solidFill>
                  </a:tcPr>
                </a:tc>
                <a:tc>
                  <a:txBody>
                    <a:bodyPr/>
                    <a:lstStyle/>
                    <a:p>
                      <a:pPr>
                        <a:defRPr sz="800">
                          <a:solidFill>
                            <a:srgbClr val="333333"/>
                          </a:solidFill>
                        </a:defRPr>
                      </a:pPr>
                      <a:r>
                        <a:t>256m</a:t>
                      </a:r>
                    </a:p>
                  </a:txBody>
                  <a:tcPr>
                    <a:solidFill>
                      <a:srgbClr val="FFE0E0"/>
                    </a:solidFill>
                  </a:tcPr>
                </a:tc>
                <a:tc>
                  <a:txBody>
                    <a:bodyPr/>
                    <a:lstStyle/>
                    <a:p>
                      <a:pPr>
                        <a:defRPr sz="800">
                          <a:solidFill>
                            <a:srgbClr val="333333"/>
                          </a:solidFill>
                        </a:defRPr>
                      </a:pPr>
                      <a:r>
                        <a:t>16m</a:t>
                      </a:r>
                    </a:p>
                  </a:txBody>
                  <a:tcPr>
                    <a:solidFill>
                      <a:srgbClr val="FFE0E0"/>
                    </a:solidFill>
                  </a:tcPr>
                </a:tc>
                <a:tc>
                  <a:txBody>
                    <a:bodyPr/>
                    <a:lstStyle/>
                    <a:p>
                      <a:pPr>
                        <a:defRPr sz="800" b="1">
                          <a:solidFill>
                            <a:srgbClr val="CC0000"/>
                          </a:solidFill>
                        </a:defRPr>
                      </a:pPr>
                      <a:r>
                        <a:t>**Min&gt;Max 역전**</a:t>
                      </a:r>
                    </a:p>
                  </a:txBody>
                  <a:tcPr>
                    <a:solidFill>
                      <a:srgbClr val="FFE0E0"/>
                    </a:solidFill>
                  </a:tcPr>
                </a:tc>
              </a:tr>
              <a:tr h="274319">
                <a:tc>
                  <a:txBody>
                    <a:bodyPr/>
                    <a:lstStyle/>
                    <a:p>
                      <a:pPr>
                        <a:defRPr sz="800">
                          <a:solidFill>
                            <a:srgbClr val="333333"/>
                          </a:solidFill>
                        </a:defRPr>
                      </a:pPr>
                      <a:r>
                        <a:t>현금 NPS</a:t>
                      </a:r>
                    </a:p>
                  </a:txBody>
                  <a:tcPr>
                    <a:solidFill>
                      <a:srgbClr val="FFE0E0"/>
                    </a:solidFill>
                  </a:tcPr>
                </a:tc>
                <a:tc>
                  <a:txBody>
                    <a:bodyPr/>
                    <a:lstStyle/>
                    <a:p>
                      <a:pPr>
                        <a:defRPr sz="800">
                          <a:solidFill>
                            <a:srgbClr val="333333"/>
                          </a:solidFill>
                        </a:defRPr>
                      </a:pPr>
                      <a:r>
                        <a:t>1024m</a:t>
                      </a:r>
                    </a:p>
                  </a:txBody>
                  <a:tcPr>
                    <a:solidFill>
                      <a:srgbClr val="FFE0E0"/>
                    </a:solidFill>
                  </a:tcPr>
                </a:tc>
                <a:tc>
                  <a:txBody>
                    <a:bodyPr/>
                    <a:lstStyle/>
                    <a:p>
                      <a:pPr>
                        <a:defRPr sz="800">
                          <a:solidFill>
                            <a:srgbClr val="333333"/>
                          </a:solidFill>
                        </a:defRPr>
                      </a:pPr>
                      <a:r>
                        <a:t>1024m</a:t>
                      </a:r>
                    </a:p>
                  </a:txBody>
                  <a:tcPr>
                    <a:solidFill>
                      <a:srgbClr val="FFE0E0"/>
                    </a:solidFill>
                  </a:tcPr>
                </a:tc>
                <a:tc>
                  <a:txBody>
                    <a:bodyPr/>
                    <a:lstStyle/>
                    <a:p>
                      <a:pPr>
                        <a:defRPr sz="800">
                          <a:solidFill>
                            <a:srgbClr val="333333"/>
                          </a:solidFill>
                        </a:defRPr>
                      </a:pPr>
                      <a:r>
                        <a:t>고정</a:t>
                      </a:r>
                    </a:p>
                  </a:txBody>
                  <a:tcPr>
                    <a:solidFill>
                      <a:srgbClr val="FFE0E0"/>
                    </a:solidFill>
                  </a:tcPr>
                </a:tc>
                <a:tc>
                  <a:txBody>
                    <a:bodyPr/>
                    <a:lstStyle/>
                    <a:p>
                      <a:pPr>
                        <a:defRPr sz="800">
                          <a:solidFill>
                            <a:srgbClr val="333333"/>
                          </a:solidFill>
                        </a:defRPr>
                      </a:pPr>
                      <a:r>
                        <a:t>256m</a:t>
                      </a:r>
                    </a:p>
                  </a:txBody>
                  <a:tcPr>
                    <a:solidFill>
                      <a:srgbClr val="FFE0E0"/>
                    </a:solidFill>
                  </a:tcPr>
                </a:tc>
                <a:tc>
                  <a:txBody>
                    <a:bodyPr/>
                    <a:lstStyle/>
                    <a:p>
                      <a:pPr>
                        <a:defRPr sz="800">
                          <a:solidFill>
                            <a:srgbClr val="333333"/>
                          </a:solidFill>
                        </a:defRPr>
                      </a:pPr>
                      <a:r>
                        <a:t>16m</a:t>
                      </a:r>
                    </a:p>
                  </a:txBody>
                  <a:tcPr>
                    <a:solidFill>
                      <a:srgbClr val="FFE0E0"/>
                    </a:solidFill>
                  </a:tcPr>
                </a:tc>
                <a:tc>
                  <a:txBody>
                    <a:bodyPr/>
                    <a:lstStyle/>
                    <a:p>
                      <a:pPr>
                        <a:defRPr sz="800" b="1">
                          <a:solidFill>
                            <a:srgbClr val="CC0000"/>
                          </a:solidFill>
                        </a:defRPr>
                      </a:pPr>
                      <a:r>
                        <a:t>**Min&gt;Max 역전**</a:t>
                      </a:r>
                    </a:p>
                  </a:txBody>
                  <a:tcPr>
                    <a:solidFill>
                      <a:srgbClr val="FFE0E0"/>
                    </a:solidFill>
                  </a:tcPr>
                </a:tc>
              </a:tr>
              <a:tr h="274319">
                <a:tc>
                  <a:txBody>
                    <a:bodyPr/>
                    <a:lstStyle/>
                    <a:p>
                      <a:pPr>
                        <a:defRPr sz="800">
                          <a:solidFill>
                            <a:srgbClr val="333333"/>
                          </a:solidFill>
                        </a:defRPr>
                      </a:pPr>
                      <a:r>
                        <a:t>현금 PARTNER</a:t>
                      </a:r>
                    </a:p>
                  </a:txBody>
                  <a:tcPr>
                    <a:solidFill>
                      <a:srgbClr val="FFE0E0"/>
                    </a:solidFill>
                  </a:tcPr>
                </a:tc>
                <a:tc>
                  <a:txBody>
                    <a:bodyPr/>
                    <a:lstStyle/>
                    <a:p>
                      <a:pPr>
                        <a:defRPr sz="800">
                          <a:solidFill>
                            <a:srgbClr val="333333"/>
                          </a:solidFill>
                        </a:defRPr>
                      </a:pPr>
                      <a:r>
                        <a:t>1024m</a:t>
                      </a:r>
                    </a:p>
                  </a:txBody>
                  <a:tcPr>
                    <a:solidFill>
                      <a:srgbClr val="FFE0E0"/>
                    </a:solidFill>
                  </a:tcPr>
                </a:tc>
                <a:tc>
                  <a:txBody>
                    <a:bodyPr/>
                    <a:lstStyle/>
                    <a:p>
                      <a:pPr>
                        <a:defRPr sz="800">
                          <a:solidFill>
                            <a:srgbClr val="333333"/>
                          </a:solidFill>
                        </a:defRPr>
                      </a:pPr>
                      <a:r>
                        <a:t>5120m</a:t>
                      </a:r>
                    </a:p>
                  </a:txBody>
                  <a:tcPr>
                    <a:solidFill>
                      <a:srgbClr val="FFE0E0"/>
                    </a:solidFill>
                  </a:tcPr>
                </a:tc>
                <a:tc>
                  <a:txBody>
                    <a:bodyPr/>
                    <a:lstStyle/>
                    <a:p>
                      <a:pPr>
                        <a:defRPr sz="800">
                          <a:solidFill>
                            <a:srgbClr val="333333"/>
                          </a:solidFill>
                        </a:defRPr>
                      </a:pPr>
                      <a:r>
                        <a:t>동적</a:t>
                      </a:r>
                    </a:p>
                  </a:txBody>
                  <a:tcPr>
                    <a:solidFill>
                      <a:srgbClr val="FFE0E0"/>
                    </a:solidFill>
                  </a:tcPr>
                </a:tc>
                <a:tc>
                  <a:txBody>
                    <a:bodyPr/>
                    <a:lstStyle/>
                    <a:p>
                      <a:pPr>
                        <a:defRPr sz="800">
                          <a:solidFill>
                            <a:srgbClr val="333333"/>
                          </a:solidFill>
                        </a:defRPr>
                      </a:pPr>
                      <a:r>
                        <a:t>512m</a:t>
                      </a:r>
                    </a:p>
                  </a:txBody>
                  <a:tcPr>
                    <a:solidFill>
                      <a:srgbClr val="FFE0E0"/>
                    </a:solidFill>
                  </a:tcPr>
                </a:tc>
                <a:tc>
                  <a:txBody>
                    <a:bodyPr/>
                    <a:lstStyle/>
                    <a:p>
                      <a:pPr>
                        <a:defRPr sz="800">
                          <a:solidFill>
                            <a:srgbClr val="333333"/>
                          </a:solidFill>
                        </a:defRPr>
                      </a:pPr>
                      <a:r>
                        <a:t>16m</a:t>
                      </a:r>
                    </a:p>
                  </a:txBody>
                  <a:tcPr>
                    <a:solidFill>
                      <a:srgbClr val="FFE0E0"/>
                    </a:solidFill>
                  </a:tcPr>
                </a:tc>
                <a:tc>
                  <a:txBody>
                    <a:bodyPr/>
                    <a:lstStyle/>
                    <a:p>
                      <a:pPr>
                        <a:defRPr sz="800" b="1">
                          <a:solidFill>
                            <a:srgbClr val="CC0000"/>
                          </a:solidFill>
                        </a:defRPr>
                      </a:pPr>
                      <a:r>
                        <a:t>**Min&gt;Max 역전**</a:t>
                      </a:r>
                    </a:p>
                  </a:txBody>
                  <a:tcPr>
                    <a:solidFill>
                      <a:srgbClr val="FFE0E0"/>
                    </a:solidFill>
                  </a:tcPr>
                </a:tc>
              </a:tr>
              <a:tr h="274319">
                <a:tc>
                  <a:txBody>
                    <a:bodyPr/>
                    <a:lstStyle/>
                    <a:p>
                      <a:pPr>
                        <a:defRPr sz="800">
                          <a:solidFill>
                            <a:srgbClr val="333333"/>
                          </a:solidFill>
                        </a:defRPr>
                      </a:pPr>
                      <a:r>
                        <a:t>현금 EAUDIT</a:t>
                      </a:r>
                    </a:p>
                  </a:txBody>
                  <a:tcPr>
                    <a:solidFill>
                      <a:srgbClr val="FFE0E0"/>
                    </a:solidFill>
                  </a:tcPr>
                </a:tc>
                <a:tc>
                  <a:txBody>
                    <a:bodyPr/>
                    <a:lstStyle/>
                    <a:p>
                      <a:pPr>
                        <a:defRPr sz="800">
                          <a:solidFill>
                            <a:srgbClr val="333333"/>
                          </a:solidFill>
                        </a:defRPr>
                      </a:pPr>
                      <a:r>
                        <a:t>1024m</a:t>
                      </a:r>
                    </a:p>
                  </a:txBody>
                  <a:tcPr>
                    <a:solidFill>
                      <a:srgbClr val="FFE0E0"/>
                    </a:solidFill>
                  </a:tcPr>
                </a:tc>
                <a:tc>
                  <a:txBody>
                    <a:bodyPr/>
                    <a:lstStyle/>
                    <a:p>
                      <a:pPr>
                        <a:defRPr sz="800">
                          <a:solidFill>
                            <a:srgbClr val="333333"/>
                          </a:solidFill>
                        </a:defRPr>
                      </a:pPr>
                      <a:r>
                        <a:t>5120m</a:t>
                      </a:r>
                    </a:p>
                  </a:txBody>
                  <a:tcPr>
                    <a:solidFill>
                      <a:srgbClr val="FFE0E0"/>
                    </a:solidFill>
                  </a:tcPr>
                </a:tc>
                <a:tc>
                  <a:txBody>
                    <a:bodyPr/>
                    <a:lstStyle/>
                    <a:p>
                      <a:pPr>
                        <a:defRPr sz="800">
                          <a:solidFill>
                            <a:srgbClr val="333333"/>
                          </a:solidFill>
                        </a:defRPr>
                      </a:pPr>
                      <a:r>
                        <a:t>동적</a:t>
                      </a:r>
                    </a:p>
                  </a:txBody>
                  <a:tcPr>
                    <a:solidFill>
                      <a:srgbClr val="FFE0E0"/>
                    </a:solidFill>
                  </a:tcPr>
                </a:tc>
                <a:tc>
                  <a:txBody>
                    <a:bodyPr/>
                    <a:lstStyle/>
                    <a:p>
                      <a:pPr>
                        <a:defRPr sz="800">
                          <a:solidFill>
                            <a:srgbClr val="333333"/>
                          </a:solidFill>
                        </a:defRPr>
                      </a:pPr>
                      <a:r>
                        <a:t>512m</a:t>
                      </a:r>
                    </a:p>
                  </a:txBody>
                  <a:tcPr>
                    <a:solidFill>
                      <a:srgbClr val="FFE0E0"/>
                    </a:solidFill>
                  </a:tcPr>
                </a:tc>
                <a:tc>
                  <a:txBody>
                    <a:bodyPr/>
                    <a:lstStyle/>
                    <a:p>
                      <a:pPr>
                        <a:defRPr sz="800">
                          <a:solidFill>
                            <a:srgbClr val="333333"/>
                          </a:solidFill>
                        </a:defRPr>
                      </a:pPr>
                      <a:r>
                        <a:t>16m</a:t>
                      </a:r>
                    </a:p>
                  </a:txBody>
                  <a:tcPr>
                    <a:solidFill>
                      <a:srgbClr val="FFE0E0"/>
                    </a:solidFill>
                  </a:tcPr>
                </a:tc>
                <a:tc>
                  <a:txBody>
                    <a:bodyPr/>
                    <a:lstStyle/>
                    <a:p>
                      <a:pPr>
                        <a:defRPr sz="800" b="1">
                          <a:solidFill>
                            <a:srgbClr val="CC0000"/>
                          </a:solidFill>
                        </a:defRPr>
                      </a:pPr>
                      <a:r>
                        <a:t>**Min&gt;Max 역전**</a:t>
                      </a:r>
                    </a:p>
                  </a:txBody>
                  <a:tcPr>
                    <a:solidFill>
                      <a:srgbClr val="FFE0E0"/>
                    </a:solidFill>
                  </a:tcPr>
                </a:tc>
              </a:tr>
              <a:tr h="274319">
                <a:tc>
                  <a:txBody>
                    <a:bodyPr/>
                    <a:lstStyle/>
                    <a:p>
                      <a:pPr>
                        <a:defRPr sz="800">
                          <a:solidFill>
                            <a:srgbClr val="333333"/>
                          </a:solidFill>
                        </a:defRPr>
                      </a:pPr>
                      <a:r>
                        <a:t>현금 MOBILE</a:t>
                      </a:r>
                    </a:p>
                  </a:txBody>
                  <a:tcPr>
                    <a:solidFill>
                      <a:srgbClr val="FFE0E0"/>
                    </a:solidFill>
                  </a:tcPr>
                </a:tc>
                <a:tc>
                  <a:txBody>
                    <a:bodyPr/>
                    <a:lstStyle/>
                    <a:p>
                      <a:pPr>
                        <a:defRPr sz="800">
                          <a:solidFill>
                            <a:srgbClr val="333333"/>
                          </a:solidFill>
                        </a:defRPr>
                      </a:pPr>
                      <a:r>
                        <a:t>2048m</a:t>
                      </a:r>
                    </a:p>
                  </a:txBody>
                  <a:tcPr>
                    <a:solidFill>
                      <a:srgbClr val="FFE0E0"/>
                    </a:solidFill>
                  </a:tcPr>
                </a:tc>
                <a:tc>
                  <a:txBody>
                    <a:bodyPr/>
                    <a:lstStyle/>
                    <a:p>
                      <a:pPr>
                        <a:defRPr sz="800">
                          <a:solidFill>
                            <a:srgbClr val="333333"/>
                          </a:solidFill>
                        </a:defRPr>
                      </a:pPr>
                      <a:r>
                        <a:t>4096m</a:t>
                      </a:r>
                    </a:p>
                  </a:txBody>
                  <a:tcPr>
                    <a:solidFill>
                      <a:srgbClr val="FFE0E0"/>
                    </a:solidFill>
                  </a:tcPr>
                </a:tc>
                <a:tc>
                  <a:txBody>
                    <a:bodyPr/>
                    <a:lstStyle/>
                    <a:p>
                      <a:pPr>
                        <a:defRPr sz="800">
                          <a:solidFill>
                            <a:srgbClr val="333333"/>
                          </a:solidFill>
                        </a:defRPr>
                      </a:pPr>
                      <a:r>
                        <a:t>동적</a:t>
                      </a:r>
                    </a:p>
                  </a:txBody>
                  <a:tcPr>
                    <a:solidFill>
                      <a:srgbClr val="FFE0E0"/>
                    </a:solidFill>
                  </a:tcPr>
                </a:tc>
                <a:tc>
                  <a:txBody>
                    <a:bodyPr/>
                    <a:lstStyle/>
                    <a:p>
                      <a:pPr>
                        <a:defRPr sz="800">
                          <a:solidFill>
                            <a:srgbClr val="333333"/>
                          </a:solidFill>
                        </a:defRPr>
                      </a:pPr>
                      <a:r>
                        <a:t>512m</a:t>
                      </a:r>
                    </a:p>
                  </a:txBody>
                  <a:tcPr>
                    <a:solidFill>
                      <a:srgbClr val="FFE0E0"/>
                    </a:solidFill>
                  </a:tcPr>
                </a:tc>
                <a:tc>
                  <a:txBody>
                    <a:bodyPr/>
                    <a:lstStyle/>
                    <a:p>
                      <a:pPr>
                        <a:defRPr sz="800">
                          <a:solidFill>
                            <a:srgbClr val="333333"/>
                          </a:solidFill>
                        </a:defRPr>
                      </a:pPr>
                      <a:r>
                        <a:t>16m</a:t>
                      </a:r>
                    </a:p>
                  </a:txBody>
                  <a:tcPr>
                    <a:solidFill>
                      <a:srgbClr val="FFE0E0"/>
                    </a:solidFill>
                  </a:tcPr>
                </a:tc>
                <a:tc>
                  <a:txBody>
                    <a:bodyPr/>
                    <a:lstStyle/>
                    <a:p>
                      <a:pPr>
                        <a:defRPr sz="800" b="1">
                          <a:solidFill>
                            <a:srgbClr val="CC0000"/>
                          </a:solidFill>
                        </a:defRPr>
                      </a:pPr>
                      <a:r>
                        <a:t>**Min&gt;Max 역전**</a:t>
                      </a:r>
                    </a:p>
                  </a:txBody>
                  <a:tcPr>
                    <a:solidFill>
                      <a:srgbClr val="FFE0E0"/>
                    </a:solidFill>
                  </a:tcPr>
                </a:tc>
              </a:tr>
              <a:tr h="274330">
                <a:tc>
                  <a:txBody>
                    <a:bodyPr/>
                    <a:lstStyle/>
                    <a:p>
                      <a:pPr>
                        <a:defRPr sz="800">
                          <a:solidFill>
                            <a:srgbClr val="333333"/>
                          </a:solidFill>
                        </a:defRPr>
                      </a:pPr>
                      <a:r>
                        <a:t>현금 POS</a:t>
                      </a:r>
                    </a:p>
                  </a:txBody>
                  <a:tcPr>
                    <a:solidFill>
                      <a:srgbClr val="FFE0E0"/>
                    </a:solidFill>
                  </a:tcPr>
                </a:tc>
                <a:tc>
                  <a:txBody>
                    <a:bodyPr/>
                    <a:lstStyle/>
                    <a:p>
                      <a:pPr>
                        <a:defRPr sz="800">
                          <a:solidFill>
                            <a:srgbClr val="333333"/>
                          </a:solidFill>
                        </a:defRPr>
                      </a:pPr>
                      <a:r>
                        <a:t>1024m</a:t>
                      </a:r>
                    </a:p>
                  </a:txBody>
                  <a:tcPr>
                    <a:solidFill>
                      <a:srgbClr val="FFE0E0"/>
                    </a:solidFill>
                  </a:tcPr>
                </a:tc>
                <a:tc>
                  <a:txBody>
                    <a:bodyPr/>
                    <a:lstStyle/>
                    <a:p>
                      <a:pPr>
                        <a:defRPr sz="800">
                          <a:solidFill>
                            <a:srgbClr val="333333"/>
                          </a:solidFill>
                        </a:defRPr>
                      </a:pPr>
                      <a:r>
                        <a:t>2048m</a:t>
                      </a:r>
                    </a:p>
                  </a:txBody>
                  <a:tcPr>
                    <a:solidFill>
                      <a:srgbClr val="FFE0E0"/>
                    </a:solidFill>
                  </a:tcPr>
                </a:tc>
                <a:tc>
                  <a:txBody>
                    <a:bodyPr/>
                    <a:lstStyle/>
                    <a:p>
                      <a:pPr>
                        <a:defRPr sz="800">
                          <a:solidFill>
                            <a:srgbClr val="333333"/>
                          </a:solidFill>
                        </a:defRPr>
                      </a:pPr>
                      <a:r>
                        <a:t>동적</a:t>
                      </a:r>
                    </a:p>
                  </a:txBody>
                  <a:tcPr>
                    <a:solidFill>
                      <a:srgbClr val="FFE0E0"/>
                    </a:solidFill>
                  </a:tcPr>
                </a:tc>
                <a:tc>
                  <a:txBody>
                    <a:bodyPr/>
                    <a:lstStyle/>
                    <a:p>
                      <a:pPr>
                        <a:defRPr sz="800">
                          <a:solidFill>
                            <a:srgbClr val="333333"/>
                          </a:solidFill>
                        </a:defRPr>
                      </a:pPr>
                      <a:r>
                        <a:t>256m</a:t>
                      </a:r>
                    </a:p>
                  </a:txBody>
                  <a:tcPr>
                    <a:solidFill>
                      <a:srgbClr val="FFE0E0"/>
                    </a:solidFill>
                  </a:tcPr>
                </a:tc>
                <a:tc>
                  <a:txBody>
                    <a:bodyPr/>
                    <a:lstStyle/>
                    <a:p>
                      <a:pPr>
                        <a:defRPr sz="800">
                          <a:solidFill>
                            <a:srgbClr val="333333"/>
                          </a:solidFill>
                        </a:defRPr>
                      </a:pPr>
                      <a:r>
                        <a:t>16m</a:t>
                      </a:r>
                    </a:p>
                  </a:txBody>
                  <a:tcPr>
                    <a:solidFill>
                      <a:srgbClr val="FFE0E0"/>
                    </a:solidFill>
                  </a:tcPr>
                </a:tc>
                <a:tc>
                  <a:txBody>
                    <a:bodyPr/>
                    <a:lstStyle/>
                    <a:p>
                      <a:pPr>
                        <a:defRPr sz="800" b="1">
                          <a:solidFill>
                            <a:srgbClr val="CC0000"/>
                          </a:solidFill>
                        </a:defRPr>
                      </a:pPr>
                      <a:r>
                        <a:t>**Min&gt;Max 역전**</a:t>
                      </a:r>
                    </a:p>
                  </a:txBody>
                  <a:tcPr>
                    <a:solidFill>
                      <a:srgbClr val="FFE0E0"/>
                    </a:solidFill>
                  </a:tcPr>
                </a:tc>
              </a:tr>
            </a:tbl>
          </a:graphicData>
        </a:graphic>
      </p:graphicFrame>
      <p:sp>
        <p:nvSpPr>
          <p:cNvPr id="5" name="TextBox 4"/>
          <p:cNvSpPr txBox="1"/>
          <p:nvPr/>
        </p:nvSpPr>
        <p:spPr>
          <a:xfrm>
            <a:off x="457200" y="4297680"/>
            <a:ext cx="10972800" cy="320040"/>
          </a:xfrm>
          <a:prstGeom prst="rect">
            <a:avLst/>
          </a:prstGeom>
          <a:noFill/>
        </p:spPr>
        <p:txBody>
          <a:bodyPr wrap="none">
            <a:spAutoFit/>
          </a:bodyPr>
          <a:lstStyle/>
          <a:p>
            <a:pPr>
              <a:defRPr sz="1300" b="1" u="sng">
                <a:solidFill>
                  <a:srgbClr val="CC6600"/>
                </a:solidFill>
              </a:defRPr>
            </a:pPr>
            <a:r>
              <a:t>[Step 2: 당사 진단]</a:t>
            </a:r>
          </a:p>
        </p:txBody>
      </p:sp>
      <p:sp>
        <p:nvSpPr>
          <p:cNvPr id="6" name="TextBox 5"/>
          <p:cNvSpPr txBox="1"/>
          <p:nvPr/>
        </p:nvSpPr>
        <p:spPr>
          <a:xfrm>
            <a:off x="457200" y="4572000"/>
            <a:ext cx="10972800" cy="365760"/>
          </a:xfrm>
          <a:prstGeom prst="rect">
            <a:avLst/>
          </a:prstGeom>
          <a:noFill/>
        </p:spPr>
        <p:txBody>
          <a:bodyPr wrap="square">
            <a:spAutoFit/>
          </a:bodyPr>
          <a:lstStyle/>
          <a:p>
            <a:pPr algn="l">
              <a:defRPr sz="1000" b="0">
                <a:solidFill>
                  <a:srgbClr val="333333"/>
                </a:solidFill>
              </a:defRPr>
            </a:pPr>
            <a:r>
              <a:t>- Heap 표준화: Xms=Xmx 고정 통일. 프로덕션에서 리사이즈 pause 방지.</a:t>
            </a:r>
            <a:br/>
            <a:r>
              <a:t>- Heap 크기: 컨테이너 메모리 50~70% 기준.</a:t>
            </a:r>
            <a:br/>
            <a:r>
              <a:t>- Metaspace 역전: Max 16m은 입력 오류. 512m 이상 또는 미설정으로 정정 필요.</a:t>
            </a:r>
          </a:p>
        </p:txBody>
      </p:sp>
      <p:sp>
        <p:nvSpPr>
          <p:cNvPr id="7" name="TextBox 6"/>
          <p:cNvSpPr txBox="1"/>
          <p:nvPr/>
        </p:nvSpPr>
        <p:spPr>
          <a:xfrm>
            <a:off x="457200" y="5394960"/>
            <a:ext cx="10972800" cy="320040"/>
          </a:xfrm>
          <a:prstGeom prst="rect">
            <a:avLst/>
          </a:prstGeom>
          <a:noFill/>
        </p:spPr>
        <p:txBody>
          <a:bodyPr wrap="none">
            <a:spAutoFit/>
          </a:bodyPr>
          <a:lstStyle/>
          <a:p>
            <a:pPr>
              <a:defRPr sz="1300" b="1" u="sng">
                <a:solidFill>
                  <a:srgbClr val="003366"/>
                </a:solidFill>
              </a:defRPr>
            </a:pPr>
            <a:r>
              <a:t>[Step 3: 컨설팅사 제언 요청]</a:t>
            </a:r>
          </a:p>
        </p:txBody>
      </p:sp>
      <p:sp>
        <p:nvSpPr>
          <p:cNvPr id="8" name="TextBox 7"/>
          <p:cNvSpPr txBox="1"/>
          <p:nvPr/>
        </p:nvSpPr>
        <p:spPr>
          <a:xfrm>
            <a:off x="457200" y="5669280"/>
            <a:ext cx="10972800" cy="914400"/>
          </a:xfrm>
          <a:prstGeom prst="rect">
            <a:avLst/>
          </a:prstGeom>
          <a:noFill/>
        </p:spPr>
        <p:txBody>
          <a:bodyPr wrap="square">
            <a:spAutoFit/>
          </a:bodyPr>
          <a:lstStyle/>
          <a:p>
            <a:pPr>
              <a:spcAft>
                <a:spcPts val="400"/>
              </a:spcAft>
              <a:defRPr sz="900" b="0">
                <a:solidFill>
                  <a:srgbClr val="333333"/>
                </a:solidFill>
              </a:defRPr>
            </a:pPr>
            <a:r>
              <a:t>Q1: Xms=Xmx 고정이 모든 컨테이너 유형에 동일하게 적용되어야 하는지?</a:t>
            </a:r>
          </a:p>
          <a:p>
            <a:pPr>
              <a:spcAft>
                <a:spcPts val="400"/>
              </a:spcAft>
              <a:defRPr sz="900" b="0">
                <a:solidFill>
                  <a:srgbClr val="333333"/>
                </a:solidFill>
              </a:defRPr>
            </a:pPr>
            <a:r>
              <a:t>Q2: Metaspace Max를 무제한으로 할지 512m 이상으로 제한할지 권장은?</a:t>
            </a:r>
          </a:p>
          <a:p>
            <a:pPr>
              <a:spcAft>
                <a:spcPts val="400"/>
              </a:spcAft>
              <a:defRPr sz="900" b="0">
                <a:solidFill>
                  <a:srgbClr val="333333"/>
                </a:solidFill>
              </a:defRPr>
            </a:pPr>
            <a:r>
              <a:t>Q3: 현금정보계팀 Metaspace 역전 현상의 실제 영향 및 확인 절차?</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square">
            <a:spAutoFit/>
          </a:bodyPr>
          <a:lstStyle/>
          <a:p>
            <a:pPr>
              <a:defRPr sz="2400" b="1">
                <a:solidFill>
                  <a:srgbClr val="1B2A4A"/>
                </a:solidFill>
              </a:defRPr>
            </a:pPr>
            <a:r>
              <a:t>[C-04] Connection Pool 설정 편차 및 Timeout 연계</a:t>
            </a:r>
          </a:p>
        </p:txBody>
      </p:sp>
      <p:sp>
        <p:nvSpPr>
          <p:cNvPr id="3" name="TextBox 2"/>
          <p:cNvSpPr txBox="1"/>
          <p:nvPr/>
        </p:nvSpPr>
        <p:spPr>
          <a:xfrm>
            <a:off x="457200" y="914400"/>
            <a:ext cx="10972800" cy="320040"/>
          </a:xfrm>
          <a:prstGeom prst="rect">
            <a:avLst/>
          </a:prstGeom>
          <a:noFill/>
        </p:spPr>
        <p:txBody>
          <a:bodyPr wrap="none">
            <a:spAutoFit/>
          </a:bodyPr>
          <a:lstStyle/>
          <a:p>
            <a:pPr>
              <a:defRPr sz="1300" b="1" u="sng">
                <a:solidFill>
                  <a:srgbClr val="006D6F"/>
                </a:solidFill>
              </a:defRPr>
            </a:pPr>
            <a:r>
              <a:t>[Step 1: 현황 (Current State)]</a:t>
            </a:r>
          </a:p>
        </p:txBody>
      </p:sp>
      <p:graphicFrame>
        <p:nvGraphicFramePr>
          <p:cNvPr id="4" name="Table 3"/>
          <p:cNvGraphicFramePr>
            <a:graphicFrameLocks noGrp="1"/>
          </p:cNvGraphicFramePr>
          <p:nvPr/>
        </p:nvGraphicFramePr>
        <p:xfrm>
          <a:off x="457200" y="1188720"/>
          <a:ext cx="10972800" cy="2468879"/>
        </p:xfrm>
        <a:graphic>
          <a:graphicData uri="http://schemas.openxmlformats.org/drawingml/2006/table">
            <a:tbl>
              <a:tblPr firstRow="1" bandRow="1">
                <a:tableStyleId>{5C22544A-7EE6-4342-B048-85BDC9FD1C3A}</a:tableStyleId>
              </a:tblPr>
              <a:tblGrid>
                <a:gridCol w="1371600"/>
                <a:gridCol w="1920240"/>
                <a:gridCol w="1920240"/>
                <a:gridCol w="1920240"/>
                <a:gridCol w="1920240"/>
                <a:gridCol w="1920240"/>
              </a:tblGrid>
              <a:tr h="274319">
                <a:tc>
                  <a:txBody>
                    <a:bodyPr/>
                    <a:lstStyle/>
                    <a:p>
                      <a:pPr algn="ctr">
                        <a:defRPr sz="900" b="1">
                          <a:solidFill>
                            <a:srgbClr val="FFFFFF"/>
                          </a:solidFill>
                        </a:defRPr>
                      </a:pPr>
                      <a:r>
                        <a:t>구분</a:t>
                      </a:r>
                    </a:p>
                  </a:txBody>
                  <a:tcPr>
                    <a:solidFill>
                      <a:srgbClr val="1B2A4A"/>
                    </a:solidFill>
                  </a:tcPr>
                </a:tc>
                <a:tc>
                  <a:txBody>
                    <a:bodyPr/>
                    <a:lstStyle/>
                    <a:p>
                      <a:pPr algn="ctr">
                        <a:defRPr sz="900" b="1">
                          <a:solidFill>
                            <a:srgbClr val="FFFFFF"/>
                          </a:solidFill>
                        </a:defRPr>
                      </a:pPr>
                      <a:r>
                        <a:t>플랫폼개발(NP)</a:t>
                      </a:r>
                    </a:p>
                  </a:txBody>
                  <a:tcPr>
                    <a:solidFill>
                      <a:srgbClr val="1B2A4A"/>
                    </a:solidFill>
                  </a:tcPr>
                </a:tc>
                <a:tc>
                  <a:txBody>
                    <a:bodyPr/>
                    <a:lstStyle/>
                    <a:p>
                      <a:pPr algn="ctr">
                        <a:defRPr sz="900" b="1">
                          <a:solidFill>
                            <a:srgbClr val="FFFFFF"/>
                          </a:solidFill>
                        </a:defRPr>
                      </a:pPr>
                      <a:r>
                        <a:t>플랫폼개발(NC)</a:t>
                      </a:r>
                    </a:p>
                  </a:txBody>
                  <a:tcPr>
                    <a:solidFill>
                      <a:srgbClr val="1B2A4A"/>
                    </a:solidFill>
                  </a:tcPr>
                </a:tc>
                <a:tc>
                  <a:txBody>
                    <a:bodyPr/>
                    <a:lstStyle/>
                    <a:p>
                      <a:pPr algn="ctr">
                        <a:defRPr sz="900" b="1">
                          <a:solidFill>
                            <a:srgbClr val="FFFFFF"/>
                          </a:solidFill>
                        </a:defRPr>
                      </a:pPr>
                      <a:r>
                        <a:t>CL플랫폼</a:t>
                      </a:r>
                    </a:p>
                  </a:txBody>
                  <a:tcPr>
                    <a:solidFill>
                      <a:srgbClr val="1B2A4A"/>
                    </a:solidFill>
                  </a:tcPr>
                </a:tc>
                <a:tc>
                  <a:txBody>
                    <a:bodyPr/>
                    <a:lstStyle/>
                    <a:p>
                      <a:pPr algn="ctr">
                        <a:defRPr sz="900" b="1">
                          <a:solidFill>
                            <a:srgbClr val="FFFFFF"/>
                          </a:solidFill>
                        </a:defRPr>
                      </a:pPr>
                      <a:r>
                        <a:t>주차서비스</a:t>
                      </a:r>
                    </a:p>
                  </a:txBody>
                  <a:tcPr>
                    <a:solidFill>
                      <a:srgbClr val="1B2A4A"/>
                    </a:solidFill>
                  </a:tcPr>
                </a:tc>
                <a:tc>
                  <a:txBody>
                    <a:bodyPr/>
                    <a:lstStyle/>
                    <a:p>
                      <a:pPr algn="ctr">
                        <a:defRPr sz="900" b="1">
                          <a:solidFill>
                            <a:srgbClr val="FFFFFF"/>
                          </a:solidFill>
                        </a:defRPr>
                      </a:pPr>
                      <a:r>
                        <a:t>현금정보계</a:t>
                      </a:r>
                    </a:p>
                  </a:txBody>
                  <a:tcPr>
                    <a:solidFill>
                      <a:srgbClr val="1B2A4A"/>
                    </a:solidFill>
                  </a:tcPr>
                </a:tc>
              </a:tr>
              <a:tr h="274319">
                <a:tc>
                  <a:txBody>
                    <a:bodyPr/>
                    <a:lstStyle/>
                    <a:p>
                      <a:pPr>
                        <a:defRPr sz="800">
                          <a:solidFill>
                            <a:srgbClr val="333333"/>
                          </a:solidFill>
                        </a:defRPr>
                      </a:pPr>
                      <a:r>
                        <a:t>Pool 구현체</a:t>
                      </a:r>
                    </a:p>
                  </a:txBody>
                  <a:tcPr>
                    <a:solidFill>
                      <a:srgbClr val="FFFFFF"/>
                    </a:solidFill>
                  </a:tcPr>
                </a:tc>
                <a:tc>
                  <a:txBody>
                    <a:bodyPr/>
                    <a:lstStyle/>
                    <a:p>
                      <a:pPr>
                        <a:defRPr sz="800">
                          <a:solidFill>
                            <a:srgbClr val="333333"/>
                          </a:solidFill>
                        </a:defRPr>
                      </a:pPr>
                      <a:r>
                        <a:t>HikariCP</a:t>
                      </a:r>
                    </a:p>
                  </a:txBody>
                  <a:tcPr>
                    <a:solidFill>
                      <a:srgbClr val="FFFFFF"/>
                    </a:solidFill>
                  </a:tcPr>
                </a:tc>
                <a:tc>
                  <a:txBody>
                    <a:bodyPr/>
                    <a:lstStyle/>
                    <a:p>
                      <a:pPr>
                        <a:defRPr sz="800">
                          <a:solidFill>
                            <a:srgbClr val="333333"/>
                          </a:solidFill>
                        </a:defRPr>
                      </a:pPr>
                      <a:r>
                        <a:t>HikariCP</a:t>
                      </a:r>
                    </a:p>
                  </a:txBody>
                  <a:tcPr>
                    <a:solidFill>
                      <a:srgbClr val="FFFFFF"/>
                    </a:solidFill>
                  </a:tcPr>
                </a:tc>
                <a:tc>
                  <a:txBody>
                    <a:bodyPr/>
                    <a:lstStyle/>
                    <a:p>
                      <a:pPr>
                        <a:defRPr sz="800">
                          <a:solidFill>
                            <a:srgbClr val="333333"/>
                          </a:solidFill>
                        </a:defRPr>
                      </a:pPr>
                      <a:r>
                        <a:t>미명시</a:t>
                      </a:r>
                    </a:p>
                  </a:txBody>
                  <a:tcPr>
                    <a:solidFill>
                      <a:srgbClr val="FFFFFF"/>
                    </a:solidFill>
                  </a:tcPr>
                </a:tc>
                <a:tc>
                  <a:txBody>
                    <a:bodyPr/>
                    <a:lstStyle/>
                    <a:p>
                      <a:pPr>
                        <a:defRPr sz="800">
                          <a:solidFill>
                            <a:srgbClr val="333333"/>
                          </a:solidFill>
                        </a:defRPr>
                      </a:pPr>
                      <a:r>
                        <a:t>DBCP</a:t>
                      </a:r>
                    </a:p>
                  </a:txBody>
                  <a:tcPr>
                    <a:solidFill>
                      <a:srgbClr val="FFFFFF"/>
                    </a:solidFill>
                  </a:tcPr>
                </a:tc>
                <a:tc>
                  <a:txBody>
                    <a:bodyPr/>
                    <a:lstStyle/>
                    <a:p>
                      <a:pPr>
                        <a:defRPr sz="800">
                          <a:solidFill>
                            <a:srgbClr val="333333"/>
                          </a:solidFill>
                        </a:defRPr>
                      </a:pPr>
                      <a:r>
                        <a:t>Liberty ConnMgr</a:t>
                      </a:r>
                    </a:p>
                  </a:txBody>
                  <a:tcPr>
                    <a:solidFill>
                      <a:srgbClr val="FFFFFF"/>
                    </a:solidFill>
                  </a:tcPr>
                </a:tc>
              </a:tr>
              <a:tr h="274319">
                <a:tc>
                  <a:txBody>
                    <a:bodyPr/>
                    <a:lstStyle/>
                    <a:p>
                      <a:pPr>
                        <a:defRPr sz="800">
                          <a:solidFill>
                            <a:srgbClr val="333333"/>
                          </a:solidFill>
                        </a:defRPr>
                      </a:pPr>
                      <a:r>
                        <a:t>maxPoolSize</a:t>
                      </a:r>
                    </a:p>
                  </a:txBody>
                  <a:tcPr>
                    <a:solidFill>
                      <a:srgbClr val="F2F2F2"/>
                    </a:solidFill>
                  </a:tcPr>
                </a:tc>
                <a:tc>
                  <a:txBody>
                    <a:bodyPr/>
                    <a:lstStyle/>
                    <a:p>
                      <a:pPr>
                        <a:defRPr sz="800">
                          <a:solidFill>
                            <a:srgbClr val="333333"/>
                          </a:solidFill>
                        </a:defRPr>
                      </a:pPr>
                      <a:r>
                        <a:t>5</a:t>
                      </a:r>
                    </a:p>
                  </a:txBody>
                  <a:tcPr>
                    <a:solidFill>
                      <a:srgbClr val="F2F2F2"/>
                    </a:solidFill>
                  </a:tcPr>
                </a:tc>
                <a:tc>
                  <a:txBody>
                    <a:bodyPr/>
                    <a:lstStyle/>
                    <a:p>
                      <a:pPr>
                        <a:defRPr sz="800">
                          <a:solidFill>
                            <a:srgbClr val="333333"/>
                          </a:solidFill>
                        </a:defRPr>
                      </a:pPr>
                      <a:r>
                        <a:t>100(w)/20(a)</a:t>
                      </a:r>
                    </a:p>
                  </a:txBody>
                  <a:tcPr>
                    <a:solidFill>
                      <a:srgbClr val="F2F2F2"/>
                    </a:solidFill>
                  </a:tcPr>
                </a:tc>
                <a:tc>
                  <a:txBody>
                    <a:bodyPr/>
                    <a:lstStyle/>
                    <a:p>
                      <a:pPr>
                        <a:defRPr sz="800">
                          <a:solidFill>
                            <a:srgbClr val="333333"/>
                          </a:solidFill>
                        </a:defRPr>
                      </a:pPr>
                      <a:r>
                        <a:t>50</a:t>
                      </a:r>
                    </a:p>
                  </a:txBody>
                  <a:tcPr>
                    <a:solidFill>
                      <a:srgbClr val="F2F2F2"/>
                    </a:solidFill>
                  </a:tcPr>
                </a:tc>
                <a:tc>
                  <a:txBody>
                    <a:bodyPr/>
                    <a:lstStyle/>
                    <a:p>
                      <a:pPr>
                        <a:defRPr sz="800">
                          <a:solidFill>
                            <a:srgbClr val="333333"/>
                          </a:solidFill>
                        </a:defRPr>
                      </a:pPr>
                      <a:r>
                        <a:t>100</a:t>
                      </a:r>
                    </a:p>
                  </a:txBody>
                  <a:tcPr>
                    <a:solidFill>
                      <a:srgbClr val="F2F2F2"/>
                    </a:solidFill>
                  </a:tcPr>
                </a:tc>
                <a:tc>
                  <a:txBody>
                    <a:bodyPr/>
                    <a:lstStyle/>
                    <a:p>
                      <a:pPr>
                        <a:defRPr sz="800">
                          <a:solidFill>
                            <a:srgbClr val="333333"/>
                          </a:solidFill>
                        </a:defRPr>
                      </a:pPr>
                      <a:r>
                        <a:t>50</a:t>
                      </a:r>
                    </a:p>
                  </a:txBody>
                  <a:tcPr>
                    <a:solidFill>
                      <a:srgbClr val="F2F2F2"/>
                    </a:solidFill>
                  </a:tcPr>
                </a:tc>
              </a:tr>
              <a:tr h="274319">
                <a:tc>
                  <a:txBody>
                    <a:bodyPr/>
                    <a:lstStyle/>
                    <a:p>
                      <a:pPr>
                        <a:defRPr sz="800">
                          <a:solidFill>
                            <a:srgbClr val="333333"/>
                          </a:solidFill>
                        </a:defRPr>
                      </a:pPr>
                      <a:r>
                        <a:t>minIdle</a:t>
                      </a:r>
                    </a:p>
                  </a:txBody>
                  <a:tcPr>
                    <a:solidFill>
                      <a:srgbClr val="FFFFFF"/>
                    </a:solidFill>
                  </a:tcPr>
                </a:tc>
                <a:tc>
                  <a:txBody>
                    <a:bodyPr/>
                    <a:lstStyle/>
                    <a:p>
                      <a:pPr>
                        <a:defRPr sz="800">
                          <a:solidFill>
                            <a:srgbClr val="333333"/>
                          </a:solidFill>
                        </a:defRPr>
                      </a:pPr>
                      <a:r>
                        <a:t>2</a:t>
                      </a:r>
                    </a:p>
                  </a:txBody>
                  <a:tcPr>
                    <a:solidFill>
                      <a:srgbClr val="FFFFFF"/>
                    </a:solidFill>
                  </a:tcPr>
                </a:tc>
                <a:tc>
                  <a:txBody>
                    <a:bodyPr/>
                    <a:lstStyle/>
                    <a:p>
                      <a:pPr>
                        <a:defRPr sz="800">
                          <a:solidFill>
                            <a:srgbClr val="333333"/>
                          </a:solidFill>
                        </a:defRPr>
                      </a:pPr>
                      <a:r>
                        <a:t>5</a:t>
                      </a:r>
                    </a:p>
                  </a:txBody>
                  <a:tcPr>
                    <a:solidFill>
                      <a:srgbClr val="FFFFFF"/>
                    </a:solidFill>
                  </a:tcPr>
                </a:tc>
                <a:tc>
                  <a:txBody>
                    <a:bodyPr/>
                    <a:lstStyle/>
                    <a:p>
                      <a:pPr>
                        <a:defRPr sz="800">
                          <a:solidFill>
                            <a:srgbClr val="333333"/>
                          </a:solidFill>
                        </a:defRPr>
                      </a:pPr>
                      <a:r>
                        <a:t>0</a:t>
                      </a:r>
                    </a:p>
                  </a:txBody>
                  <a:tcPr>
                    <a:solidFill>
                      <a:srgbClr val="FFFFFF"/>
                    </a:solidFill>
                  </a:tcPr>
                </a:tc>
                <a:tc>
                  <a:txBody>
                    <a:bodyPr/>
                    <a:lstStyle/>
                    <a:p>
                      <a:pPr>
                        <a:defRPr sz="800">
                          <a:solidFill>
                            <a:srgbClr val="333333"/>
                          </a:solidFill>
                        </a:defRPr>
                      </a:pPr>
                      <a:r>
                        <a:t>100</a:t>
                      </a:r>
                    </a:p>
                  </a:txBody>
                  <a:tcPr>
                    <a:solidFill>
                      <a:srgbClr val="FFFFFF"/>
                    </a:solidFill>
                  </a:tcPr>
                </a:tc>
                <a:tc>
                  <a:txBody>
                    <a:bodyPr/>
                    <a:lstStyle/>
                    <a:p>
                      <a:pPr>
                        <a:defRPr sz="800">
                          <a:solidFill>
                            <a:srgbClr val="333333"/>
                          </a:solidFill>
                        </a:defRPr>
                      </a:pPr>
                      <a:r>
                        <a:t>0</a:t>
                      </a:r>
                    </a:p>
                  </a:txBody>
                  <a:tcPr>
                    <a:solidFill>
                      <a:srgbClr val="FFFFFF"/>
                    </a:solidFill>
                  </a:tcPr>
                </a:tc>
              </a:tr>
              <a:tr h="274319">
                <a:tc>
                  <a:txBody>
                    <a:bodyPr/>
                    <a:lstStyle/>
                    <a:p>
                      <a:pPr>
                        <a:defRPr sz="800">
                          <a:solidFill>
                            <a:srgbClr val="333333"/>
                          </a:solidFill>
                        </a:defRPr>
                      </a:pPr>
                      <a:r>
                        <a:t>maxLifetime</a:t>
                      </a:r>
                    </a:p>
                  </a:txBody>
                  <a:tcPr>
                    <a:solidFill>
                      <a:srgbClr val="F2F2F2"/>
                    </a:solidFill>
                  </a:tcPr>
                </a:tc>
                <a:tc>
                  <a:txBody>
                    <a:bodyPr/>
                    <a:lstStyle/>
                    <a:p>
                      <a:pPr>
                        <a:defRPr sz="800">
                          <a:solidFill>
                            <a:srgbClr val="333333"/>
                          </a:solidFill>
                        </a:defRPr>
                      </a:pPr>
                      <a:r>
                        <a:t>1,800,000 ms</a:t>
                      </a:r>
                    </a:p>
                  </a:txBody>
                  <a:tcPr>
                    <a:solidFill>
                      <a:srgbClr val="F2F2F2"/>
                    </a:solidFill>
                  </a:tcPr>
                </a:tc>
                <a:tc>
                  <a:txBody>
                    <a:bodyPr/>
                    <a:lstStyle/>
                    <a:p>
                      <a:pPr>
                        <a:defRPr sz="800">
                          <a:solidFill>
                            <a:srgbClr val="333333"/>
                          </a:solidFill>
                        </a:defRPr>
                      </a:pPr>
                      <a:r>
                        <a:t>2,000,000 ms</a:t>
                      </a:r>
                    </a:p>
                  </a:txBody>
                  <a:tcPr>
                    <a:solidFill>
                      <a:srgbClr val="F2F2F2"/>
                    </a:solidFill>
                  </a:tcPr>
                </a:tc>
                <a:tc>
                  <a:txBody>
                    <a:bodyPr/>
                    <a:lstStyle/>
                    <a:p>
                      <a:pPr>
                        <a:defRPr sz="800">
                          <a:solidFill>
                            <a:srgbClr val="333333"/>
                          </a:solidFill>
                        </a:defRPr>
                      </a:pPr>
                      <a:r>
                        <a:t>1800 (단위불명)</a:t>
                      </a:r>
                    </a:p>
                  </a:txBody>
                  <a:tcPr>
                    <a:solidFill>
                      <a:srgbClr val="F2F2F2"/>
                    </a:solidFill>
                  </a:tcPr>
                </a:tc>
                <a:tc>
                  <a:txBody>
                    <a:bodyPr/>
                    <a:lstStyle/>
                    <a:p>
                      <a:pPr>
                        <a:defRPr sz="800">
                          <a:solidFill>
                            <a:srgbClr val="333333"/>
                          </a:solidFill>
                        </a:defRPr>
                      </a:pPr>
                      <a:r>
                        <a:t>10,000 ms (의심)</a:t>
                      </a:r>
                    </a:p>
                  </a:txBody>
                  <a:tcPr>
                    <a:solidFill>
                      <a:srgbClr val="F2F2F2"/>
                    </a:solidFill>
                  </a:tcPr>
                </a:tc>
                <a:tc>
                  <a:txBody>
                    <a:bodyPr/>
                    <a:lstStyle/>
                    <a:p>
                      <a:pPr>
                        <a:defRPr sz="800">
                          <a:solidFill>
                            <a:srgbClr val="333333"/>
                          </a:solidFill>
                        </a:defRPr>
                      </a:pPr>
                      <a:r>
                        <a:t>1,800 s</a:t>
                      </a:r>
                    </a:p>
                  </a:txBody>
                  <a:tcPr>
                    <a:solidFill>
                      <a:srgbClr val="F2F2F2"/>
                    </a:solidFill>
                  </a:tcPr>
                </a:tc>
              </a:tr>
              <a:tr h="274319">
                <a:tc>
                  <a:txBody>
                    <a:bodyPr/>
                    <a:lstStyle/>
                    <a:p>
                      <a:pPr>
                        <a:defRPr sz="800">
                          <a:solidFill>
                            <a:srgbClr val="333333"/>
                          </a:solidFill>
                        </a:defRPr>
                      </a:pPr>
                      <a:r>
                        <a:t>connTimeout</a:t>
                      </a:r>
                    </a:p>
                  </a:txBody>
                  <a:tcPr>
                    <a:solidFill>
                      <a:srgbClr val="FFFFFF"/>
                    </a:solidFill>
                  </a:tcPr>
                </a:tc>
                <a:tc>
                  <a:txBody>
                    <a:bodyPr/>
                    <a:lstStyle/>
                    <a:p>
                      <a:pPr>
                        <a:defRPr sz="800">
                          <a:solidFill>
                            <a:srgbClr val="333333"/>
                          </a:solidFill>
                        </a:defRPr>
                      </a:pPr>
                      <a:r>
                        <a:t>미설정</a:t>
                      </a:r>
                    </a:p>
                  </a:txBody>
                  <a:tcPr>
                    <a:solidFill>
                      <a:srgbClr val="FFFFFF"/>
                    </a:solidFill>
                  </a:tcPr>
                </a:tc>
                <a:tc>
                  <a:txBody>
                    <a:bodyPr/>
                    <a:lstStyle/>
                    <a:p>
                      <a:pPr>
                        <a:defRPr sz="800">
                          <a:solidFill>
                            <a:srgbClr val="333333"/>
                          </a:solidFill>
                        </a:defRPr>
                      </a:pPr>
                      <a:r>
                        <a:t>미설정</a:t>
                      </a:r>
                    </a:p>
                  </a:txBody>
                  <a:tcPr>
                    <a:solidFill>
                      <a:srgbClr val="FFFFFF"/>
                    </a:solidFill>
                  </a:tcPr>
                </a:tc>
                <a:tc>
                  <a:txBody>
                    <a:bodyPr/>
                    <a:lstStyle/>
                    <a:p>
                      <a:pPr>
                        <a:defRPr sz="800">
                          <a:solidFill>
                            <a:srgbClr val="333333"/>
                          </a:solidFill>
                        </a:defRPr>
                      </a:pPr>
                      <a:r>
                        <a:t>30s</a:t>
                      </a:r>
                    </a:p>
                  </a:txBody>
                  <a:tcPr>
                    <a:solidFill>
                      <a:srgbClr val="FFFFFF"/>
                    </a:solidFill>
                  </a:tcPr>
                </a:tc>
                <a:tc>
                  <a:txBody>
                    <a:bodyPr/>
                    <a:lstStyle/>
                    <a:p>
                      <a:pPr>
                        <a:defRPr sz="800">
                          <a:solidFill>
                            <a:srgbClr val="333333"/>
                          </a:solidFill>
                        </a:defRPr>
                      </a:pPr>
                      <a:r>
                        <a:t>20,000 ms</a:t>
                      </a:r>
                    </a:p>
                  </a:txBody>
                  <a:tcPr>
                    <a:solidFill>
                      <a:srgbClr val="FFFFFF"/>
                    </a:solidFill>
                  </a:tcPr>
                </a:tc>
                <a:tc>
                  <a:txBody>
                    <a:bodyPr/>
                    <a:lstStyle/>
                    <a:p>
                      <a:pPr>
                        <a:defRPr sz="800">
                          <a:solidFill>
                            <a:srgbClr val="333333"/>
                          </a:solidFill>
                        </a:defRPr>
                      </a:pPr>
                      <a:r>
                        <a:t>30s</a:t>
                      </a:r>
                    </a:p>
                  </a:txBody>
                  <a:tcPr>
                    <a:solidFill>
                      <a:srgbClr val="FFFFFF"/>
                    </a:solidFill>
                  </a:tcPr>
                </a:tc>
              </a:tr>
              <a:tr h="274319">
                <a:tc>
                  <a:txBody>
                    <a:bodyPr/>
                    <a:lstStyle/>
                    <a:p>
                      <a:pPr>
                        <a:defRPr sz="800">
                          <a:solidFill>
                            <a:srgbClr val="333333"/>
                          </a:solidFill>
                        </a:defRPr>
                      </a:pPr>
                      <a:r>
                        <a:t>reapTime</a:t>
                      </a:r>
                    </a:p>
                  </a:txBody>
                  <a:tcPr>
                    <a:solidFill>
                      <a:srgbClr val="F2F2F2"/>
                    </a:solidFill>
                  </a:tcPr>
                </a:tc>
                <a:tc>
                  <a:txBody>
                    <a:bodyPr/>
                    <a:lstStyle/>
                    <a:p>
                      <a:pPr>
                        <a:defRPr sz="800">
                          <a:solidFill>
                            <a:srgbClr val="333333"/>
                          </a:solidFill>
                        </a:defRPr>
                      </a:pPr>
                      <a:r>
                        <a:t>N/A</a:t>
                      </a:r>
                    </a:p>
                  </a:txBody>
                  <a:tcPr>
                    <a:solidFill>
                      <a:srgbClr val="F2F2F2"/>
                    </a:solidFill>
                  </a:tcPr>
                </a:tc>
                <a:tc>
                  <a:txBody>
                    <a:bodyPr/>
                    <a:lstStyle/>
                    <a:p>
                      <a:pPr>
                        <a:defRPr sz="800">
                          <a:solidFill>
                            <a:srgbClr val="333333"/>
                          </a:solidFill>
                        </a:defRPr>
                      </a:pPr>
                      <a:r>
                        <a:t>N/A</a:t>
                      </a:r>
                    </a:p>
                  </a:txBody>
                  <a:tcPr>
                    <a:solidFill>
                      <a:srgbClr val="F2F2F2"/>
                    </a:solidFill>
                  </a:tcPr>
                </a:tc>
                <a:tc>
                  <a:txBody>
                    <a:bodyPr/>
                    <a:lstStyle/>
                    <a:p>
                      <a:pPr>
                        <a:defRPr sz="800">
                          <a:solidFill>
                            <a:srgbClr val="333333"/>
                          </a:solidFill>
                        </a:defRPr>
                      </a:pPr>
                      <a:r>
                        <a:t>300s</a:t>
                      </a:r>
                    </a:p>
                  </a:txBody>
                  <a:tcPr>
                    <a:solidFill>
                      <a:srgbClr val="F2F2F2"/>
                    </a:solidFill>
                  </a:tcPr>
                </a:tc>
                <a:tc>
                  <a:txBody>
                    <a:bodyPr/>
                    <a:lstStyle/>
                    <a:p>
                      <a:pPr>
                        <a:defRPr sz="800">
                          <a:solidFill>
                            <a:srgbClr val="333333"/>
                          </a:solidFill>
                        </a:defRPr>
                      </a:pPr>
                      <a:r>
                        <a:t>N/A</a:t>
                      </a:r>
                    </a:p>
                  </a:txBody>
                  <a:tcPr>
                    <a:solidFill>
                      <a:srgbClr val="F2F2F2"/>
                    </a:solidFill>
                  </a:tcPr>
                </a:tc>
                <a:tc>
                  <a:txBody>
                    <a:bodyPr/>
                    <a:lstStyle/>
                    <a:p>
                      <a:pPr>
                        <a:defRPr sz="800">
                          <a:solidFill>
                            <a:srgbClr val="333333"/>
                          </a:solidFill>
                        </a:defRPr>
                      </a:pPr>
                      <a:r>
                        <a:t>300s</a:t>
                      </a:r>
                    </a:p>
                  </a:txBody>
                  <a:tcPr>
                    <a:solidFill>
                      <a:srgbClr val="F2F2F2"/>
                    </a:solidFill>
                  </a:tcPr>
                </a:tc>
              </a:tr>
              <a:tr h="274319">
                <a:tc>
                  <a:txBody>
                    <a:bodyPr/>
                    <a:lstStyle/>
                    <a:p>
                      <a:pPr>
                        <a:defRPr sz="800">
                          <a:solidFill>
                            <a:srgbClr val="333333"/>
                          </a:solidFill>
                        </a:defRPr>
                      </a:pPr>
                      <a:r>
                        <a:t>maxIdleTime</a:t>
                      </a:r>
                    </a:p>
                  </a:txBody>
                  <a:tcPr>
                    <a:solidFill>
                      <a:srgbClr val="FFFFFF"/>
                    </a:solidFill>
                  </a:tcPr>
                </a:tc>
                <a:tc>
                  <a:txBody>
                    <a:bodyPr/>
                    <a:lstStyle/>
                    <a:p>
                      <a:pPr>
                        <a:defRPr sz="800">
                          <a:solidFill>
                            <a:srgbClr val="333333"/>
                          </a:solidFill>
                        </a:defRPr>
                      </a:pPr>
                      <a:r>
                        <a:t>N/A</a:t>
                      </a:r>
                    </a:p>
                  </a:txBody>
                  <a:tcPr>
                    <a:solidFill>
                      <a:srgbClr val="FFFFFF"/>
                    </a:solidFill>
                  </a:tcPr>
                </a:tc>
                <a:tc>
                  <a:txBody>
                    <a:bodyPr/>
                    <a:lstStyle/>
                    <a:p>
                      <a:pPr>
                        <a:defRPr sz="800">
                          <a:solidFill>
                            <a:srgbClr val="333333"/>
                          </a:solidFill>
                        </a:defRPr>
                      </a:pPr>
                      <a:r>
                        <a:t>N/A</a:t>
                      </a:r>
                    </a:p>
                  </a:txBody>
                  <a:tcPr>
                    <a:solidFill>
                      <a:srgbClr val="FFFFFF"/>
                    </a:solidFill>
                  </a:tcPr>
                </a:tc>
                <a:tc>
                  <a:txBody>
                    <a:bodyPr/>
                    <a:lstStyle/>
                    <a:p>
                      <a:pPr>
                        <a:defRPr sz="800">
                          <a:solidFill>
                            <a:srgbClr val="333333"/>
                          </a:solidFill>
                        </a:defRPr>
                      </a:pPr>
                      <a:r>
                        <a:t>1,800s</a:t>
                      </a:r>
                    </a:p>
                  </a:txBody>
                  <a:tcPr>
                    <a:solidFill>
                      <a:srgbClr val="FFFFFF"/>
                    </a:solidFill>
                  </a:tcPr>
                </a:tc>
                <a:tc>
                  <a:txBody>
                    <a:bodyPr/>
                    <a:lstStyle/>
                    <a:p>
                      <a:pPr>
                        <a:defRPr sz="800">
                          <a:solidFill>
                            <a:srgbClr val="333333"/>
                          </a:solidFill>
                        </a:defRPr>
                      </a:pPr>
                      <a:r>
                        <a:t>N/A</a:t>
                      </a:r>
                    </a:p>
                  </a:txBody>
                  <a:tcPr>
                    <a:solidFill>
                      <a:srgbClr val="FFFFFF"/>
                    </a:solidFill>
                  </a:tcPr>
                </a:tc>
                <a:tc>
                  <a:txBody>
                    <a:bodyPr/>
                    <a:lstStyle/>
                    <a:p>
                      <a:pPr>
                        <a:defRPr sz="800">
                          <a:solidFill>
                            <a:srgbClr val="333333"/>
                          </a:solidFill>
                        </a:defRPr>
                      </a:pPr>
                      <a:r>
                        <a:t>1,800s</a:t>
                      </a:r>
                    </a:p>
                  </a:txBody>
                  <a:tcPr>
                    <a:solidFill>
                      <a:srgbClr val="FFFFFF"/>
                    </a:solidFill>
                  </a:tcPr>
                </a:tc>
              </a:tr>
              <a:tr h="274327">
                <a:tc>
                  <a:txBody>
                    <a:bodyPr/>
                    <a:lstStyle/>
                    <a:p>
                      <a:pPr>
                        <a:defRPr sz="800">
                          <a:solidFill>
                            <a:srgbClr val="333333"/>
                          </a:solidFill>
                        </a:defRPr>
                      </a:pPr>
                      <a:r>
                        <a:t>maxThreads</a:t>
                      </a:r>
                    </a:p>
                  </a:txBody>
                  <a:tcPr>
                    <a:solidFill>
                      <a:srgbClr val="F2F2F2"/>
                    </a:solidFill>
                  </a:tcPr>
                </a:tc>
                <a:tc>
                  <a:txBody>
                    <a:bodyPr/>
                    <a:lstStyle/>
                    <a:p>
                      <a:pPr>
                        <a:defRPr sz="800">
                          <a:solidFill>
                            <a:srgbClr val="333333"/>
                          </a:solidFill>
                        </a:defRPr>
                      </a:pPr>
                      <a:r>
                        <a:t>기본값(200)</a:t>
                      </a:r>
                    </a:p>
                  </a:txBody>
                  <a:tcPr>
                    <a:solidFill>
                      <a:srgbClr val="F2F2F2"/>
                    </a:solidFill>
                  </a:tcPr>
                </a:tc>
                <a:tc>
                  <a:txBody>
                    <a:bodyPr/>
                    <a:lstStyle/>
                    <a:p>
                      <a:pPr>
                        <a:defRPr sz="800">
                          <a:solidFill>
                            <a:srgbClr val="333333"/>
                          </a:solidFill>
                        </a:defRPr>
                      </a:pPr>
                      <a:r>
                        <a:t>기본값(200)</a:t>
                      </a:r>
                    </a:p>
                  </a:txBody>
                  <a:tcPr>
                    <a:solidFill>
                      <a:srgbClr val="F2F2F2"/>
                    </a:solidFill>
                  </a:tcPr>
                </a:tc>
                <a:tc>
                  <a:txBody>
                    <a:bodyPr/>
                    <a:lstStyle/>
                    <a:p>
                      <a:pPr>
                        <a:defRPr sz="800">
                          <a:solidFill>
                            <a:srgbClr val="333333"/>
                          </a:solidFill>
                        </a:defRPr>
                      </a:pPr>
                      <a:r>
                        <a:t>-1(무제한)</a:t>
                      </a:r>
                    </a:p>
                  </a:txBody>
                  <a:tcPr>
                    <a:solidFill>
                      <a:srgbClr val="F2F2F2"/>
                    </a:solidFill>
                  </a:tcPr>
                </a:tc>
                <a:tc>
                  <a:txBody>
                    <a:bodyPr/>
                    <a:lstStyle/>
                    <a:p>
                      <a:pPr>
                        <a:defRPr sz="800">
                          <a:solidFill>
                            <a:srgbClr val="333333"/>
                          </a:solidFill>
                        </a:defRPr>
                      </a:pPr>
                      <a:r>
                        <a:t>500</a:t>
                      </a:r>
                    </a:p>
                  </a:txBody>
                  <a:tcPr>
                    <a:solidFill>
                      <a:srgbClr val="F2F2F2"/>
                    </a:solidFill>
                  </a:tcPr>
                </a:tc>
                <a:tc>
                  <a:txBody>
                    <a:bodyPr/>
                    <a:lstStyle/>
                    <a:p>
                      <a:pPr>
                        <a:defRPr sz="800">
                          <a:solidFill>
                            <a:srgbClr val="333333"/>
                          </a:solidFill>
                        </a:defRPr>
                      </a:pPr>
                      <a:r>
                        <a:t>-1(자동)</a:t>
                      </a:r>
                    </a:p>
                  </a:txBody>
                  <a:tcPr>
                    <a:solidFill>
                      <a:srgbClr val="F2F2F2"/>
                    </a:solidFill>
                  </a:tcPr>
                </a:tc>
              </a:tr>
            </a:tbl>
          </a:graphicData>
        </a:graphic>
      </p:graphicFrame>
      <p:sp>
        <p:nvSpPr>
          <p:cNvPr id="5" name="TextBox 4"/>
          <p:cNvSpPr txBox="1"/>
          <p:nvPr/>
        </p:nvSpPr>
        <p:spPr>
          <a:xfrm>
            <a:off x="457200" y="3840480"/>
            <a:ext cx="10972800" cy="365760"/>
          </a:xfrm>
          <a:prstGeom prst="rect">
            <a:avLst/>
          </a:prstGeom>
          <a:noFill/>
        </p:spPr>
        <p:txBody>
          <a:bodyPr wrap="square">
            <a:spAutoFit/>
          </a:bodyPr>
          <a:lstStyle/>
          <a:p>
            <a:pPr algn="l">
              <a:defRPr sz="900" b="1">
                <a:solidFill>
                  <a:srgbClr val="CC0000"/>
                </a:solidFill>
              </a:defRPr>
            </a:pPr>
            <a:r>
              <a:t>Timeout 캐스케이드: [NC] maxLifetime ~33분 &gt; PgPool timeout 30분 = **stale connection 위험** | [주차] maxLifetime 10s는 maxWaitMillis 혼동 의심</a:t>
            </a:r>
          </a:p>
        </p:txBody>
      </p:sp>
      <p:sp>
        <p:nvSpPr>
          <p:cNvPr id="6" name="TextBox 5"/>
          <p:cNvSpPr txBox="1"/>
          <p:nvPr/>
        </p:nvSpPr>
        <p:spPr>
          <a:xfrm>
            <a:off x="457200" y="4206240"/>
            <a:ext cx="10972800" cy="320040"/>
          </a:xfrm>
          <a:prstGeom prst="rect">
            <a:avLst/>
          </a:prstGeom>
          <a:noFill/>
        </p:spPr>
        <p:txBody>
          <a:bodyPr wrap="none">
            <a:spAutoFit/>
          </a:bodyPr>
          <a:lstStyle/>
          <a:p>
            <a:pPr>
              <a:defRPr sz="1300" b="1" u="sng">
                <a:solidFill>
                  <a:srgbClr val="CC6600"/>
                </a:solidFill>
              </a:defRPr>
            </a:pPr>
            <a:r>
              <a:t>[Step 2: 당사 진단]</a:t>
            </a:r>
          </a:p>
        </p:txBody>
      </p:sp>
      <p:sp>
        <p:nvSpPr>
          <p:cNvPr id="7" name="TextBox 6"/>
          <p:cNvSpPr txBox="1"/>
          <p:nvPr/>
        </p:nvSpPr>
        <p:spPr>
          <a:xfrm>
            <a:off x="457200" y="4480560"/>
            <a:ext cx="10972800" cy="365760"/>
          </a:xfrm>
          <a:prstGeom prst="rect">
            <a:avLst/>
          </a:prstGeom>
          <a:noFill/>
        </p:spPr>
        <p:txBody>
          <a:bodyPr wrap="square">
            <a:spAutoFit/>
          </a:bodyPr>
          <a:lstStyle/>
          <a:p>
            <a:pPr algn="l">
              <a:defRPr sz="1000" b="0">
                <a:solidFill>
                  <a:srgbClr val="333333"/>
                </a:solidFill>
              </a:defRPr>
            </a:pPr>
            <a:r>
              <a:t>- Pool 사이징: HikariCP fixed-size pool(min=max) 권장</a:t>
            </a:r>
            <a:br/>
            <a:r>
              <a:t>- maxLifetime: DB wait_timeout보다 짧게 (예: 1,740,000ms = 29분)</a:t>
            </a:r>
            <a:br/>
            <a:r>
              <a:t>- NC 위험: 2,000,000ms(~33분) &gt; PgPool timeout(30분)</a:t>
            </a:r>
            <a:br/>
            <a:r>
              <a:t>- 주차 혼동: 10,000ms는 maxLifetime이 아닌 maxWaitMillis일 가능성</a:t>
            </a:r>
          </a:p>
        </p:txBody>
      </p:sp>
      <p:sp>
        <p:nvSpPr>
          <p:cNvPr id="8" name="TextBox 7"/>
          <p:cNvSpPr txBox="1"/>
          <p:nvPr/>
        </p:nvSpPr>
        <p:spPr>
          <a:xfrm>
            <a:off x="457200" y="5394960"/>
            <a:ext cx="10972800" cy="320040"/>
          </a:xfrm>
          <a:prstGeom prst="rect">
            <a:avLst/>
          </a:prstGeom>
          <a:noFill/>
        </p:spPr>
        <p:txBody>
          <a:bodyPr wrap="none">
            <a:spAutoFit/>
          </a:bodyPr>
          <a:lstStyle/>
          <a:p>
            <a:pPr>
              <a:defRPr sz="1300" b="1" u="sng">
                <a:solidFill>
                  <a:srgbClr val="003366"/>
                </a:solidFill>
              </a:defRPr>
            </a:pPr>
            <a:r>
              <a:t>[Step 3: 컨설팅사 제언 요청]</a:t>
            </a:r>
          </a:p>
        </p:txBody>
      </p:sp>
      <p:sp>
        <p:nvSpPr>
          <p:cNvPr id="9" name="TextBox 8"/>
          <p:cNvSpPr txBox="1"/>
          <p:nvPr/>
        </p:nvSpPr>
        <p:spPr>
          <a:xfrm>
            <a:off x="457200" y="5669280"/>
            <a:ext cx="10972800" cy="914400"/>
          </a:xfrm>
          <a:prstGeom prst="rect">
            <a:avLst/>
          </a:prstGeom>
          <a:noFill/>
        </p:spPr>
        <p:txBody>
          <a:bodyPr wrap="square">
            <a:spAutoFit/>
          </a:bodyPr>
          <a:lstStyle/>
          <a:p>
            <a:pPr>
              <a:spcAft>
                <a:spcPts val="400"/>
              </a:spcAft>
              <a:defRPr sz="900" b="0">
                <a:solidFill>
                  <a:srgbClr val="333333"/>
                </a:solidFill>
              </a:defRPr>
            </a:pPr>
            <a:r>
              <a:t>Q1: WAS-DB 간 타임아웃 캐스케이드 권장 설정값 체인은?</a:t>
            </a:r>
          </a:p>
          <a:p>
            <a:pPr>
              <a:spcAft>
                <a:spcPts val="400"/>
              </a:spcAft>
              <a:defRPr sz="900" b="0">
                <a:solidFill>
                  <a:srgbClr val="333333"/>
                </a:solidFill>
              </a:defRPr>
            </a:pPr>
            <a:r>
              <a:t>Q2: Pool 구현체를 전사 표준으로 하나로 통일하는 것이 권장되는지?</a:t>
            </a:r>
          </a:p>
          <a:p>
            <a:pPr>
              <a:spcAft>
                <a:spcPts val="400"/>
              </a:spcAft>
              <a:defRPr sz="900" b="0">
                <a:solidFill>
                  <a:srgbClr val="333333"/>
                </a:solidFill>
              </a:defRPr>
            </a:pPr>
            <a:r>
              <a:t>Q3: Fixed-size Pool 도입 시 DB 서버 부하 측면의 트레이드오프는?</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square">
            <a:spAutoFit/>
          </a:bodyPr>
          <a:lstStyle/>
          <a:p>
            <a:pPr>
              <a:defRPr sz="2400" b="1">
                <a:solidFill>
                  <a:srgbClr val="1B2A4A"/>
                </a:solidFill>
              </a:defRPr>
            </a:pPr>
            <a:r>
              <a:t>[C-05] Thread 설정 극단적 편차</a:t>
            </a:r>
          </a:p>
        </p:txBody>
      </p:sp>
      <p:sp>
        <p:nvSpPr>
          <p:cNvPr id="3" name="TextBox 2"/>
          <p:cNvSpPr txBox="1"/>
          <p:nvPr/>
        </p:nvSpPr>
        <p:spPr>
          <a:xfrm>
            <a:off x="457200" y="914400"/>
            <a:ext cx="10972800" cy="320040"/>
          </a:xfrm>
          <a:prstGeom prst="rect">
            <a:avLst/>
          </a:prstGeom>
          <a:noFill/>
        </p:spPr>
        <p:txBody>
          <a:bodyPr wrap="none">
            <a:spAutoFit/>
          </a:bodyPr>
          <a:lstStyle/>
          <a:p>
            <a:pPr>
              <a:defRPr sz="1300" b="1" u="sng">
                <a:solidFill>
                  <a:srgbClr val="006D6F"/>
                </a:solidFill>
              </a:defRPr>
            </a:pPr>
            <a:r>
              <a:t>[Step 1: 현황 (Current State)]</a:t>
            </a:r>
          </a:p>
        </p:txBody>
      </p:sp>
      <p:graphicFrame>
        <p:nvGraphicFramePr>
          <p:cNvPr id="4" name="Table 3"/>
          <p:cNvGraphicFramePr>
            <a:graphicFrameLocks noGrp="1"/>
          </p:cNvGraphicFramePr>
          <p:nvPr/>
        </p:nvGraphicFramePr>
        <p:xfrm>
          <a:off x="457200" y="1280160"/>
          <a:ext cx="10972800" cy="1645919"/>
        </p:xfrm>
        <a:graphic>
          <a:graphicData uri="http://schemas.openxmlformats.org/drawingml/2006/table">
            <a:tbl>
              <a:tblPr firstRow="1" bandRow="1">
                <a:tableStyleId>{5C22544A-7EE6-4342-B048-85BDC9FD1C3A}</a:tableStyleId>
              </a:tblPr>
              <a:tblGrid>
                <a:gridCol w="1371600"/>
                <a:gridCol w="2011680"/>
                <a:gridCol w="1645920"/>
                <a:gridCol w="1371600"/>
                <a:gridCol w="1371600"/>
                <a:gridCol w="3200400"/>
              </a:tblGrid>
              <a:tr h="274319">
                <a:tc>
                  <a:txBody>
                    <a:bodyPr/>
                    <a:lstStyle/>
                    <a:p>
                      <a:pPr algn="ctr">
                        <a:defRPr sz="900" b="1">
                          <a:solidFill>
                            <a:srgbClr val="FFFFFF"/>
                          </a:solidFill>
                        </a:defRPr>
                      </a:pPr>
                      <a:r>
                        <a:t>팀</a:t>
                      </a:r>
                    </a:p>
                  </a:txBody>
                  <a:tcPr>
                    <a:solidFill>
                      <a:srgbClr val="1B2A4A"/>
                    </a:solidFill>
                  </a:tcPr>
                </a:tc>
                <a:tc>
                  <a:txBody>
                    <a:bodyPr/>
                    <a:lstStyle/>
                    <a:p>
                      <a:pPr algn="ctr">
                        <a:defRPr sz="900" b="1">
                          <a:solidFill>
                            <a:srgbClr val="FFFFFF"/>
                          </a:solidFill>
                        </a:defRPr>
                      </a:pPr>
                      <a:r>
                        <a:t>WAS</a:t>
                      </a:r>
                    </a:p>
                  </a:txBody>
                  <a:tcPr>
                    <a:solidFill>
                      <a:srgbClr val="1B2A4A"/>
                    </a:solidFill>
                  </a:tcPr>
                </a:tc>
                <a:tc>
                  <a:txBody>
                    <a:bodyPr/>
                    <a:lstStyle/>
                    <a:p>
                      <a:pPr algn="ctr">
                        <a:defRPr sz="900" b="1">
                          <a:solidFill>
                            <a:srgbClr val="FFFFFF"/>
                          </a:solidFill>
                        </a:defRPr>
                      </a:pPr>
                      <a:r>
                        <a:t>maxThreads</a:t>
                      </a:r>
                    </a:p>
                  </a:txBody>
                  <a:tcPr>
                    <a:solidFill>
                      <a:srgbClr val="1B2A4A"/>
                    </a:solidFill>
                  </a:tcPr>
                </a:tc>
                <a:tc>
                  <a:txBody>
                    <a:bodyPr/>
                    <a:lstStyle/>
                    <a:p>
                      <a:pPr algn="ctr">
                        <a:defRPr sz="900" b="1">
                          <a:solidFill>
                            <a:srgbClr val="FFFFFF"/>
                          </a:solidFill>
                        </a:defRPr>
                      </a:pPr>
                      <a:r>
                        <a:t>minSpare</a:t>
                      </a:r>
                    </a:p>
                  </a:txBody>
                  <a:tcPr>
                    <a:solidFill>
                      <a:srgbClr val="1B2A4A"/>
                    </a:solidFill>
                  </a:tcPr>
                </a:tc>
                <a:tc>
                  <a:txBody>
                    <a:bodyPr/>
                    <a:lstStyle/>
                    <a:p>
                      <a:pPr algn="ctr">
                        <a:defRPr sz="900" b="1">
                          <a:solidFill>
                            <a:srgbClr val="FFFFFF"/>
                          </a:solidFill>
                        </a:defRPr>
                      </a:pPr>
                      <a:r>
                        <a:t>acceptCount</a:t>
                      </a:r>
                    </a:p>
                  </a:txBody>
                  <a:tcPr>
                    <a:solidFill>
                      <a:srgbClr val="1B2A4A"/>
                    </a:solidFill>
                  </a:tcPr>
                </a:tc>
                <a:tc>
                  <a:txBody>
                    <a:bodyPr/>
                    <a:lstStyle/>
                    <a:p>
                      <a:pPr algn="ctr">
                        <a:defRPr sz="900" b="1">
                          <a:solidFill>
                            <a:srgbClr val="FFFFFF"/>
                          </a:solidFill>
                        </a:defRPr>
                      </a:pPr>
                      <a:r>
                        <a:t>비고</a:t>
                      </a:r>
                    </a:p>
                  </a:txBody>
                  <a:tcPr>
                    <a:solidFill>
                      <a:srgbClr val="1B2A4A"/>
                    </a:solidFill>
                  </a:tcPr>
                </a:tc>
              </a:tr>
              <a:tr h="274319">
                <a:tc>
                  <a:txBody>
                    <a:bodyPr/>
                    <a:lstStyle/>
                    <a:p>
                      <a:pPr>
                        <a:defRPr sz="800">
                          <a:solidFill>
                            <a:srgbClr val="333333"/>
                          </a:solidFill>
                        </a:defRPr>
                      </a:pPr>
                      <a:r>
                        <a:t>플랫폼개발(NP)</a:t>
                      </a:r>
                    </a:p>
                  </a:txBody>
                  <a:tcPr>
                    <a:solidFill>
                      <a:srgbClr val="FFFFFF"/>
                    </a:solidFill>
                  </a:tcPr>
                </a:tc>
                <a:tc>
                  <a:txBody>
                    <a:bodyPr/>
                    <a:lstStyle/>
                    <a:p>
                      <a:pPr>
                        <a:defRPr sz="800">
                          <a:solidFill>
                            <a:srgbClr val="333333"/>
                          </a:solidFill>
                        </a:defRPr>
                      </a:pPr>
                      <a:r>
                        <a:t>Spring Boot 내장</a:t>
                      </a:r>
                    </a:p>
                  </a:txBody>
                  <a:tcPr>
                    <a:solidFill>
                      <a:srgbClr val="FFFFFF"/>
                    </a:solidFill>
                  </a:tcPr>
                </a:tc>
                <a:tc>
                  <a:txBody>
                    <a:bodyPr/>
                    <a:lstStyle/>
                    <a:p>
                      <a:pPr>
                        <a:defRPr sz="800">
                          <a:solidFill>
                            <a:srgbClr val="333333"/>
                          </a:solidFill>
                        </a:defRPr>
                      </a:pPr>
                      <a:r>
                        <a:t>기본값(200)</a:t>
                      </a:r>
                    </a:p>
                  </a:txBody>
                  <a:tcPr>
                    <a:solidFill>
                      <a:srgbClr val="FFFFFF"/>
                    </a:solidFill>
                  </a:tcPr>
                </a:tc>
                <a:tc>
                  <a:txBody>
                    <a:bodyPr/>
                    <a:lstStyle/>
                    <a:p>
                      <a:pPr>
                        <a:defRPr sz="800">
                          <a:solidFill>
                            <a:srgbClr val="333333"/>
                          </a:solidFill>
                        </a:defRPr>
                      </a:pPr>
                      <a:r>
                        <a:t>기본값(10)</a:t>
                      </a:r>
                    </a:p>
                  </a:txBody>
                  <a:tcPr>
                    <a:solidFill>
                      <a:srgbClr val="FFFFFF"/>
                    </a:solidFill>
                  </a:tcPr>
                </a:tc>
                <a:tc>
                  <a:txBody>
                    <a:bodyPr/>
                    <a:lstStyle/>
                    <a:p>
                      <a:pPr>
                        <a:defRPr sz="800">
                          <a:solidFill>
                            <a:srgbClr val="333333"/>
                          </a:solidFill>
                        </a:defRPr>
                      </a:pPr>
                      <a:r>
                        <a:t>기본값(100)</a:t>
                      </a:r>
                    </a:p>
                  </a:txBody>
                  <a:tcPr>
                    <a:solidFill>
                      <a:srgbClr val="FFFFFF"/>
                    </a:solidFill>
                  </a:tcPr>
                </a:tc>
                <a:tc>
                  <a:txBody>
                    <a:bodyPr/>
                    <a:lstStyle/>
                    <a:p>
                      <a:pPr>
                        <a:defRPr sz="800" b="1">
                          <a:solidFill>
                            <a:srgbClr val="006600"/>
                          </a:solidFill>
                        </a:defRPr>
                      </a:pPr>
                      <a:r>
                        <a:t>적합</a:t>
                      </a:r>
                    </a:p>
                  </a:txBody>
                  <a:tcPr>
                    <a:solidFill>
                      <a:srgbClr val="FFFFFF"/>
                    </a:solidFill>
                  </a:tcPr>
                </a:tc>
              </a:tr>
              <a:tr h="274319">
                <a:tc>
                  <a:txBody>
                    <a:bodyPr/>
                    <a:lstStyle/>
                    <a:p>
                      <a:pPr>
                        <a:defRPr sz="800">
                          <a:solidFill>
                            <a:srgbClr val="333333"/>
                          </a:solidFill>
                        </a:defRPr>
                      </a:pPr>
                      <a:r>
                        <a:t>플랫폼개발(NC)</a:t>
                      </a:r>
                    </a:p>
                  </a:txBody>
                  <a:tcPr>
                    <a:solidFill>
                      <a:srgbClr val="F2F2F2"/>
                    </a:solidFill>
                  </a:tcPr>
                </a:tc>
                <a:tc>
                  <a:txBody>
                    <a:bodyPr/>
                    <a:lstStyle/>
                    <a:p>
                      <a:pPr>
                        <a:defRPr sz="800">
                          <a:solidFill>
                            <a:srgbClr val="333333"/>
                          </a:solidFill>
                        </a:defRPr>
                      </a:pPr>
                      <a:r>
                        <a:t>Tomcat 9/Spring Boot</a:t>
                      </a:r>
                    </a:p>
                  </a:txBody>
                  <a:tcPr>
                    <a:solidFill>
                      <a:srgbClr val="F2F2F2"/>
                    </a:solidFill>
                  </a:tcPr>
                </a:tc>
                <a:tc>
                  <a:txBody>
                    <a:bodyPr/>
                    <a:lstStyle/>
                    <a:p>
                      <a:pPr>
                        <a:defRPr sz="800">
                          <a:solidFill>
                            <a:srgbClr val="333333"/>
                          </a:solidFill>
                        </a:defRPr>
                      </a:pPr>
                      <a:r>
                        <a:t>기본값(200)</a:t>
                      </a:r>
                    </a:p>
                  </a:txBody>
                  <a:tcPr>
                    <a:solidFill>
                      <a:srgbClr val="F2F2F2"/>
                    </a:solidFill>
                  </a:tcPr>
                </a:tc>
                <a:tc>
                  <a:txBody>
                    <a:bodyPr/>
                    <a:lstStyle/>
                    <a:p>
                      <a:pPr>
                        <a:defRPr sz="800">
                          <a:solidFill>
                            <a:srgbClr val="333333"/>
                          </a:solidFill>
                        </a:defRPr>
                      </a:pPr>
                      <a:r>
                        <a:t>기본값</a:t>
                      </a:r>
                    </a:p>
                  </a:txBody>
                  <a:tcPr>
                    <a:solidFill>
                      <a:srgbClr val="F2F2F2"/>
                    </a:solidFill>
                  </a:tcPr>
                </a:tc>
                <a:tc>
                  <a:txBody>
                    <a:bodyPr/>
                    <a:lstStyle/>
                    <a:p>
                      <a:pPr>
                        <a:defRPr sz="800">
                          <a:solidFill>
                            <a:srgbClr val="333333"/>
                          </a:solidFill>
                        </a:defRPr>
                      </a:pPr>
                      <a:r>
                        <a:t>기본값</a:t>
                      </a:r>
                    </a:p>
                  </a:txBody>
                  <a:tcPr>
                    <a:solidFill>
                      <a:srgbClr val="F2F2F2"/>
                    </a:solidFill>
                  </a:tcPr>
                </a:tc>
                <a:tc>
                  <a:txBody>
                    <a:bodyPr/>
                    <a:lstStyle/>
                    <a:p>
                      <a:pPr>
                        <a:defRPr sz="800" b="1">
                          <a:solidFill>
                            <a:srgbClr val="006600"/>
                          </a:solidFill>
                        </a:defRPr>
                      </a:pPr>
                      <a:r>
                        <a:t>적합</a:t>
                      </a:r>
                    </a:p>
                  </a:txBody>
                  <a:tcPr>
                    <a:solidFill>
                      <a:srgbClr val="F2F2F2"/>
                    </a:solidFill>
                  </a:tcPr>
                </a:tc>
              </a:tr>
              <a:tr h="274319">
                <a:tc>
                  <a:txBody>
                    <a:bodyPr/>
                    <a:lstStyle/>
                    <a:p>
                      <a:pPr>
                        <a:defRPr sz="800">
                          <a:solidFill>
                            <a:srgbClr val="333333"/>
                          </a:solidFill>
                        </a:defRPr>
                      </a:pPr>
                      <a:r>
                        <a:t>CL플랫폼</a:t>
                      </a:r>
                    </a:p>
                  </a:txBody>
                  <a:tcPr>
                    <a:solidFill>
                      <a:srgbClr val="FFE0E0"/>
                    </a:solidFill>
                  </a:tcPr>
                </a:tc>
                <a:tc>
                  <a:txBody>
                    <a:bodyPr/>
                    <a:lstStyle/>
                    <a:p>
                      <a:pPr>
                        <a:defRPr sz="800">
                          <a:solidFill>
                            <a:srgbClr val="333333"/>
                          </a:solidFill>
                        </a:defRPr>
                      </a:pPr>
                      <a:r>
                        <a:t>CLS 전용</a:t>
                      </a:r>
                    </a:p>
                  </a:txBody>
                  <a:tcPr>
                    <a:solidFill>
                      <a:srgbClr val="FFE0E0"/>
                    </a:solidFill>
                  </a:tcPr>
                </a:tc>
                <a:tc>
                  <a:txBody>
                    <a:bodyPr/>
                    <a:lstStyle/>
                    <a:p>
                      <a:pPr>
                        <a:defRPr sz="800" b="1">
                          <a:solidFill>
                            <a:srgbClr val="CC0000"/>
                          </a:solidFill>
                        </a:defRPr>
                      </a:pPr>
                      <a:r>
                        <a:t>**-1(무제한)**</a:t>
                      </a:r>
                    </a:p>
                  </a:txBody>
                  <a:tcPr>
                    <a:solidFill>
                      <a:srgbClr val="FFE0E0"/>
                    </a:solidFill>
                  </a:tcPr>
                </a:tc>
                <a:tc>
                  <a:txBody>
                    <a:bodyPr/>
                    <a:lstStyle/>
                    <a:p>
                      <a:pPr>
                        <a:defRPr sz="800">
                          <a:solidFill>
                            <a:srgbClr val="333333"/>
                          </a:solidFill>
                        </a:defRPr>
                      </a:pPr>
                      <a:r>
                        <a:t>기본값</a:t>
                      </a:r>
                    </a:p>
                  </a:txBody>
                  <a:tcPr>
                    <a:solidFill>
                      <a:srgbClr val="FFE0E0"/>
                    </a:solidFill>
                  </a:tcPr>
                </a:tc>
                <a:tc>
                  <a:txBody>
                    <a:bodyPr/>
                    <a:lstStyle/>
                    <a:p>
                      <a:pPr>
                        <a:defRPr sz="800">
                          <a:solidFill>
                            <a:srgbClr val="333333"/>
                          </a:solidFill>
                        </a:defRPr>
                      </a:pPr>
                      <a:r>
                        <a:t>기본값</a:t>
                      </a:r>
                    </a:p>
                  </a:txBody>
                  <a:tcPr>
                    <a:solidFill>
                      <a:srgbClr val="FFE0E0"/>
                    </a:solidFill>
                  </a:tcPr>
                </a:tc>
                <a:tc>
                  <a:txBody>
                    <a:bodyPr/>
                    <a:lstStyle/>
                    <a:p>
                      <a:pPr>
                        <a:defRPr sz="800" b="1">
                          <a:solidFill>
                            <a:srgbClr val="CC0000"/>
                          </a:solidFill>
                        </a:defRPr>
                      </a:pPr>
                      <a:r>
                        <a:t>**백프레셔 부재**</a:t>
                      </a:r>
                    </a:p>
                  </a:txBody>
                  <a:tcPr>
                    <a:solidFill>
                      <a:srgbClr val="FFE0E0"/>
                    </a:solidFill>
                  </a:tcPr>
                </a:tc>
              </a:tr>
              <a:tr h="274319">
                <a:tc>
                  <a:txBody>
                    <a:bodyPr/>
                    <a:lstStyle/>
                    <a:p>
                      <a:pPr>
                        <a:defRPr sz="800">
                          <a:solidFill>
                            <a:srgbClr val="333333"/>
                          </a:solidFill>
                        </a:defRPr>
                      </a:pPr>
                      <a:r>
                        <a:t>주차서비스</a:t>
                      </a:r>
                    </a:p>
                  </a:txBody>
                  <a:tcPr>
                    <a:solidFill>
                      <a:srgbClr val="F2F2F2"/>
                    </a:solidFill>
                  </a:tcPr>
                </a:tc>
                <a:tc>
                  <a:txBody>
                    <a:bodyPr/>
                    <a:lstStyle/>
                    <a:p>
                      <a:pPr>
                        <a:defRPr sz="800">
                          <a:solidFill>
                            <a:srgbClr val="333333"/>
                          </a:solidFill>
                        </a:defRPr>
                      </a:pPr>
                      <a:r>
                        <a:t>Tomcat 9.0.70</a:t>
                      </a:r>
                    </a:p>
                  </a:txBody>
                  <a:tcPr>
                    <a:solidFill>
                      <a:srgbClr val="F2F2F2"/>
                    </a:solidFill>
                  </a:tcPr>
                </a:tc>
                <a:tc>
                  <a:txBody>
                    <a:bodyPr/>
                    <a:lstStyle/>
                    <a:p>
                      <a:pPr>
                        <a:defRPr sz="800">
                          <a:solidFill>
                            <a:srgbClr val="333333"/>
                          </a:solidFill>
                        </a:defRPr>
                      </a:pPr>
                      <a:r>
                        <a:t>500</a:t>
                      </a:r>
                    </a:p>
                  </a:txBody>
                  <a:tcPr>
                    <a:solidFill>
                      <a:srgbClr val="F2F2F2"/>
                    </a:solidFill>
                  </a:tcPr>
                </a:tc>
                <a:tc>
                  <a:txBody>
                    <a:bodyPr/>
                    <a:lstStyle/>
                    <a:p>
                      <a:pPr>
                        <a:defRPr sz="800">
                          <a:solidFill>
                            <a:srgbClr val="333333"/>
                          </a:solidFill>
                        </a:defRPr>
                      </a:pPr>
                      <a:r>
                        <a:t>25</a:t>
                      </a:r>
                    </a:p>
                  </a:txBody>
                  <a:tcPr>
                    <a:solidFill>
                      <a:srgbClr val="F2F2F2"/>
                    </a:solidFill>
                  </a:tcPr>
                </a:tc>
                <a:tc>
                  <a:txBody>
                    <a:bodyPr/>
                    <a:lstStyle/>
                    <a:p>
                      <a:pPr>
                        <a:defRPr sz="800">
                          <a:solidFill>
                            <a:srgbClr val="333333"/>
                          </a:solidFill>
                        </a:defRPr>
                      </a:pPr>
                      <a:r>
                        <a:t>기본값(100)</a:t>
                      </a:r>
                    </a:p>
                  </a:txBody>
                  <a:tcPr>
                    <a:solidFill>
                      <a:srgbClr val="F2F2F2"/>
                    </a:solidFill>
                  </a:tcPr>
                </a:tc>
                <a:tc>
                  <a:txBody>
                    <a:bodyPr/>
                    <a:lstStyle/>
                    <a:p>
                      <a:pPr>
                        <a:defRPr sz="800">
                          <a:solidFill>
                            <a:srgbClr val="333333"/>
                          </a:solidFill>
                        </a:defRPr>
                      </a:pPr>
                      <a:r>
                        <a:t>과대 설정 의심</a:t>
                      </a:r>
                    </a:p>
                  </a:txBody>
                  <a:tcPr>
                    <a:solidFill>
                      <a:srgbClr val="F2F2F2"/>
                    </a:solidFill>
                  </a:tcPr>
                </a:tc>
              </a:tr>
              <a:tr h="274324">
                <a:tc>
                  <a:txBody>
                    <a:bodyPr/>
                    <a:lstStyle/>
                    <a:p>
                      <a:pPr>
                        <a:defRPr sz="800">
                          <a:solidFill>
                            <a:srgbClr val="333333"/>
                          </a:solidFill>
                        </a:defRPr>
                      </a:pPr>
                      <a:r>
                        <a:t>현금정보계</a:t>
                      </a:r>
                    </a:p>
                  </a:txBody>
                  <a:tcPr>
                    <a:solidFill>
                      <a:srgbClr val="FFFFFF"/>
                    </a:solidFill>
                  </a:tcPr>
                </a:tc>
                <a:tc>
                  <a:txBody>
                    <a:bodyPr/>
                    <a:lstStyle/>
                    <a:p>
                      <a:pPr>
                        <a:defRPr sz="800">
                          <a:solidFill>
                            <a:srgbClr val="333333"/>
                          </a:solidFill>
                        </a:defRPr>
                      </a:pPr>
                      <a:r>
                        <a:t>Liberty 23.x</a:t>
                      </a:r>
                    </a:p>
                  </a:txBody>
                  <a:tcPr>
                    <a:solidFill>
                      <a:srgbClr val="FFFFFF"/>
                    </a:solidFill>
                  </a:tcPr>
                </a:tc>
                <a:tc>
                  <a:txBody>
                    <a:bodyPr/>
                    <a:lstStyle/>
                    <a:p>
                      <a:pPr>
                        <a:defRPr sz="800">
                          <a:solidFill>
                            <a:srgbClr val="333333"/>
                          </a:solidFill>
                        </a:defRPr>
                      </a:pPr>
                      <a:r>
                        <a:t>-1(자동)</a:t>
                      </a:r>
                    </a:p>
                  </a:txBody>
                  <a:tcPr>
                    <a:solidFill>
                      <a:srgbClr val="FFFFFF"/>
                    </a:solidFill>
                  </a:tcPr>
                </a:tc>
                <a:tc>
                  <a:txBody>
                    <a:bodyPr/>
                    <a:lstStyle/>
                    <a:p>
                      <a:pPr>
                        <a:defRPr sz="800">
                          <a:solidFill>
                            <a:srgbClr val="333333"/>
                          </a:solidFill>
                        </a:defRPr>
                      </a:pPr>
                      <a:r>
                        <a:t>-1(CPU*2)</a:t>
                      </a:r>
                    </a:p>
                  </a:txBody>
                  <a:tcPr>
                    <a:solidFill>
                      <a:srgbClr val="FFFFFF"/>
                    </a:solidFill>
                  </a:tcPr>
                </a:tc>
                <a:tc>
                  <a:txBody>
                    <a:bodyPr/>
                    <a:lstStyle/>
                    <a:p>
                      <a:pPr>
                        <a:defRPr sz="800">
                          <a:solidFill>
                            <a:srgbClr val="333333"/>
                          </a:solidFill>
                        </a:defRPr>
                      </a:pPr>
                      <a:r>
                        <a:t>N/A</a:t>
                      </a:r>
                    </a:p>
                  </a:txBody>
                  <a:tcPr>
                    <a:solidFill>
                      <a:srgbClr val="FFFFFF"/>
                    </a:solidFill>
                  </a:tcPr>
                </a:tc>
                <a:tc>
                  <a:txBody>
                    <a:bodyPr/>
                    <a:lstStyle/>
                    <a:p>
                      <a:pPr>
                        <a:defRPr sz="800">
                          <a:solidFill>
                            <a:srgbClr val="333333"/>
                          </a:solidFill>
                        </a:defRPr>
                      </a:pPr>
                      <a:r>
                        <a:t>자동 튜닝(Java 15)</a:t>
                      </a:r>
                    </a:p>
                  </a:txBody>
                  <a:tcPr>
                    <a:solidFill>
                      <a:srgbClr val="FFFFFF"/>
                    </a:solidFill>
                  </a:tcPr>
                </a:tc>
              </a:tr>
            </a:tbl>
          </a:graphicData>
        </a:graphic>
      </p:graphicFrame>
      <p:sp>
        <p:nvSpPr>
          <p:cNvPr id="5" name="TextBox 4"/>
          <p:cNvSpPr txBox="1"/>
          <p:nvPr/>
        </p:nvSpPr>
        <p:spPr>
          <a:xfrm>
            <a:off x="457200" y="3200400"/>
            <a:ext cx="10972800" cy="320040"/>
          </a:xfrm>
          <a:prstGeom prst="rect">
            <a:avLst/>
          </a:prstGeom>
          <a:noFill/>
        </p:spPr>
        <p:txBody>
          <a:bodyPr wrap="none">
            <a:spAutoFit/>
          </a:bodyPr>
          <a:lstStyle/>
          <a:p>
            <a:pPr>
              <a:defRPr sz="1300" b="1" u="sng">
                <a:solidFill>
                  <a:srgbClr val="CC6600"/>
                </a:solidFill>
              </a:defRPr>
            </a:pPr>
            <a:r>
              <a:t>[Step 2: 당사 진단]</a:t>
            </a:r>
          </a:p>
        </p:txBody>
      </p:sp>
      <p:sp>
        <p:nvSpPr>
          <p:cNvPr id="6" name="TextBox 5"/>
          <p:cNvSpPr txBox="1"/>
          <p:nvPr/>
        </p:nvSpPr>
        <p:spPr>
          <a:xfrm>
            <a:off x="457200" y="3474720"/>
            <a:ext cx="10972800" cy="365760"/>
          </a:xfrm>
          <a:prstGeom prst="rect">
            <a:avLst/>
          </a:prstGeom>
          <a:noFill/>
        </p:spPr>
        <p:txBody>
          <a:bodyPr wrap="square">
            <a:spAutoFit/>
          </a:bodyPr>
          <a:lstStyle/>
          <a:p>
            <a:pPr algn="l">
              <a:defRPr sz="1000" b="0">
                <a:solidFill>
                  <a:srgbClr val="333333"/>
                </a:solidFill>
              </a:defRPr>
            </a:pPr>
            <a:r>
              <a:t>- CL maxThreads=-1: 무제한. 자원 고갈 시 OOME: unable to create new native thread</a:t>
            </a:r>
            <a:br/>
            <a:r>
              <a:t>- 주차 maxThreads=500: 기본값의 2.5배, 부하테스트 후 증분 접근 권장</a:t>
            </a:r>
            <a:br/>
            <a:r>
              <a:t>- 현금정보계 Liberty: 자동 튜닝은 정상. 단 Java 15 + 컨테이너 환경에서 CPU 오인식 리스크 존재</a:t>
            </a:r>
          </a:p>
        </p:txBody>
      </p:sp>
      <p:sp>
        <p:nvSpPr>
          <p:cNvPr id="7" name="TextBox 6"/>
          <p:cNvSpPr txBox="1"/>
          <p:nvPr/>
        </p:nvSpPr>
        <p:spPr>
          <a:xfrm>
            <a:off x="457200" y="4389120"/>
            <a:ext cx="10972800" cy="320040"/>
          </a:xfrm>
          <a:prstGeom prst="rect">
            <a:avLst/>
          </a:prstGeom>
          <a:noFill/>
        </p:spPr>
        <p:txBody>
          <a:bodyPr wrap="none">
            <a:spAutoFit/>
          </a:bodyPr>
          <a:lstStyle/>
          <a:p>
            <a:pPr>
              <a:defRPr sz="1300" b="1" u="sng">
                <a:solidFill>
                  <a:srgbClr val="003366"/>
                </a:solidFill>
              </a:defRPr>
            </a:pPr>
            <a:r>
              <a:t>[Step 3: 컨설팅사 제언 요청]</a:t>
            </a:r>
          </a:p>
        </p:txBody>
      </p:sp>
      <p:sp>
        <p:nvSpPr>
          <p:cNvPr id="8" name="TextBox 7"/>
          <p:cNvSpPr txBox="1"/>
          <p:nvPr/>
        </p:nvSpPr>
        <p:spPr>
          <a:xfrm>
            <a:off x="457200" y="4663440"/>
            <a:ext cx="10972800" cy="1097280"/>
          </a:xfrm>
          <a:prstGeom prst="rect">
            <a:avLst/>
          </a:prstGeom>
          <a:noFill/>
        </p:spPr>
        <p:txBody>
          <a:bodyPr wrap="square">
            <a:spAutoFit/>
          </a:bodyPr>
          <a:lstStyle/>
          <a:p>
            <a:pPr>
              <a:spcAft>
                <a:spcPts val="400"/>
              </a:spcAft>
              <a:defRPr sz="900" b="0">
                <a:solidFill>
                  <a:srgbClr val="333333"/>
                </a:solidFill>
              </a:defRPr>
            </a:pPr>
            <a:r>
              <a:t>Q1: CL플랫폼 maxThreads=-1이 현재 문제 없다면 굳이 변경해야 하는지?</a:t>
            </a:r>
          </a:p>
          <a:p>
            <a:pPr>
              <a:spcAft>
                <a:spcPts val="400"/>
              </a:spcAft>
              <a:defRPr sz="900" b="0">
                <a:solidFill>
                  <a:srgbClr val="333333"/>
                </a:solidFill>
              </a:defRPr>
            </a:pPr>
            <a:r>
              <a:t>Q2: 주차서비스 maxThreads=500이 실제로 필요한지 확인하는 방법은?</a:t>
            </a:r>
          </a:p>
          <a:p>
            <a:pPr>
              <a:spcAft>
                <a:spcPts val="400"/>
              </a:spcAft>
              <a:defRPr sz="900" b="1">
                <a:solidFill>
                  <a:srgbClr val="CC0000"/>
                </a:solidFill>
              </a:defRPr>
            </a:pPr>
            <a:r>
              <a:t>Q3: 현금정보계 Java 15 + Liberty 자동 튜닝 환경에서 CPU 자원 오인식으로 인한 과도한 스레드 생성 및 CPU 쓰로틀링 위험이 없는지?</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square">
            <a:spAutoFit/>
          </a:bodyPr>
          <a:lstStyle/>
          <a:p>
            <a:pPr>
              <a:defRPr sz="2400" b="1">
                <a:solidFill>
                  <a:srgbClr val="1B2A4A"/>
                </a:solidFill>
              </a:defRPr>
            </a:pPr>
            <a:r>
              <a:t>[C-06] MongoDB Replica Set 운영 및 모니터링 공백</a:t>
            </a:r>
          </a:p>
        </p:txBody>
      </p:sp>
      <p:sp>
        <p:nvSpPr>
          <p:cNvPr id="3" name="TextBox 2"/>
          <p:cNvSpPr txBox="1"/>
          <p:nvPr/>
        </p:nvSpPr>
        <p:spPr>
          <a:xfrm>
            <a:off x="457200" y="914400"/>
            <a:ext cx="10972800" cy="320040"/>
          </a:xfrm>
          <a:prstGeom prst="rect">
            <a:avLst/>
          </a:prstGeom>
          <a:noFill/>
        </p:spPr>
        <p:txBody>
          <a:bodyPr wrap="none">
            <a:spAutoFit/>
          </a:bodyPr>
          <a:lstStyle/>
          <a:p>
            <a:pPr>
              <a:defRPr sz="1300" b="1" u="sng">
                <a:solidFill>
                  <a:srgbClr val="006D6F"/>
                </a:solidFill>
              </a:defRPr>
            </a:pPr>
            <a:r>
              <a:t>[Step 1: 현황 (Current State)]</a:t>
            </a:r>
          </a:p>
        </p:txBody>
      </p:sp>
      <p:graphicFrame>
        <p:nvGraphicFramePr>
          <p:cNvPr id="4" name="Table 3"/>
          <p:cNvGraphicFramePr>
            <a:graphicFrameLocks noGrp="1"/>
          </p:cNvGraphicFramePr>
          <p:nvPr/>
        </p:nvGraphicFramePr>
        <p:xfrm>
          <a:off x="457200" y="1188720"/>
          <a:ext cx="10972800" cy="2743200"/>
        </p:xfrm>
        <a:graphic>
          <a:graphicData uri="http://schemas.openxmlformats.org/drawingml/2006/table">
            <a:tbl>
              <a:tblPr firstRow="1" bandRow="1">
                <a:tableStyleId>{5C22544A-7EE6-4342-B048-85BDC9FD1C3A}</a:tableStyleId>
              </a:tblPr>
              <a:tblGrid>
                <a:gridCol w="2286000"/>
                <a:gridCol w="4114800"/>
                <a:gridCol w="4572000"/>
              </a:tblGrid>
              <a:tr h="274320">
                <a:tc>
                  <a:txBody>
                    <a:bodyPr/>
                    <a:lstStyle/>
                    <a:p>
                      <a:pPr algn="ctr">
                        <a:defRPr sz="900" b="1">
                          <a:solidFill>
                            <a:srgbClr val="FFFFFF"/>
                          </a:solidFill>
                        </a:defRPr>
                      </a:pPr>
                      <a:r>
                        <a:t>항목</a:t>
                      </a:r>
                    </a:p>
                  </a:txBody>
                  <a:tcPr>
                    <a:solidFill>
                      <a:srgbClr val="1B2A4A"/>
                    </a:solidFill>
                  </a:tcPr>
                </a:tc>
                <a:tc>
                  <a:txBody>
                    <a:bodyPr/>
                    <a:lstStyle/>
                    <a:p>
                      <a:pPr algn="ctr">
                        <a:defRPr sz="900" b="1">
                          <a:solidFill>
                            <a:srgbClr val="FFFFFF"/>
                          </a:solidFill>
                        </a:defRPr>
                      </a:pPr>
                      <a:r>
                        <a:t>현행 설정</a:t>
                      </a:r>
                    </a:p>
                  </a:txBody>
                  <a:tcPr>
                    <a:solidFill>
                      <a:srgbClr val="1B2A4A"/>
                    </a:solidFill>
                  </a:tcPr>
                </a:tc>
                <a:tc>
                  <a:txBody>
                    <a:bodyPr/>
                    <a:lstStyle/>
                    <a:p>
                      <a:pPr algn="ctr">
                        <a:defRPr sz="900" b="1">
                          <a:solidFill>
                            <a:srgbClr val="FFFFFF"/>
                          </a:solidFill>
                        </a:defRPr>
                      </a:pPr>
                      <a:r>
                        <a:t>평가</a:t>
                      </a:r>
                    </a:p>
                  </a:txBody>
                  <a:tcPr>
                    <a:solidFill>
                      <a:srgbClr val="1B2A4A"/>
                    </a:solidFill>
                  </a:tcPr>
                </a:tc>
              </a:tr>
              <a:tr h="274320">
                <a:tc>
                  <a:txBody>
                    <a:bodyPr/>
                    <a:lstStyle/>
                    <a:p>
                      <a:pPr>
                        <a:defRPr sz="800">
                          <a:solidFill>
                            <a:srgbClr val="333333"/>
                          </a:solidFill>
                        </a:defRPr>
                      </a:pPr>
                      <a:r>
                        <a:t>배포 아키텍처</a:t>
                      </a:r>
                    </a:p>
                  </a:txBody>
                  <a:tcPr>
                    <a:solidFill>
                      <a:srgbClr val="FFFFFF"/>
                    </a:solidFill>
                  </a:tcPr>
                </a:tc>
                <a:tc>
                  <a:txBody>
                    <a:bodyPr/>
                    <a:lstStyle/>
                    <a:p>
                      <a:pPr>
                        <a:defRPr sz="800">
                          <a:solidFill>
                            <a:srgbClr val="333333"/>
                          </a:solidFill>
                        </a:defRPr>
                      </a:pPr>
                      <a:r>
                        <a:t>Replica Set (M1/S2/A0)</a:t>
                      </a:r>
                    </a:p>
                  </a:txBody>
                  <a:tcPr>
                    <a:solidFill>
                      <a:srgbClr val="FFFFFF"/>
                    </a:solidFill>
                  </a:tcPr>
                </a:tc>
                <a:tc>
                  <a:txBody>
                    <a:bodyPr/>
                    <a:lstStyle/>
                    <a:p>
                      <a:pPr>
                        <a:defRPr sz="800">
                          <a:solidFill>
                            <a:srgbClr val="333333"/>
                          </a:solidFill>
                        </a:defRPr>
                      </a:pPr>
                      <a:r>
                        <a:t>유효</a:t>
                      </a:r>
                    </a:p>
                  </a:txBody>
                  <a:tcPr>
                    <a:solidFill>
                      <a:srgbClr val="FFFFFF"/>
                    </a:solidFill>
                  </a:tcPr>
                </a:tc>
              </a:tr>
              <a:tr h="274320">
                <a:tc>
                  <a:txBody>
                    <a:bodyPr/>
                    <a:lstStyle/>
                    <a:p>
                      <a:pPr>
                        <a:defRPr sz="800">
                          <a:solidFill>
                            <a:srgbClr val="333333"/>
                          </a:solidFill>
                        </a:defRPr>
                      </a:pPr>
                      <a:r>
                        <a:t>데이터 모델링</a:t>
                      </a:r>
                    </a:p>
                  </a:txBody>
                  <a:tcPr>
                    <a:solidFill>
                      <a:srgbClr val="F2F2F2"/>
                    </a:solidFill>
                  </a:tcPr>
                </a:tc>
                <a:tc>
                  <a:txBody>
                    <a:bodyPr/>
                    <a:lstStyle/>
                    <a:p>
                      <a:pPr>
                        <a:defRPr sz="800">
                          <a:solidFill>
                            <a:srgbClr val="333333"/>
                          </a:solidFill>
                        </a:defRPr>
                      </a:pPr>
                      <a:r>
                        <a:t>Schema-less 활용도 낮음</a:t>
                      </a:r>
                    </a:p>
                  </a:txBody>
                  <a:tcPr>
                    <a:solidFill>
                      <a:srgbClr val="F2F2F2"/>
                    </a:solidFill>
                  </a:tcPr>
                </a:tc>
                <a:tc>
                  <a:txBody>
                    <a:bodyPr/>
                    <a:lstStyle/>
                    <a:p>
                      <a:pPr>
                        <a:defRPr sz="800">
                          <a:solidFill>
                            <a:srgbClr val="333333"/>
                          </a:solidFill>
                        </a:defRPr>
                      </a:pPr>
                      <a:r>
                        <a:t>관계형 유사 패턴</a:t>
                      </a:r>
                    </a:p>
                  </a:txBody>
                  <a:tcPr>
                    <a:solidFill>
                      <a:srgbClr val="F2F2F2"/>
                    </a:solidFill>
                  </a:tcPr>
                </a:tc>
              </a:tr>
              <a:tr h="274320">
                <a:tc>
                  <a:txBody>
                    <a:bodyPr/>
                    <a:lstStyle/>
                    <a:p>
                      <a:pPr>
                        <a:defRPr sz="800">
                          <a:solidFill>
                            <a:srgbClr val="333333"/>
                          </a:solidFill>
                        </a:defRPr>
                      </a:pPr>
                      <a:r>
                        <a:t>Read:Write 비율</a:t>
                      </a:r>
                    </a:p>
                  </a:txBody>
                  <a:tcPr>
                    <a:solidFill>
                      <a:srgbClr val="FFFFFF"/>
                    </a:solidFill>
                  </a:tcPr>
                </a:tc>
                <a:tc>
                  <a:txBody>
                    <a:bodyPr/>
                    <a:lstStyle/>
                    <a:p>
                      <a:pPr>
                        <a:defRPr sz="800">
                          <a:solidFill>
                            <a:srgbClr val="333333"/>
                          </a:solidFill>
                        </a:defRPr>
                      </a:pPr>
                      <a:r>
                        <a:t>6:4</a:t>
                      </a:r>
                    </a:p>
                  </a:txBody>
                  <a:tcPr>
                    <a:solidFill>
                      <a:srgbClr val="FFFFFF"/>
                    </a:solidFill>
                  </a:tcPr>
                </a:tc>
                <a:tc>
                  <a:txBody>
                    <a:bodyPr/>
                    <a:lstStyle/>
                    <a:p>
                      <a:pPr>
                        <a:defRPr sz="800">
                          <a:solidFill>
                            <a:srgbClr val="333333"/>
                          </a:solidFill>
                        </a:defRPr>
                      </a:pPr>
                      <a:r>
                        <a:t>Secondary 분산 검토 필요</a:t>
                      </a:r>
                    </a:p>
                  </a:txBody>
                  <a:tcPr>
                    <a:solidFill>
                      <a:srgbClr val="FFFFFF"/>
                    </a:solidFill>
                  </a:tcPr>
                </a:tc>
              </a:tr>
              <a:tr h="274320">
                <a:tc>
                  <a:txBody>
                    <a:bodyPr/>
                    <a:lstStyle/>
                    <a:p>
                      <a:pPr>
                        <a:defRPr sz="800">
                          <a:solidFill>
                            <a:srgbClr val="333333"/>
                          </a:solidFill>
                        </a:defRPr>
                      </a:pPr>
                      <a:r>
                        <a:t>인덱스 전략</a:t>
                      </a:r>
                    </a:p>
                  </a:txBody>
                  <a:tcPr>
                    <a:solidFill>
                      <a:srgbClr val="F2F2F2"/>
                    </a:solidFill>
                  </a:tcPr>
                </a:tc>
                <a:tc>
                  <a:txBody>
                    <a:bodyPr/>
                    <a:lstStyle/>
                    <a:p>
                      <a:pPr>
                        <a:defRPr sz="800">
                          <a:solidFill>
                            <a:srgbClr val="333333"/>
                          </a:solidFill>
                        </a:defRPr>
                      </a:pPr>
                      <a:r>
                        <a:t>고정 필드 위주</a:t>
                      </a:r>
                    </a:p>
                  </a:txBody>
                  <a:tcPr>
                    <a:solidFill>
                      <a:srgbClr val="F2F2F2"/>
                    </a:solidFill>
                  </a:tcPr>
                </a:tc>
                <a:tc>
                  <a:txBody>
                    <a:bodyPr/>
                    <a:lstStyle/>
                    <a:p>
                      <a:pPr>
                        <a:defRPr sz="800" b="1">
                          <a:solidFill>
                            <a:srgbClr val="006600"/>
                          </a:solidFill>
                        </a:defRPr>
                      </a:pPr>
                      <a:r>
                        <a:t>현재 양호, 쿼리 변경 시 리스크</a:t>
                      </a:r>
                    </a:p>
                  </a:txBody>
                  <a:tcPr>
                    <a:solidFill>
                      <a:srgbClr val="F2F2F2"/>
                    </a:solidFill>
                  </a:tcPr>
                </a:tc>
              </a:tr>
              <a:tr h="274320">
                <a:tc>
                  <a:txBody>
                    <a:bodyPr/>
                    <a:lstStyle/>
                    <a:p>
                      <a:pPr>
                        <a:defRPr sz="800">
                          <a:solidFill>
                            <a:srgbClr val="333333"/>
                          </a:solidFill>
                        </a:defRPr>
                      </a:pPr>
                      <a:r>
                        <a:t>COLLSCAN 모니터링</a:t>
                      </a:r>
                    </a:p>
                  </a:txBody>
                  <a:tcPr>
                    <a:solidFill>
                      <a:srgbClr val="FFE0E0"/>
                    </a:solidFill>
                  </a:tcPr>
                </a:tc>
                <a:tc>
                  <a:txBody>
                    <a:bodyPr/>
                    <a:lstStyle/>
                    <a:p>
                      <a:pPr>
                        <a:defRPr sz="800">
                          <a:solidFill>
                            <a:srgbClr val="333333"/>
                          </a:solidFill>
                        </a:defRPr>
                      </a:pPr>
                      <a:r>
                        <a:t>주기적 체크 없음</a:t>
                      </a:r>
                    </a:p>
                  </a:txBody>
                  <a:tcPr>
                    <a:solidFill>
                      <a:srgbClr val="FFE0E0"/>
                    </a:solidFill>
                  </a:tcPr>
                </a:tc>
                <a:tc>
                  <a:txBody>
                    <a:bodyPr/>
                    <a:lstStyle/>
                    <a:p>
                      <a:pPr>
                        <a:defRPr sz="800" b="1">
                          <a:solidFill>
                            <a:srgbClr val="CC0000"/>
                          </a:solidFill>
                        </a:defRPr>
                      </a:pPr>
                      <a:r>
                        <a:t>**위험 -- 인덱스 누락 시 선형 저하**</a:t>
                      </a:r>
                    </a:p>
                  </a:txBody>
                  <a:tcPr>
                    <a:solidFill>
                      <a:srgbClr val="FFE0E0"/>
                    </a:solidFill>
                  </a:tcPr>
                </a:tc>
              </a:tr>
              <a:tr h="274320">
                <a:tc>
                  <a:txBody>
                    <a:bodyPr/>
                    <a:lstStyle/>
                    <a:p>
                      <a:pPr>
                        <a:defRPr sz="800">
                          <a:solidFill>
                            <a:srgbClr val="333333"/>
                          </a:solidFill>
                        </a:defRPr>
                      </a:pPr>
                      <a:r>
                        <a:t>Read Preference</a:t>
                      </a:r>
                    </a:p>
                  </a:txBody>
                  <a:tcPr>
                    <a:solidFill>
                      <a:srgbClr val="F2F2F2"/>
                    </a:solidFill>
                  </a:tcPr>
                </a:tc>
                <a:tc>
                  <a:txBody>
                    <a:bodyPr/>
                    <a:lstStyle/>
                    <a:p>
                      <a:pPr>
                        <a:defRPr sz="800">
                          <a:solidFill>
                            <a:srgbClr val="333333"/>
                          </a:solidFill>
                        </a:defRPr>
                      </a:pPr>
                      <a:r>
                        <a:t>기본값(primary) 추정</a:t>
                      </a:r>
                    </a:p>
                  </a:txBody>
                  <a:tcPr>
                    <a:solidFill>
                      <a:srgbClr val="F2F2F2"/>
                    </a:solidFill>
                  </a:tcPr>
                </a:tc>
                <a:tc>
                  <a:txBody>
                    <a:bodyPr/>
                    <a:lstStyle/>
                    <a:p>
                      <a:pPr>
                        <a:defRPr sz="800">
                          <a:solidFill>
                            <a:srgbClr val="333333"/>
                          </a:solidFill>
                        </a:defRPr>
                      </a:pPr>
                      <a:r>
                        <a:t>읽기 60% 분산 가능</a:t>
                      </a:r>
                    </a:p>
                  </a:txBody>
                  <a:tcPr>
                    <a:solidFill>
                      <a:srgbClr val="F2F2F2"/>
                    </a:solidFill>
                  </a:tcPr>
                </a:tc>
              </a:tr>
              <a:tr h="274320">
                <a:tc>
                  <a:txBody>
                    <a:bodyPr/>
                    <a:lstStyle/>
                    <a:p>
                      <a:pPr>
                        <a:defRPr sz="800">
                          <a:solidFill>
                            <a:srgbClr val="333333"/>
                          </a:solidFill>
                        </a:defRPr>
                      </a:pPr>
                      <a:r>
                        <a:t>샤딩</a:t>
                      </a:r>
                    </a:p>
                  </a:txBody>
                  <a:tcPr>
                    <a:solidFill>
                      <a:srgbClr val="FFFFFF"/>
                    </a:solidFill>
                  </a:tcPr>
                </a:tc>
                <a:tc>
                  <a:txBody>
                    <a:bodyPr/>
                    <a:lstStyle/>
                    <a:p>
                      <a:pPr>
                        <a:defRPr sz="800">
                          <a:solidFill>
                            <a:srgbClr val="333333"/>
                          </a:solidFill>
                        </a:defRPr>
                      </a:pPr>
                      <a:r>
                        <a:t>미적용, 도입 계획 없음</a:t>
                      </a:r>
                    </a:p>
                  </a:txBody>
                  <a:tcPr>
                    <a:solidFill>
                      <a:srgbClr val="FFFFFF"/>
                    </a:solidFill>
                  </a:tcPr>
                </a:tc>
                <a:tc>
                  <a:txBody>
                    <a:bodyPr/>
                    <a:lstStyle/>
                    <a:p>
                      <a:pPr>
                        <a:defRPr sz="800">
                          <a:solidFill>
                            <a:srgbClr val="333333"/>
                          </a:solidFill>
                        </a:defRPr>
                      </a:pPr>
                      <a:r>
                        <a:t>현재 데이터 규모에서 불필요</a:t>
                      </a:r>
                    </a:p>
                  </a:txBody>
                  <a:tcPr>
                    <a:solidFill>
                      <a:srgbClr val="FFFFFF"/>
                    </a:solidFill>
                  </a:tcPr>
                </a:tc>
              </a:tr>
              <a:tr h="274320">
                <a:tc>
                  <a:txBody>
                    <a:bodyPr/>
                    <a:lstStyle/>
                    <a:p>
                      <a:pPr>
                        <a:defRPr sz="800">
                          <a:solidFill>
                            <a:srgbClr val="333333"/>
                          </a:solidFill>
                        </a:defRPr>
                      </a:pPr>
                      <a:r>
                        <a:t>HA 기준</a:t>
                      </a:r>
                    </a:p>
                  </a:txBody>
                  <a:tcPr>
                    <a:solidFill>
                      <a:srgbClr val="F2F2F2"/>
                    </a:solidFill>
                  </a:tcPr>
                </a:tc>
                <a:tc>
                  <a:txBody>
                    <a:bodyPr/>
                    <a:lstStyle/>
                    <a:p>
                      <a:pPr>
                        <a:defRPr sz="800">
                          <a:solidFill>
                            <a:srgbClr val="333333"/>
                          </a:solidFill>
                        </a:defRPr>
                      </a:pPr>
                      <a:r>
                        <a:t>RTO 10s/RPO 5s (PG 기준)</a:t>
                      </a:r>
                    </a:p>
                  </a:txBody>
                  <a:tcPr>
                    <a:solidFill>
                      <a:srgbClr val="F2F2F2"/>
                    </a:solidFill>
                  </a:tcPr>
                </a:tc>
                <a:tc>
                  <a:txBody>
                    <a:bodyPr/>
                    <a:lstStyle/>
                    <a:p>
                      <a:pPr>
                        <a:defRPr sz="800">
                          <a:solidFill>
                            <a:srgbClr val="333333"/>
                          </a:solidFill>
                        </a:defRPr>
                      </a:pPr>
                      <a:r>
                        <a:t>MongoDB HA 명시 안됨</a:t>
                      </a:r>
                    </a:p>
                  </a:txBody>
                  <a:tcPr>
                    <a:solidFill>
                      <a:srgbClr val="F2F2F2"/>
                    </a:solidFill>
                  </a:tcPr>
                </a:tc>
              </a:tr>
              <a:tr h="274320">
                <a:tc>
                  <a:txBody>
                    <a:bodyPr/>
                    <a:lstStyle/>
                    <a:p>
                      <a:pPr>
                        <a:defRPr sz="800">
                          <a:solidFill>
                            <a:srgbClr val="333333"/>
                          </a:solidFill>
                        </a:defRPr>
                      </a:pPr>
                      <a:r>
                        <a:t>Write Concern</a:t>
                      </a:r>
                    </a:p>
                  </a:txBody>
                  <a:tcPr>
                    <a:solidFill>
                      <a:srgbClr val="FFFFFF"/>
                    </a:solidFill>
                  </a:tcPr>
                </a:tc>
                <a:tc>
                  <a:txBody>
                    <a:bodyPr/>
                    <a:lstStyle/>
                    <a:p>
                      <a:pPr>
                        <a:defRPr sz="800">
                          <a:solidFill>
                            <a:srgbClr val="333333"/>
                          </a:solidFill>
                        </a:defRPr>
                      </a:pPr>
                      <a:r>
                        <a:t>명시 없음</a:t>
                      </a:r>
                    </a:p>
                  </a:txBody>
                  <a:tcPr>
                    <a:solidFill>
                      <a:srgbClr val="FFFFFF"/>
                    </a:solidFill>
                  </a:tcPr>
                </a:tc>
                <a:tc>
                  <a:txBody>
                    <a:bodyPr/>
                    <a:lstStyle/>
                    <a:p>
                      <a:pPr>
                        <a:defRPr sz="800">
                          <a:solidFill>
                            <a:srgbClr val="333333"/>
                          </a:solidFill>
                        </a:defRPr>
                      </a:pPr>
                      <a:r>
                        <a:t>RTO/RPO 연계 불명</a:t>
                      </a:r>
                    </a:p>
                  </a:txBody>
                  <a:tcPr>
                    <a:solidFill>
                      <a:srgbClr val="FFFFFF"/>
                    </a:solidFill>
                  </a:tcPr>
                </a:tc>
              </a:tr>
            </a:tbl>
          </a:graphicData>
        </a:graphic>
      </p:graphicFrame>
      <p:sp>
        <p:nvSpPr>
          <p:cNvPr id="5" name="TextBox 4"/>
          <p:cNvSpPr txBox="1"/>
          <p:nvPr/>
        </p:nvSpPr>
        <p:spPr>
          <a:xfrm>
            <a:off x="457200" y="4023360"/>
            <a:ext cx="10972800" cy="320040"/>
          </a:xfrm>
          <a:prstGeom prst="rect">
            <a:avLst/>
          </a:prstGeom>
          <a:noFill/>
        </p:spPr>
        <p:txBody>
          <a:bodyPr wrap="none">
            <a:spAutoFit/>
          </a:bodyPr>
          <a:lstStyle/>
          <a:p>
            <a:pPr>
              <a:defRPr sz="1300" b="1" u="sng">
                <a:solidFill>
                  <a:srgbClr val="CC6600"/>
                </a:solidFill>
              </a:defRPr>
            </a:pPr>
            <a:r>
              <a:t>[Step 2: 당사 진단]</a:t>
            </a:r>
          </a:p>
        </p:txBody>
      </p:sp>
      <p:sp>
        <p:nvSpPr>
          <p:cNvPr id="6" name="TextBox 5"/>
          <p:cNvSpPr txBox="1"/>
          <p:nvPr/>
        </p:nvSpPr>
        <p:spPr>
          <a:xfrm>
            <a:off x="457200" y="4297680"/>
            <a:ext cx="10972800" cy="365760"/>
          </a:xfrm>
          <a:prstGeom prst="rect">
            <a:avLst/>
          </a:prstGeom>
          <a:noFill/>
        </p:spPr>
        <p:txBody>
          <a:bodyPr wrap="square">
            <a:spAutoFit/>
          </a:bodyPr>
          <a:lstStyle/>
          <a:p>
            <a:pPr algn="l">
              <a:defRPr sz="1000" b="0">
                <a:solidFill>
                  <a:srgbClr val="333333"/>
                </a:solidFill>
              </a:defRPr>
            </a:pPr>
            <a:r>
              <a:t>- COLLSCAN 모니터링: db.setProfilingLevel(1, {slowms: 100}) 필수</a:t>
            </a:r>
            <a:br/>
            <a:r>
              <a:t>- explain() 정기 수행: totalDocsExamined가 nReturned 10배 이상이면 인덱스 누락</a:t>
            </a:r>
            <a:br/>
            <a:r>
              <a:t>- Read Preference: secondaryPreferred로 읽기 부하 분산</a:t>
            </a:r>
            <a:br/>
            <a:r>
              <a:t>- 인덱스: ESR 규칙(Equality, Sort, Range) 기반 복합 인덱스 설계</a:t>
            </a:r>
            <a:br/>
            <a:r>
              <a:t>- Write Concern: w:majority 설정 검토 (RTO 10s/RPO 5s 기준 적용 시)</a:t>
            </a:r>
          </a:p>
        </p:txBody>
      </p:sp>
      <p:sp>
        <p:nvSpPr>
          <p:cNvPr id="7" name="TextBox 6"/>
          <p:cNvSpPr txBox="1"/>
          <p:nvPr/>
        </p:nvSpPr>
        <p:spPr>
          <a:xfrm>
            <a:off x="457200" y="5303520"/>
            <a:ext cx="10972800" cy="320040"/>
          </a:xfrm>
          <a:prstGeom prst="rect">
            <a:avLst/>
          </a:prstGeom>
          <a:noFill/>
        </p:spPr>
        <p:txBody>
          <a:bodyPr wrap="none">
            <a:spAutoFit/>
          </a:bodyPr>
          <a:lstStyle/>
          <a:p>
            <a:pPr>
              <a:defRPr sz="1300" b="1" u="sng">
                <a:solidFill>
                  <a:srgbClr val="003366"/>
                </a:solidFill>
              </a:defRPr>
            </a:pPr>
            <a:r>
              <a:t>[Step 3: 컨설팅사 제언 요청]</a:t>
            </a:r>
          </a:p>
        </p:txBody>
      </p:sp>
      <p:sp>
        <p:nvSpPr>
          <p:cNvPr id="8" name="TextBox 7"/>
          <p:cNvSpPr txBox="1"/>
          <p:nvPr/>
        </p:nvSpPr>
        <p:spPr>
          <a:xfrm>
            <a:off x="457200" y="5577840"/>
            <a:ext cx="10972800" cy="914400"/>
          </a:xfrm>
          <a:prstGeom prst="rect">
            <a:avLst/>
          </a:prstGeom>
          <a:noFill/>
        </p:spPr>
        <p:txBody>
          <a:bodyPr wrap="square">
            <a:spAutoFit/>
          </a:bodyPr>
          <a:lstStyle/>
          <a:p>
            <a:pPr>
              <a:spcAft>
                <a:spcPts val="400"/>
              </a:spcAft>
              <a:defRPr sz="900" b="0">
                <a:solidFill>
                  <a:srgbClr val="333333"/>
                </a:solidFill>
              </a:defRPr>
            </a:pPr>
            <a:r>
              <a:t>Q1: 서비스 초기 단계에서 MongoDB 인덱스 전략을 어떻게 수립해야 하는지?</a:t>
            </a:r>
          </a:p>
          <a:p>
            <a:pPr>
              <a:spcAft>
                <a:spcPts val="400"/>
              </a:spcAft>
              <a:defRPr sz="900" b="0">
                <a:solidFill>
                  <a:srgbClr val="333333"/>
                </a:solidFill>
              </a:defRPr>
            </a:pPr>
            <a:r>
              <a:t>Q2: COLLSCAN 감지를 위한 최소 모니터링 체계를 권장해 주십시오.</a:t>
            </a:r>
          </a:p>
          <a:p>
            <a:pPr>
              <a:spcAft>
                <a:spcPts val="400"/>
              </a:spcAft>
              <a:defRPr sz="900" b="0">
                <a:solidFill>
                  <a:srgbClr val="333333"/>
                </a:solidFill>
              </a:defRPr>
            </a:pPr>
            <a:r>
              <a:t>Q3: secondaryPreferred 적용 시 oplog lag으로 인한 데이터 일관성 문제는?</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square">
            <a:spAutoFit/>
          </a:bodyPr>
          <a:lstStyle/>
          <a:p>
            <a:pPr>
              <a:defRPr sz="2400" b="1">
                <a:solidFill>
                  <a:srgbClr val="1B2A4A"/>
                </a:solidFill>
              </a:defRPr>
            </a:pPr>
            <a:r>
              <a:t>[D-01] 당사 제안 우선순위 로드맵</a:t>
            </a:r>
          </a:p>
        </p:txBody>
      </p:sp>
      <p:graphicFrame>
        <p:nvGraphicFramePr>
          <p:cNvPr id="3" name="Table 2"/>
          <p:cNvGraphicFramePr>
            <a:graphicFrameLocks noGrp="1"/>
          </p:cNvGraphicFramePr>
          <p:nvPr/>
        </p:nvGraphicFramePr>
        <p:xfrm>
          <a:off x="457200" y="1005840"/>
          <a:ext cx="10972800" cy="3566160"/>
        </p:xfrm>
        <a:graphic>
          <a:graphicData uri="http://schemas.openxmlformats.org/drawingml/2006/table">
            <a:tbl>
              <a:tblPr firstRow="1" bandRow="1">
                <a:tableStyleId>{5C22544A-7EE6-4342-B048-85BDC9FD1C3A}</a:tableStyleId>
              </a:tblPr>
              <a:tblGrid>
                <a:gridCol w="640080"/>
                <a:gridCol w="2011680"/>
                <a:gridCol w="1828800"/>
                <a:gridCol w="2743200"/>
                <a:gridCol w="2286000"/>
                <a:gridCol w="1463040"/>
              </a:tblGrid>
              <a:tr h="274320">
                <a:tc>
                  <a:txBody>
                    <a:bodyPr/>
                    <a:lstStyle/>
                    <a:p>
                      <a:pPr algn="ctr">
                        <a:defRPr sz="900" b="1">
                          <a:solidFill>
                            <a:srgbClr val="FFFFFF"/>
                          </a:solidFill>
                        </a:defRPr>
                      </a:pPr>
                      <a:r>
                        <a:t>등급</a:t>
                      </a:r>
                    </a:p>
                  </a:txBody>
                  <a:tcPr>
                    <a:solidFill>
                      <a:srgbClr val="1B2A4A"/>
                    </a:solidFill>
                  </a:tcPr>
                </a:tc>
                <a:tc>
                  <a:txBody>
                    <a:bodyPr/>
                    <a:lstStyle/>
                    <a:p>
                      <a:pPr algn="ctr">
                        <a:defRPr sz="900" b="1">
                          <a:solidFill>
                            <a:srgbClr val="FFFFFF"/>
                          </a:solidFill>
                        </a:defRPr>
                      </a:pPr>
                      <a:r>
                        <a:t>항목</a:t>
                      </a:r>
                    </a:p>
                  </a:txBody>
                  <a:tcPr>
                    <a:solidFill>
                      <a:srgbClr val="1B2A4A"/>
                    </a:solidFill>
                  </a:tcPr>
                </a:tc>
                <a:tc>
                  <a:txBody>
                    <a:bodyPr/>
                    <a:lstStyle/>
                    <a:p>
                      <a:pPr algn="ctr">
                        <a:defRPr sz="900" b="1">
                          <a:solidFill>
                            <a:srgbClr val="FFFFFF"/>
                          </a:solidFill>
                        </a:defRPr>
                      </a:pPr>
                      <a:r>
                        <a:t>대상 팀</a:t>
                      </a:r>
                    </a:p>
                  </a:txBody>
                  <a:tcPr>
                    <a:solidFill>
                      <a:srgbClr val="1B2A4A"/>
                    </a:solidFill>
                  </a:tcPr>
                </a:tc>
                <a:tc>
                  <a:txBody>
                    <a:bodyPr/>
                    <a:lstStyle/>
                    <a:p>
                      <a:pPr algn="ctr">
                        <a:defRPr sz="900" b="1">
                          <a:solidFill>
                            <a:srgbClr val="FFFFFF"/>
                          </a:solidFill>
                        </a:defRPr>
                      </a:pPr>
                      <a:r>
                        <a:t>개선 내용</a:t>
                      </a:r>
                    </a:p>
                  </a:txBody>
                  <a:tcPr>
                    <a:solidFill>
                      <a:srgbClr val="1B2A4A"/>
                    </a:solidFill>
                  </a:tcPr>
                </a:tc>
                <a:tc>
                  <a:txBody>
                    <a:bodyPr/>
                    <a:lstStyle/>
                    <a:p>
                      <a:pPr algn="ctr">
                        <a:defRPr sz="900" b="1">
                          <a:solidFill>
                            <a:srgbClr val="FFFFFF"/>
                          </a:solidFill>
                        </a:defRPr>
                      </a:pPr>
                      <a:r>
                        <a:t>검증 지표</a:t>
                      </a:r>
                    </a:p>
                  </a:txBody>
                  <a:tcPr>
                    <a:solidFill>
                      <a:srgbClr val="1B2A4A"/>
                    </a:solidFill>
                  </a:tcPr>
                </a:tc>
                <a:tc>
                  <a:txBody>
                    <a:bodyPr/>
                    <a:lstStyle/>
                    <a:p>
                      <a:pPr algn="ctr">
                        <a:defRPr sz="900" b="1">
                          <a:solidFill>
                            <a:srgbClr val="FFFFFF"/>
                          </a:solidFill>
                        </a:defRPr>
                      </a:pPr>
                      <a:r>
                        <a:t>예상 소요</a:t>
                      </a:r>
                    </a:p>
                  </a:txBody>
                  <a:tcPr>
                    <a:solidFill>
                      <a:srgbClr val="1B2A4A"/>
                    </a:solidFill>
                  </a:tcPr>
                </a:tc>
              </a:tr>
              <a:tr h="274320">
                <a:tc>
                  <a:txBody>
                    <a:bodyPr/>
                    <a:lstStyle/>
                    <a:p>
                      <a:pPr>
                        <a:defRPr sz="800">
                          <a:solidFill>
                            <a:srgbClr val="333333"/>
                          </a:solidFill>
                        </a:defRPr>
                      </a:pPr>
                      <a:r>
                        <a:t>P0</a:t>
                      </a:r>
                    </a:p>
                  </a:txBody>
                  <a:tcPr>
                    <a:solidFill>
                      <a:srgbClr val="FFFFFF"/>
                    </a:solidFill>
                  </a:tcPr>
                </a:tc>
                <a:tc>
                  <a:txBody>
                    <a:bodyPr/>
                    <a:lstStyle/>
                    <a:p>
                      <a:pPr>
                        <a:defRPr sz="800">
                          <a:solidFill>
                            <a:srgbClr val="333333"/>
                          </a:solidFill>
                        </a:defRPr>
                      </a:pPr>
                      <a:r>
                        <a:t>CL GC 전환+Heap 증설</a:t>
                      </a:r>
                    </a:p>
                  </a:txBody>
                  <a:tcPr>
                    <a:solidFill>
                      <a:srgbClr val="FFFFFF"/>
                    </a:solidFill>
                  </a:tcPr>
                </a:tc>
                <a:tc>
                  <a:txBody>
                    <a:bodyPr/>
                    <a:lstStyle/>
                    <a:p>
                      <a:pPr>
                        <a:defRPr sz="800">
                          <a:solidFill>
                            <a:srgbClr val="333333"/>
                          </a:solidFill>
                        </a:defRPr>
                      </a:pPr>
                      <a:r>
                        <a:t>CL플랫폼</a:t>
                      </a:r>
                    </a:p>
                  </a:txBody>
                  <a:tcPr>
                    <a:solidFill>
                      <a:srgbClr val="FFFFFF"/>
                    </a:solidFill>
                  </a:tcPr>
                </a:tc>
                <a:tc>
                  <a:txBody>
                    <a:bodyPr/>
                    <a:lstStyle/>
                    <a:p>
                      <a:pPr>
                        <a:defRPr sz="800">
                          <a:solidFill>
                            <a:srgbClr val="333333"/>
                          </a:solidFill>
                        </a:defRPr>
                      </a:pPr>
                      <a:r>
                        <a:t>Parallel-&gt;G1, 2048-&gt;4096m</a:t>
                      </a:r>
                    </a:p>
                  </a:txBody>
                  <a:tcPr>
                    <a:solidFill>
                      <a:srgbClr val="FFFFFF"/>
                    </a:solidFill>
                  </a:tcPr>
                </a:tc>
                <a:tc>
                  <a:txBody>
                    <a:bodyPr/>
                    <a:lstStyle/>
                    <a:p>
                      <a:pPr>
                        <a:defRPr sz="800">
                          <a:solidFill>
                            <a:srgbClr val="333333"/>
                          </a:solidFill>
                        </a:defRPr>
                      </a:pPr>
                      <a:r>
                        <a:t>GC pause&lt;200ms, Old&lt;70%</a:t>
                      </a:r>
                    </a:p>
                  </a:txBody>
                  <a:tcPr>
                    <a:solidFill>
                      <a:srgbClr val="FFFFFF"/>
                    </a:solidFill>
                  </a:tcPr>
                </a:tc>
                <a:tc>
                  <a:txBody>
                    <a:bodyPr/>
                    <a:lstStyle/>
                    <a:p>
                      <a:pPr>
                        <a:defRPr sz="800">
                          <a:solidFill>
                            <a:srgbClr val="333333"/>
                          </a:solidFill>
                        </a:defRPr>
                      </a:pPr>
                      <a:r>
                        <a:t>즉시(1주)</a:t>
                      </a:r>
                    </a:p>
                  </a:txBody>
                  <a:tcPr>
                    <a:solidFill>
                      <a:srgbClr val="FFFFFF"/>
                    </a:solidFill>
                  </a:tcPr>
                </a:tc>
              </a:tr>
              <a:tr h="274320">
                <a:tc>
                  <a:txBody>
                    <a:bodyPr/>
                    <a:lstStyle/>
                    <a:p>
                      <a:pPr>
                        <a:defRPr sz="800">
                          <a:solidFill>
                            <a:srgbClr val="333333"/>
                          </a:solidFill>
                        </a:defRPr>
                      </a:pPr>
                      <a:r>
                        <a:t>P0</a:t>
                      </a:r>
                    </a:p>
                  </a:txBody>
                  <a:tcPr>
                    <a:solidFill>
                      <a:srgbClr val="F2F2F2"/>
                    </a:solidFill>
                  </a:tcPr>
                </a:tc>
                <a:tc>
                  <a:txBody>
                    <a:bodyPr/>
                    <a:lstStyle/>
                    <a:p>
                      <a:pPr>
                        <a:defRPr sz="800">
                          <a:solidFill>
                            <a:srgbClr val="333333"/>
                          </a:solidFill>
                        </a:defRPr>
                      </a:pPr>
                      <a:r>
                        <a:t>Metaspace 정정</a:t>
                      </a:r>
                    </a:p>
                  </a:txBody>
                  <a:tcPr>
                    <a:solidFill>
                      <a:srgbClr val="F2F2F2"/>
                    </a:solidFill>
                  </a:tcPr>
                </a:tc>
                <a:tc>
                  <a:txBody>
                    <a:bodyPr/>
                    <a:lstStyle/>
                    <a:p>
                      <a:pPr>
                        <a:defRPr sz="800">
                          <a:solidFill>
                            <a:srgbClr val="333333"/>
                          </a:solidFill>
                        </a:defRPr>
                      </a:pPr>
                      <a:r>
                        <a:t>현금정보계</a:t>
                      </a:r>
                    </a:p>
                  </a:txBody>
                  <a:tcPr>
                    <a:solidFill>
                      <a:srgbClr val="F2F2F2"/>
                    </a:solidFill>
                  </a:tcPr>
                </a:tc>
                <a:tc>
                  <a:txBody>
                    <a:bodyPr/>
                    <a:lstStyle/>
                    <a:p>
                      <a:pPr>
                        <a:defRPr sz="800">
                          <a:solidFill>
                            <a:srgbClr val="333333"/>
                          </a:solidFill>
                        </a:defRPr>
                      </a:pPr>
                      <a:r>
                        <a:t>Max 16m-&gt;512m 또는 미설정</a:t>
                      </a:r>
                    </a:p>
                  </a:txBody>
                  <a:tcPr>
                    <a:solidFill>
                      <a:srgbClr val="F2F2F2"/>
                    </a:solidFill>
                  </a:tcPr>
                </a:tc>
                <a:tc>
                  <a:txBody>
                    <a:bodyPr/>
                    <a:lstStyle/>
                    <a:p>
                      <a:pPr>
                        <a:defRPr sz="800">
                          <a:solidFill>
                            <a:srgbClr val="333333"/>
                          </a:solidFill>
                        </a:defRPr>
                      </a:pPr>
                      <a:r>
                        <a:t>런타임 Meta&lt;Max</a:t>
                      </a:r>
                    </a:p>
                  </a:txBody>
                  <a:tcPr>
                    <a:solidFill>
                      <a:srgbClr val="F2F2F2"/>
                    </a:solidFill>
                  </a:tcPr>
                </a:tc>
                <a:tc>
                  <a:txBody>
                    <a:bodyPr/>
                    <a:lstStyle/>
                    <a:p>
                      <a:pPr>
                        <a:defRPr sz="800">
                          <a:solidFill>
                            <a:srgbClr val="333333"/>
                          </a:solidFill>
                        </a:defRPr>
                      </a:pPr>
                      <a:r>
                        <a:t>즉시(1주)</a:t>
                      </a:r>
                    </a:p>
                  </a:txBody>
                  <a:tcPr>
                    <a:solidFill>
                      <a:srgbClr val="F2F2F2"/>
                    </a:solidFill>
                  </a:tcPr>
                </a:tc>
              </a:tr>
              <a:tr h="274320">
                <a:tc>
                  <a:txBody>
                    <a:bodyPr/>
                    <a:lstStyle/>
                    <a:p>
                      <a:pPr>
                        <a:defRPr sz="800">
                          <a:solidFill>
                            <a:srgbClr val="333333"/>
                          </a:solidFill>
                        </a:defRPr>
                      </a:pPr>
                      <a:r>
                        <a:t>P0</a:t>
                      </a:r>
                    </a:p>
                  </a:txBody>
                  <a:tcPr>
                    <a:solidFill>
                      <a:srgbClr val="FFFFFF"/>
                    </a:solidFill>
                  </a:tcPr>
                </a:tc>
                <a:tc>
                  <a:txBody>
                    <a:bodyPr/>
                    <a:lstStyle/>
                    <a:p>
                      <a:pPr>
                        <a:defRPr sz="800">
                          <a:solidFill>
                            <a:srgbClr val="333333"/>
                          </a:solidFill>
                        </a:defRPr>
                      </a:pPr>
                      <a:r>
                        <a:t>GC 로그 활성화</a:t>
                      </a:r>
                    </a:p>
                  </a:txBody>
                  <a:tcPr>
                    <a:solidFill>
                      <a:srgbClr val="FFFFFF"/>
                    </a:solidFill>
                  </a:tcPr>
                </a:tc>
                <a:tc>
                  <a:txBody>
                    <a:bodyPr/>
                    <a:lstStyle/>
                    <a:p>
                      <a:pPr>
                        <a:defRPr sz="800">
                          <a:solidFill>
                            <a:srgbClr val="333333"/>
                          </a:solidFill>
                        </a:defRPr>
                      </a:pPr>
                      <a:r>
                        <a:t>전사</a:t>
                      </a:r>
                    </a:p>
                  </a:txBody>
                  <a:tcPr>
                    <a:solidFill>
                      <a:srgbClr val="FFFFFF"/>
                    </a:solidFill>
                  </a:tcPr>
                </a:tc>
                <a:tc>
                  <a:txBody>
                    <a:bodyPr/>
                    <a:lstStyle/>
                    <a:p>
                      <a:pPr>
                        <a:defRPr sz="800">
                          <a:solidFill>
                            <a:srgbClr val="333333"/>
                          </a:solidFill>
                        </a:defRPr>
                      </a:pPr>
                      <a:r>
                        <a:t>-Xlog:gc* 설정</a:t>
                      </a:r>
                    </a:p>
                  </a:txBody>
                  <a:tcPr>
                    <a:solidFill>
                      <a:srgbClr val="FFFFFF"/>
                    </a:solidFill>
                  </a:tcPr>
                </a:tc>
                <a:tc>
                  <a:txBody>
                    <a:bodyPr/>
                    <a:lstStyle/>
                    <a:p>
                      <a:pPr>
                        <a:defRPr sz="800">
                          <a:solidFill>
                            <a:srgbClr val="333333"/>
                          </a:solidFill>
                        </a:defRPr>
                      </a:pPr>
                      <a:r>
                        <a:t>GC 이력 가시화</a:t>
                      </a:r>
                    </a:p>
                  </a:txBody>
                  <a:tcPr>
                    <a:solidFill>
                      <a:srgbClr val="FFFFFF"/>
                    </a:solidFill>
                  </a:tcPr>
                </a:tc>
                <a:tc>
                  <a:txBody>
                    <a:bodyPr/>
                    <a:lstStyle/>
                    <a:p>
                      <a:pPr>
                        <a:defRPr sz="800">
                          <a:solidFill>
                            <a:srgbClr val="333333"/>
                          </a:solidFill>
                        </a:defRPr>
                      </a:pPr>
                      <a:r>
                        <a:t>즉시(1주)</a:t>
                      </a:r>
                    </a:p>
                  </a:txBody>
                  <a:tcPr>
                    <a:solidFill>
                      <a:srgbClr val="FFFFFF"/>
                    </a:solidFill>
                  </a:tcPr>
                </a:tc>
              </a:tr>
              <a:tr h="274320">
                <a:tc>
                  <a:txBody>
                    <a:bodyPr/>
                    <a:lstStyle/>
                    <a:p>
                      <a:pPr>
                        <a:defRPr sz="800">
                          <a:solidFill>
                            <a:srgbClr val="333333"/>
                          </a:solidFill>
                        </a:defRPr>
                      </a:pPr>
                      <a:r>
                        <a:t>P1</a:t>
                      </a:r>
                    </a:p>
                  </a:txBody>
                  <a:tcPr>
                    <a:solidFill>
                      <a:srgbClr val="F2F2F2"/>
                    </a:solidFill>
                  </a:tcPr>
                </a:tc>
                <a:tc>
                  <a:txBody>
                    <a:bodyPr/>
                    <a:lstStyle/>
                    <a:p>
                      <a:pPr>
                        <a:defRPr sz="800">
                          <a:solidFill>
                            <a:srgbClr val="333333"/>
                          </a:solidFill>
                        </a:defRPr>
                      </a:pPr>
                      <a:r>
                        <a:t>현금정보계 G1 전환</a:t>
                      </a:r>
                    </a:p>
                  </a:txBody>
                  <a:tcPr>
                    <a:solidFill>
                      <a:srgbClr val="F2F2F2"/>
                    </a:solidFill>
                  </a:tcPr>
                </a:tc>
                <a:tc>
                  <a:txBody>
                    <a:bodyPr/>
                    <a:lstStyle/>
                    <a:p>
                      <a:pPr>
                        <a:defRPr sz="800">
                          <a:solidFill>
                            <a:srgbClr val="333333"/>
                          </a:solidFill>
                        </a:defRPr>
                      </a:pPr>
                      <a:r>
                        <a:t>현금정보계</a:t>
                      </a:r>
                    </a:p>
                  </a:txBody>
                  <a:tcPr>
                    <a:solidFill>
                      <a:srgbClr val="F2F2F2"/>
                    </a:solidFill>
                  </a:tcPr>
                </a:tc>
                <a:tc>
                  <a:txBody>
                    <a:bodyPr/>
                    <a:lstStyle/>
                    <a:p>
                      <a:pPr>
                        <a:defRPr sz="800">
                          <a:solidFill>
                            <a:srgbClr val="333333"/>
                          </a:solidFill>
                        </a:defRPr>
                      </a:pPr>
                      <a:r>
                        <a:t>7컨테이너 Parallel-&gt;G1</a:t>
                      </a:r>
                    </a:p>
                  </a:txBody>
                  <a:tcPr>
                    <a:solidFill>
                      <a:srgbClr val="F2F2F2"/>
                    </a:solidFill>
                  </a:tcPr>
                </a:tc>
                <a:tc>
                  <a:txBody>
                    <a:bodyPr/>
                    <a:lstStyle/>
                    <a:p>
                      <a:pPr>
                        <a:defRPr sz="800">
                          <a:solidFill>
                            <a:srgbClr val="333333"/>
                          </a:solidFill>
                        </a:defRPr>
                      </a:pPr>
                      <a:r>
                        <a:t>GC pause&lt;200ms</a:t>
                      </a:r>
                    </a:p>
                  </a:txBody>
                  <a:tcPr>
                    <a:solidFill>
                      <a:srgbClr val="F2F2F2"/>
                    </a:solidFill>
                  </a:tcPr>
                </a:tc>
                <a:tc>
                  <a:txBody>
                    <a:bodyPr/>
                    <a:lstStyle/>
                    <a:p>
                      <a:pPr>
                        <a:defRPr sz="800">
                          <a:solidFill>
                            <a:srgbClr val="333333"/>
                          </a:solidFill>
                        </a:defRPr>
                      </a:pPr>
                      <a:r>
                        <a:t>단기(1~2주)</a:t>
                      </a:r>
                    </a:p>
                  </a:txBody>
                  <a:tcPr>
                    <a:solidFill>
                      <a:srgbClr val="F2F2F2"/>
                    </a:solidFill>
                  </a:tcPr>
                </a:tc>
              </a:tr>
              <a:tr h="274320">
                <a:tc>
                  <a:txBody>
                    <a:bodyPr/>
                    <a:lstStyle/>
                    <a:p>
                      <a:pPr>
                        <a:defRPr sz="800">
                          <a:solidFill>
                            <a:srgbClr val="333333"/>
                          </a:solidFill>
                        </a:defRPr>
                      </a:pPr>
                      <a:r>
                        <a:t>P1</a:t>
                      </a:r>
                    </a:p>
                  </a:txBody>
                  <a:tcPr>
                    <a:solidFill>
                      <a:srgbClr val="FFFFFF"/>
                    </a:solidFill>
                  </a:tcPr>
                </a:tc>
                <a:tc>
                  <a:txBody>
                    <a:bodyPr/>
                    <a:lstStyle/>
                    <a:p>
                      <a:pPr>
                        <a:defRPr sz="800">
                          <a:solidFill>
                            <a:srgbClr val="333333"/>
                          </a:solidFill>
                        </a:defRPr>
                      </a:pPr>
                      <a:r>
                        <a:t>CL maxThreads 제한</a:t>
                      </a:r>
                    </a:p>
                  </a:txBody>
                  <a:tcPr>
                    <a:solidFill>
                      <a:srgbClr val="FFFFFF"/>
                    </a:solidFill>
                  </a:tcPr>
                </a:tc>
                <a:tc>
                  <a:txBody>
                    <a:bodyPr/>
                    <a:lstStyle/>
                    <a:p>
                      <a:pPr>
                        <a:defRPr sz="800">
                          <a:solidFill>
                            <a:srgbClr val="333333"/>
                          </a:solidFill>
                        </a:defRPr>
                      </a:pPr>
                      <a:r>
                        <a:t>CL플랫폼</a:t>
                      </a:r>
                    </a:p>
                  </a:txBody>
                  <a:tcPr>
                    <a:solidFill>
                      <a:srgbClr val="FFFFFF"/>
                    </a:solidFill>
                  </a:tcPr>
                </a:tc>
                <a:tc>
                  <a:txBody>
                    <a:bodyPr/>
                    <a:lstStyle/>
                    <a:p>
                      <a:pPr>
                        <a:defRPr sz="800">
                          <a:solidFill>
                            <a:srgbClr val="333333"/>
                          </a:solidFill>
                        </a:defRPr>
                      </a:pPr>
                      <a:r>
                        <a:t>-1-&gt;200</a:t>
                      </a:r>
                    </a:p>
                  </a:txBody>
                  <a:tcPr>
                    <a:solidFill>
                      <a:srgbClr val="FFFFFF"/>
                    </a:solidFill>
                  </a:tcPr>
                </a:tc>
                <a:tc>
                  <a:txBody>
                    <a:bodyPr/>
                    <a:lstStyle/>
                    <a:p>
                      <a:pPr>
                        <a:defRPr sz="800">
                          <a:solidFill>
                            <a:srgbClr val="333333"/>
                          </a:solidFill>
                        </a:defRPr>
                      </a:pPr>
                      <a:r>
                        <a:t>활성 스레드&lt;max</a:t>
                      </a:r>
                    </a:p>
                  </a:txBody>
                  <a:tcPr>
                    <a:solidFill>
                      <a:srgbClr val="FFFFFF"/>
                    </a:solidFill>
                  </a:tcPr>
                </a:tc>
                <a:tc>
                  <a:txBody>
                    <a:bodyPr/>
                    <a:lstStyle/>
                    <a:p>
                      <a:pPr>
                        <a:defRPr sz="800">
                          <a:solidFill>
                            <a:srgbClr val="333333"/>
                          </a:solidFill>
                        </a:defRPr>
                      </a:pPr>
                      <a:r>
                        <a:t>단기(1주)</a:t>
                      </a:r>
                    </a:p>
                  </a:txBody>
                  <a:tcPr>
                    <a:solidFill>
                      <a:srgbClr val="FFFFFF"/>
                    </a:solidFill>
                  </a:tcPr>
                </a:tc>
              </a:tr>
              <a:tr h="274320">
                <a:tc>
                  <a:txBody>
                    <a:bodyPr/>
                    <a:lstStyle/>
                    <a:p>
                      <a:pPr>
                        <a:defRPr sz="800">
                          <a:solidFill>
                            <a:srgbClr val="333333"/>
                          </a:solidFill>
                        </a:defRPr>
                      </a:pPr>
                      <a:r>
                        <a:t>P1</a:t>
                      </a:r>
                    </a:p>
                  </a:txBody>
                  <a:tcPr>
                    <a:solidFill>
                      <a:srgbClr val="F2F2F2"/>
                    </a:solidFill>
                  </a:tcPr>
                </a:tc>
                <a:tc>
                  <a:txBody>
                    <a:bodyPr/>
                    <a:lstStyle/>
                    <a:p>
                      <a:pPr>
                        <a:defRPr sz="800">
                          <a:solidFill>
                            <a:srgbClr val="333333"/>
                          </a:solidFill>
                        </a:defRPr>
                      </a:pPr>
                      <a:r>
                        <a:t>Heap 고정 통일</a:t>
                      </a:r>
                    </a:p>
                  </a:txBody>
                  <a:tcPr>
                    <a:solidFill>
                      <a:srgbClr val="F2F2F2"/>
                    </a:solidFill>
                  </a:tcPr>
                </a:tc>
                <a:tc>
                  <a:txBody>
                    <a:bodyPr/>
                    <a:lstStyle/>
                    <a:p>
                      <a:pPr>
                        <a:defRPr sz="800">
                          <a:solidFill>
                            <a:srgbClr val="333333"/>
                          </a:solidFill>
                        </a:defRPr>
                      </a:pPr>
                      <a:r>
                        <a:t>전사</a:t>
                      </a:r>
                    </a:p>
                  </a:txBody>
                  <a:tcPr>
                    <a:solidFill>
                      <a:srgbClr val="F2F2F2"/>
                    </a:solidFill>
                  </a:tcPr>
                </a:tc>
                <a:tc>
                  <a:txBody>
                    <a:bodyPr/>
                    <a:lstStyle/>
                    <a:p>
                      <a:pPr>
                        <a:defRPr sz="800">
                          <a:solidFill>
                            <a:srgbClr val="333333"/>
                          </a:solidFill>
                        </a:defRPr>
                      </a:pPr>
                      <a:r>
                        <a:t>Xms=Xmx 고정</a:t>
                      </a:r>
                    </a:p>
                  </a:txBody>
                  <a:tcPr>
                    <a:solidFill>
                      <a:srgbClr val="F2F2F2"/>
                    </a:solidFill>
                  </a:tcPr>
                </a:tc>
                <a:tc>
                  <a:txBody>
                    <a:bodyPr/>
                    <a:lstStyle/>
                    <a:p>
                      <a:pPr>
                        <a:defRPr sz="800">
                          <a:solidFill>
                            <a:srgbClr val="333333"/>
                          </a:solidFill>
                        </a:defRPr>
                      </a:pPr>
                      <a:r>
                        <a:t>리사이즈 이벤트 0</a:t>
                      </a:r>
                    </a:p>
                  </a:txBody>
                  <a:tcPr>
                    <a:solidFill>
                      <a:srgbClr val="F2F2F2"/>
                    </a:solidFill>
                  </a:tcPr>
                </a:tc>
                <a:tc>
                  <a:txBody>
                    <a:bodyPr/>
                    <a:lstStyle/>
                    <a:p>
                      <a:pPr>
                        <a:defRPr sz="800">
                          <a:solidFill>
                            <a:srgbClr val="333333"/>
                          </a:solidFill>
                        </a:defRPr>
                      </a:pPr>
                      <a:r>
                        <a:t>단기(1~2주)</a:t>
                      </a:r>
                    </a:p>
                  </a:txBody>
                  <a:tcPr>
                    <a:solidFill>
                      <a:srgbClr val="F2F2F2"/>
                    </a:solidFill>
                  </a:tcPr>
                </a:tc>
              </a:tr>
              <a:tr h="274320">
                <a:tc>
                  <a:txBody>
                    <a:bodyPr/>
                    <a:lstStyle/>
                    <a:p>
                      <a:pPr>
                        <a:defRPr sz="800">
                          <a:solidFill>
                            <a:srgbClr val="333333"/>
                          </a:solidFill>
                        </a:defRPr>
                      </a:pPr>
                      <a:r>
                        <a:t>P2</a:t>
                      </a:r>
                    </a:p>
                  </a:txBody>
                  <a:tcPr>
                    <a:solidFill>
                      <a:srgbClr val="FFFFFF"/>
                    </a:solidFill>
                  </a:tcPr>
                </a:tc>
                <a:tc>
                  <a:txBody>
                    <a:bodyPr/>
                    <a:lstStyle/>
                    <a:p>
                      <a:pPr>
                        <a:defRPr sz="800">
                          <a:solidFill>
                            <a:srgbClr val="333333"/>
                          </a:solidFill>
                        </a:defRPr>
                      </a:pPr>
                      <a:r>
                        <a:t>Java 17 마이그레이션</a:t>
                      </a:r>
                    </a:p>
                  </a:txBody>
                  <a:tcPr>
                    <a:solidFill>
                      <a:srgbClr val="FFFFFF"/>
                    </a:solidFill>
                  </a:tcPr>
                </a:tc>
                <a:tc>
                  <a:txBody>
                    <a:bodyPr/>
                    <a:lstStyle/>
                    <a:p>
                      <a:pPr>
                        <a:defRPr sz="800">
                          <a:solidFill>
                            <a:srgbClr val="333333"/>
                          </a:solidFill>
                        </a:defRPr>
                      </a:pPr>
                      <a:r>
                        <a:t>CL/주차/현금/NC</a:t>
                      </a:r>
                    </a:p>
                  </a:txBody>
                  <a:tcPr>
                    <a:solidFill>
                      <a:srgbClr val="FFFFFF"/>
                    </a:solidFill>
                  </a:tcPr>
                </a:tc>
                <a:tc>
                  <a:txBody>
                    <a:bodyPr/>
                    <a:lstStyle/>
                    <a:p>
                      <a:pPr>
                        <a:defRPr sz="800">
                          <a:solidFill>
                            <a:srgbClr val="333333"/>
                          </a:solidFill>
                        </a:defRPr>
                      </a:pPr>
                      <a:r>
                        <a:t>Java 15-&gt;17</a:t>
                      </a:r>
                    </a:p>
                  </a:txBody>
                  <a:tcPr>
                    <a:solidFill>
                      <a:srgbClr val="FFFFFF"/>
                    </a:solidFill>
                  </a:tcPr>
                </a:tc>
                <a:tc>
                  <a:txBody>
                    <a:bodyPr/>
                    <a:lstStyle/>
                    <a:p>
                      <a:pPr>
                        <a:defRPr sz="800">
                          <a:solidFill>
                            <a:srgbClr val="333333"/>
                          </a:solidFill>
                        </a:defRPr>
                      </a:pPr>
                      <a:r>
                        <a:t>호환성/회귀 테스트</a:t>
                      </a:r>
                    </a:p>
                  </a:txBody>
                  <a:tcPr>
                    <a:solidFill>
                      <a:srgbClr val="FFFFFF"/>
                    </a:solidFill>
                  </a:tcPr>
                </a:tc>
                <a:tc>
                  <a:txBody>
                    <a:bodyPr/>
                    <a:lstStyle/>
                    <a:p>
                      <a:pPr>
                        <a:defRPr sz="800">
                          <a:solidFill>
                            <a:srgbClr val="333333"/>
                          </a:solidFill>
                        </a:defRPr>
                      </a:pPr>
                      <a:r>
                        <a:t>중기(2~3주)</a:t>
                      </a:r>
                    </a:p>
                  </a:txBody>
                  <a:tcPr>
                    <a:solidFill>
                      <a:srgbClr val="FFFFFF"/>
                    </a:solidFill>
                  </a:tcPr>
                </a:tc>
              </a:tr>
              <a:tr h="274320">
                <a:tc>
                  <a:txBody>
                    <a:bodyPr/>
                    <a:lstStyle/>
                    <a:p>
                      <a:pPr>
                        <a:defRPr sz="800">
                          <a:solidFill>
                            <a:srgbClr val="333333"/>
                          </a:solidFill>
                        </a:defRPr>
                      </a:pPr>
                      <a:r>
                        <a:t>P2</a:t>
                      </a:r>
                    </a:p>
                  </a:txBody>
                  <a:tcPr>
                    <a:solidFill>
                      <a:srgbClr val="F2F2F2"/>
                    </a:solidFill>
                  </a:tcPr>
                </a:tc>
                <a:tc>
                  <a:txBody>
                    <a:bodyPr/>
                    <a:lstStyle/>
                    <a:p>
                      <a:pPr>
                        <a:defRPr sz="800">
                          <a:solidFill>
                            <a:srgbClr val="333333"/>
                          </a:solidFill>
                        </a:defRPr>
                      </a:pPr>
                      <a:r>
                        <a:t>NC maxLifetime 정정</a:t>
                      </a:r>
                    </a:p>
                  </a:txBody>
                  <a:tcPr>
                    <a:solidFill>
                      <a:srgbClr val="F2F2F2"/>
                    </a:solidFill>
                  </a:tcPr>
                </a:tc>
                <a:tc>
                  <a:txBody>
                    <a:bodyPr/>
                    <a:lstStyle/>
                    <a:p>
                      <a:pPr>
                        <a:defRPr sz="800">
                          <a:solidFill>
                            <a:srgbClr val="333333"/>
                          </a:solidFill>
                        </a:defRPr>
                      </a:pPr>
                      <a:r>
                        <a:t>플랫폼개발(NC)</a:t>
                      </a:r>
                    </a:p>
                  </a:txBody>
                  <a:tcPr>
                    <a:solidFill>
                      <a:srgbClr val="F2F2F2"/>
                    </a:solidFill>
                  </a:tcPr>
                </a:tc>
                <a:tc>
                  <a:txBody>
                    <a:bodyPr/>
                    <a:lstStyle/>
                    <a:p>
                      <a:pPr>
                        <a:defRPr sz="800">
                          <a:solidFill>
                            <a:srgbClr val="333333"/>
                          </a:solidFill>
                        </a:defRPr>
                      </a:pPr>
                      <a:r>
                        <a:t>2,000,000-&gt;1,740,000ms</a:t>
                      </a:r>
                    </a:p>
                  </a:txBody>
                  <a:tcPr>
                    <a:solidFill>
                      <a:srgbClr val="F2F2F2"/>
                    </a:solidFill>
                  </a:tcPr>
                </a:tc>
                <a:tc>
                  <a:txBody>
                    <a:bodyPr/>
                    <a:lstStyle/>
                    <a:p>
                      <a:pPr>
                        <a:defRPr sz="800">
                          <a:solidFill>
                            <a:srgbClr val="333333"/>
                          </a:solidFill>
                        </a:defRPr>
                      </a:pPr>
                      <a:r>
                        <a:t>stale conn 에러 0</a:t>
                      </a:r>
                    </a:p>
                  </a:txBody>
                  <a:tcPr>
                    <a:solidFill>
                      <a:srgbClr val="F2F2F2"/>
                    </a:solidFill>
                  </a:tcPr>
                </a:tc>
                <a:tc>
                  <a:txBody>
                    <a:bodyPr/>
                    <a:lstStyle/>
                    <a:p>
                      <a:pPr>
                        <a:defRPr sz="800">
                          <a:solidFill>
                            <a:srgbClr val="333333"/>
                          </a:solidFill>
                        </a:defRPr>
                      </a:pPr>
                      <a:r>
                        <a:t>중기(1주)</a:t>
                      </a:r>
                    </a:p>
                  </a:txBody>
                  <a:tcPr>
                    <a:solidFill>
                      <a:srgbClr val="F2F2F2"/>
                    </a:solidFill>
                  </a:tcPr>
                </a:tc>
              </a:tr>
              <a:tr h="274320">
                <a:tc>
                  <a:txBody>
                    <a:bodyPr/>
                    <a:lstStyle/>
                    <a:p>
                      <a:pPr>
                        <a:defRPr sz="800">
                          <a:solidFill>
                            <a:srgbClr val="333333"/>
                          </a:solidFill>
                        </a:defRPr>
                      </a:pPr>
                      <a:r>
                        <a:t>P2</a:t>
                      </a:r>
                    </a:p>
                  </a:txBody>
                  <a:tcPr>
                    <a:solidFill>
                      <a:srgbClr val="FFFFFF"/>
                    </a:solidFill>
                  </a:tcPr>
                </a:tc>
                <a:tc>
                  <a:txBody>
                    <a:bodyPr/>
                    <a:lstStyle/>
                    <a:p>
                      <a:pPr>
                        <a:defRPr sz="800">
                          <a:solidFill>
                            <a:srgbClr val="333333"/>
                          </a:solidFill>
                        </a:defRPr>
                      </a:pPr>
                      <a:r>
                        <a:t>MongoDB Profiling</a:t>
                      </a:r>
                    </a:p>
                  </a:txBody>
                  <a:tcPr>
                    <a:solidFill>
                      <a:srgbClr val="FFFFFF"/>
                    </a:solidFill>
                  </a:tcPr>
                </a:tc>
                <a:tc>
                  <a:txBody>
                    <a:bodyPr/>
                    <a:lstStyle/>
                    <a:p>
                      <a:pPr>
                        <a:defRPr sz="800">
                          <a:solidFill>
                            <a:srgbClr val="333333"/>
                          </a:solidFill>
                        </a:defRPr>
                      </a:pPr>
                      <a:r>
                        <a:t>플랫폼개발(NP)</a:t>
                      </a:r>
                    </a:p>
                  </a:txBody>
                  <a:tcPr>
                    <a:solidFill>
                      <a:srgbClr val="FFFFFF"/>
                    </a:solidFill>
                  </a:tcPr>
                </a:tc>
                <a:tc>
                  <a:txBody>
                    <a:bodyPr/>
                    <a:lstStyle/>
                    <a:p>
                      <a:pPr>
                        <a:defRPr sz="800">
                          <a:solidFill>
                            <a:srgbClr val="333333"/>
                          </a:solidFill>
                        </a:defRPr>
                      </a:pPr>
                      <a:r>
                        <a:t>setProfilingLevel(1)</a:t>
                      </a:r>
                    </a:p>
                  </a:txBody>
                  <a:tcPr>
                    <a:solidFill>
                      <a:srgbClr val="FFFFFF"/>
                    </a:solidFill>
                  </a:tcPr>
                </a:tc>
                <a:tc>
                  <a:txBody>
                    <a:bodyPr/>
                    <a:lstStyle/>
                    <a:p>
                      <a:pPr>
                        <a:defRPr sz="800">
                          <a:solidFill>
                            <a:srgbClr val="333333"/>
                          </a:solidFill>
                        </a:defRPr>
                      </a:pPr>
                      <a:r>
                        <a:t>COLLSCAN 감지</a:t>
                      </a:r>
                    </a:p>
                  </a:txBody>
                  <a:tcPr>
                    <a:solidFill>
                      <a:srgbClr val="FFFFFF"/>
                    </a:solidFill>
                  </a:tcPr>
                </a:tc>
                <a:tc>
                  <a:txBody>
                    <a:bodyPr/>
                    <a:lstStyle/>
                    <a:p>
                      <a:pPr>
                        <a:defRPr sz="800">
                          <a:solidFill>
                            <a:srgbClr val="333333"/>
                          </a:solidFill>
                        </a:defRPr>
                      </a:pPr>
                      <a:r>
                        <a:t>중기(1주)</a:t>
                      </a:r>
                    </a:p>
                  </a:txBody>
                  <a:tcPr>
                    <a:solidFill>
                      <a:srgbClr val="FFFFFF"/>
                    </a:solidFill>
                  </a:tcPr>
                </a:tc>
              </a:tr>
              <a:tr h="274320">
                <a:tc>
                  <a:txBody>
                    <a:bodyPr/>
                    <a:lstStyle/>
                    <a:p>
                      <a:pPr>
                        <a:defRPr sz="800">
                          <a:solidFill>
                            <a:srgbClr val="333333"/>
                          </a:solidFill>
                        </a:defRPr>
                      </a:pPr>
                      <a:r>
                        <a:t>P3</a:t>
                      </a:r>
                    </a:p>
                  </a:txBody>
                  <a:tcPr>
                    <a:solidFill>
                      <a:srgbClr val="F2F2F2"/>
                    </a:solidFill>
                  </a:tcPr>
                </a:tc>
                <a:tc>
                  <a:txBody>
                    <a:bodyPr/>
                    <a:lstStyle/>
                    <a:p>
                      <a:pPr>
                        <a:defRPr sz="800">
                          <a:solidFill>
                            <a:srgbClr val="333333"/>
                          </a:solidFill>
                        </a:defRPr>
                      </a:pPr>
                      <a:r>
                        <a:t>Java 21 검토</a:t>
                      </a:r>
                    </a:p>
                  </a:txBody>
                  <a:tcPr>
                    <a:solidFill>
                      <a:srgbClr val="F2F2F2"/>
                    </a:solidFill>
                  </a:tcPr>
                </a:tc>
                <a:tc>
                  <a:txBody>
                    <a:bodyPr/>
                    <a:lstStyle/>
                    <a:p>
                      <a:pPr>
                        <a:defRPr sz="800">
                          <a:solidFill>
                            <a:srgbClr val="333333"/>
                          </a:solidFill>
                        </a:defRPr>
                      </a:pPr>
                      <a:r>
                        <a:t>전사</a:t>
                      </a:r>
                    </a:p>
                  </a:txBody>
                  <a:tcPr>
                    <a:solidFill>
                      <a:srgbClr val="F2F2F2"/>
                    </a:solidFill>
                  </a:tcPr>
                </a:tc>
                <a:tc>
                  <a:txBody>
                    <a:bodyPr/>
                    <a:lstStyle/>
                    <a:p>
                      <a:pPr>
                        <a:defRPr sz="800">
                          <a:solidFill>
                            <a:srgbClr val="333333"/>
                          </a:solidFill>
                        </a:defRPr>
                      </a:pPr>
                      <a:r>
                        <a:t>Java 17-&gt;21 평가</a:t>
                      </a:r>
                    </a:p>
                  </a:txBody>
                  <a:tcPr>
                    <a:solidFill>
                      <a:srgbClr val="F2F2F2"/>
                    </a:solidFill>
                  </a:tcPr>
                </a:tc>
                <a:tc>
                  <a:txBody>
                    <a:bodyPr/>
                    <a:lstStyle/>
                    <a:p>
                      <a:pPr>
                        <a:defRPr sz="800">
                          <a:solidFill>
                            <a:srgbClr val="333333"/>
                          </a:solidFill>
                        </a:defRPr>
                      </a:pPr>
                      <a:r>
                        <a:t>벤치마크/호환성</a:t>
                      </a:r>
                    </a:p>
                  </a:txBody>
                  <a:tcPr>
                    <a:solidFill>
                      <a:srgbClr val="F2F2F2"/>
                    </a:solidFill>
                  </a:tcPr>
                </a:tc>
                <a:tc>
                  <a:txBody>
                    <a:bodyPr/>
                    <a:lstStyle/>
                    <a:p>
                      <a:pPr>
                        <a:defRPr sz="800">
                          <a:solidFill>
                            <a:srgbClr val="333333"/>
                          </a:solidFill>
                        </a:defRPr>
                      </a:pPr>
                      <a:r>
                        <a:t>장기(3~4주)</a:t>
                      </a:r>
                    </a:p>
                  </a:txBody>
                  <a:tcPr>
                    <a:solidFill>
                      <a:srgbClr val="F2F2F2"/>
                    </a:solidFill>
                  </a:tcPr>
                </a:tc>
              </a:tr>
              <a:tr h="274320">
                <a:tc>
                  <a:txBody>
                    <a:bodyPr/>
                    <a:lstStyle/>
                    <a:p>
                      <a:pPr>
                        <a:defRPr sz="800">
                          <a:solidFill>
                            <a:srgbClr val="333333"/>
                          </a:solidFill>
                        </a:defRPr>
                      </a:pPr>
                      <a:r>
                        <a:t>P3</a:t>
                      </a:r>
                    </a:p>
                  </a:txBody>
                  <a:tcPr>
                    <a:solidFill>
                      <a:srgbClr val="FFFFFF"/>
                    </a:solidFill>
                  </a:tcPr>
                </a:tc>
                <a:tc>
                  <a:txBody>
                    <a:bodyPr/>
                    <a:lstStyle/>
                    <a:p>
                      <a:pPr>
                        <a:defRPr sz="800">
                          <a:solidFill>
                            <a:srgbClr val="333333"/>
                          </a:solidFill>
                        </a:defRPr>
                      </a:pPr>
                      <a:r>
                        <a:t>ConnPool 표준화</a:t>
                      </a:r>
                    </a:p>
                  </a:txBody>
                  <a:tcPr>
                    <a:solidFill>
                      <a:srgbClr val="FFFFFF"/>
                    </a:solidFill>
                  </a:tcPr>
                </a:tc>
                <a:tc>
                  <a:txBody>
                    <a:bodyPr/>
                    <a:lstStyle/>
                    <a:p>
                      <a:pPr>
                        <a:defRPr sz="800">
                          <a:solidFill>
                            <a:srgbClr val="333333"/>
                          </a:solidFill>
                        </a:defRPr>
                      </a:pPr>
                      <a:r>
                        <a:t>전사</a:t>
                      </a:r>
                    </a:p>
                  </a:txBody>
                  <a:tcPr>
                    <a:solidFill>
                      <a:srgbClr val="FFFFFF"/>
                    </a:solidFill>
                  </a:tcPr>
                </a:tc>
                <a:tc>
                  <a:txBody>
                    <a:bodyPr/>
                    <a:lstStyle/>
                    <a:p>
                      <a:pPr>
                        <a:defRPr sz="800">
                          <a:solidFill>
                            <a:srgbClr val="333333"/>
                          </a:solidFill>
                        </a:defRPr>
                      </a:pPr>
                      <a:r>
                        <a:t>구현체 통일 검토</a:t>
                      </a:r>
                    </a:p>
                  </a:txBody>
                  <a:tcPr>
                    <a:solidFill>
                      <a:srgbClr val="FFFFFF"/>
                    </a:solidFill>
                  </a:tcPr>
                </a:tc>
                <a:tc>
                  <a:txBody>
                    <a:bodyPr/>
                    <a:lstStyle/>
                    <a:p>
                      <a:pPr>
                        <a:defRPr sz="800">
                          <a:solidFill>
                            <a:srgbClr val="333333"/>
                          </a:solidFill>
                        </a:defRPr>
                      </a:pPr>
                      <a:r>
                        <a:t>설정 일관성</a:t>
                      </a:r>
                    </a:p>
                  </a:txBody>
                  <a:tcPr>
                    <a:solidFill>
                      <a:srgbClr val="FFFFFF"/>
                    </a:solidFill>
                  </a:tcPr>
                </a:tc>
                <a:tc>
                  <a:txBody>
                    <a:bodyPr/>
                    <a:lstStyle/>
                    <a:p>
                      <a:pPr>
                        <a:defRPr sz="800">
                          <a:solidFill>
                            <a:srgbClr val="333333"/>
                          </a:solidFill>
                        </a:defRPr>
                      </a:pPr>
                      <a:r>
                        <a:t>장기(2~3주)</a:t>
                      </a:r>
                    </a:p>
                  </a:txBody>
                  <a:tcPr>
                    <a:solidFill>
                      <a:srgbClr val="FFFFFF"/>
                    </a:solidFill>
                  </a:tcPr>
                </a:tc>
              </a:tr>
              <a:tr h="274320">
                <a:tc>
                  <a:txBody>
                    <a:bodyPr/>
                    <a:lstStyle/>
                    <a:p>
                      <a:pPr>
                        <a:defRPr sz="800">
                          <a:solidFill>
                            <a:srgbClr val="333333"/>
                          </a:solidFill>
                        </a:defRPr>
                      </a:pPr>
                      <a:r>
                        <a:t>P3</a:t>
                      </a:r>
                    </a:p>
                  </a:txBody>
                  <a:tcPr>
                    <a:solidFill>
                      <a:srgbClr val="F2F2F2"/>
                    </a:solidFill>
                  </a:tcPr>
                </a:tc>
                <a:tc>
                  <a:txBody>
                    <a:bodyPr/>
                    <a:lstStyle/>
                    <a:p>
                      <a:pPr>
                        <a:defRPr sz="800">
                          <a:solidFill>
                            <a:srgbClr val="333333"/>
                          </a:solidFill>
                        </a:defRPr>
                      </a:pPr>
                      <a:r>
                        <a:t>MongoDB read 분산</a:t>
                      </a:r>
                    </a:p>
                  </a:txBody>
                  <a:tcPr>
                    <a:solidFill>
                      <a:srgbClr val="F2F2F2"/>
                    </a:solidFill>
                  </a:tcPr>
                </a:tc>
                <a:tc>
                  <a:txBody>
                    <a:bodyPr/>
                    <a:lstStyle/>
                    <a:p>
                      <a:pPr>
                        <a:defRPr sz="800">
                          <a:solidFill>
                            <a:srgbClr val="333333"/>
                          </a:solidFill>
                        </a:defRPr>
                      </a:pPr>
                      <a:r>
                        <a:t>플랫폼개발(NP)</a:t>
                      </a:r>
                    </a:p>
                  </a:txBody>
                  <a:tcPr>
                    <a:solidFill>
                      <a:srgbClr val="F2F2F2"/>
                    </a:solidFill>
                  </a:tcPr>
                </a:tc>
                <a:tc>
                  <a:txBody>
                    <a:bodyPr/>
                    <a:lstStyle/>
                    <a:p>
                      <a:pPr>
                        <a:defRPr sz="800">
                          <a:solidFill>
                            <a:srgbClr val="333333"/>
                          </a:solidFill>
                        </a:defRPr>
                      </a:pPr>
                      <a:r>
                        <a:t>secondaryPreferred</a:t>
                      </a:r>
                    </a:p>
                  </a:txBody>
                  <a:tcPr>
                    <a:solidFill>
                      <a:srgbClr val="F2F2F2"/>
                    </a:solidFill>
                  </a:tcPr>
                </a:tc>
                <a:tc>
                  <a:txBody>
                    <a:bodyPr/>
                    <a:lstStyle/>
                    <a:p>
                      <a:pPr>
                        <a:defRPr sz="800">
                          <a:solidFill>
                            <a:srgbClr val="333333"/>
                          </a:solidFill>
                        </a:defRPr>
                      </a:pPr>
                      <a:r>
                        <a:t>Primary 부하 감소</a:t>
                      </a:r>
                    </a:p>
                  </a:txBody>
                  <a:tcPr>
                    <a:solidFill>
                      <a:srgbClr val="F2F2F2"/>
                    </a:solidFill>
                  </a:tcPr>
                </a:tc>
                <a:tc>
                  <a:txBody>
                    <a:bodyPr/>
                    <a:lstStyle/>
                    <a:p>
                      <a:pPr>
                        <a:defRPr sz="800">
                          <a:solidFill>
                            <a:srgbClr val="333333"/>
                          </a:solidFill>
                        </a:defRPr>
                      </a:pPr>
                      <a:r>
                        <a:t>장기(1~2주)</a:t>
                      </a:r>
                    </a:p>
                  </a:txBody>
                  <a:tcPr>
                    <a:solidFill>
                      <a:srgbClr val="F2F2F2"/>
                    </a:solidFill>
                  </a:tcPr>
                </a:tc>
              </a:tr>
            </a:tbl>
          </a:graphicData>
        </a:graphic>
      </p:graphicFrame>
      <p:sp>
        <p:nvSpPr>
          <p:cNvPr id="4" name="TextBox 3"/>
          <p:cNvSpPr txBox="1"/>
          <p:nvPr/>
        </p:nvSpPr>
        <p:spPr>
          <a:xfrm>
            <a:off x="457200" y="5303520"/>
            <a:ext cx="10972800" cy="457200"/>
          </a:xfrm>
          <a:prstGeom prst="rect">
            <a:avLst/>
          </a:prstGeom>
          <a:solidFill>
            <a:srgbClr val="FFF8DC"/>
          </a:solidFill>
          <a:ln>
            <a:noFill/>
          </a:ln>
        </p:spPr>
        <p:txBody>
          <a:bodyPr wrap="square">
            <a:spAutoFit/>
          </a:bodyPr>
          <a:lstStyle/>
          <a:p>
            <a:pPr>
              <a:defRPr sz="1000" b="1">
                <a:solidFill>
                  <a:srgbClr val="663300"/>
                </a:solidFill>
              </a:defRPr>
            </a:pPr>
            <a:r>
              <a:t>Discussion Point: Q1: 이 우선순위가 적절한지? Q2: 각 단계 간 검증 포인트로 어떤 지표를 모니터링해야 하는지?</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square">
            <a:spAutoFit/>
          </a:bodyPr>
          <a:lstStyle/>
          <a:p>
            <a:pPr>
              <a:defRPr sz="2400" b="1">
                <a:solidFill>
                  <a:srgbClr val="1B2A4A"/>
                </a:solidFill>
              </a:defRPr>
            </a:pPr>
            <a:r>
              <a:t>[D-02] 당사가 놓친 영역에 대한 질문</a:t>
            </a:r>
          </a:p>
        </p:txBody>
      </p:sp>
      <p:graphicFrame>
        <p:nvGraphicFramePr>
          <p:cNvPr id="3" name="Table 2"/>
          <p:cNvGraphicFramePr>
            <a:graphicFrameLocks noGrp="1"/>
          </p:cNvGraphicFramePr>
          <p:nvPr/>
        </p:nvGraphicFramePr>
        <p:xfrm>
          <a:off x="457200" y="1097280"/>
          <a:ext cx="10972800" cy="1371600"/>
        </p:xfrm>
        <a:graphic>
          <a:graphicData uri="http://schemas.openxmlformats.org/drawingml/2006/table">
            <a:tbl>
              <a:tblPr firstRow="1" bandRow="1">
                <a:tableStyleId>{5C22544A-7EE6-4342-B048-85BDC9FD1C3A}</a:tableStyleId>
              </a:tblPr>
              <a:tblGrid>
                <a:gridCol w="2286000"/>
                <a:gridCol w="2743200"/>
                <a:gridCol w="2743200"/>
                <a:gridCol w="3200400"/>
              </a:tblGrid>
              <a:tr h="274320">
                <a:tc>
                  <a:txBody>
                    <a:bodyPr/>
                    <a:lstStyle/>
                    <a:p>
                      <a:pPr algn="ctr">
                        <a:defRPr sz="900" b="1">
                          <a:solidFill>
                            <a:srgbClr val="FFFFFF"/>
                          </a:solidFill>
                        </a:defRPr>
                      </a:pPr>
                      <a:r>
                        <a:t>한계점</a:t>
                      </a:r>
                    </a:p>
                  </a:txBody>
                  <a:tcPr>
                    <a:solidFill>
                      <a:srgbClr val="1B2A4A"/>
                    </a:solidFill>
                  </a:tcPr>
                </a:tc>
                <a:tc>
                  <a:txBody>
                    <a:bodyPr/>
                    <a:lstStyle/>
                    <a:p>
                      <a:pPr algn="ctr">
                        <a:defRPr sz="900" b="1">
                          <a:solidFill>
                            <a:srgbClr val="FFFFFF"/>
                          </a:solidFill>
                        </a:defRPr>
                      </a:pPr>
                      <a:r>
                        <a:t>현재 상태</a:t>
                      </a:r>
                    </a:p>
                  </a:txBody>
                  <a:tcPr>
                    <a:solidFill>
                      <a:srgbClr val="1B2A4A"/>
                    </a:solidFill>
                  </a:tcPr>
                </a:tc>
                <a:tc>
                  <a:txBody>
                    <a:bodyPr/>
                    <a:lstStyle/>
                    <a:p>
                      <a:pPr algn="ctr">
                        <a:defRPr sz="900" b="1">
                          <a:solidFill>
                            <a:srgbClr val="FFFFFF"/>
                          </a:solidFill>
                        </a:defRPr>
                      </a:pPr>
                      <a:r>
                        <a:t>영향</a:t>
                      </a:r>
                    </a:p>
                  </a:txBody>
                  <a:tcPr>
                    <a:solidFill>
                      <a:srgbClr val="1B2A4A"/>
                    </a:solidFill>
                  </a:tcPr>
                </a:tc>
                <a:tc>
                  <a:txBody>
                    <a:bodyPr/>
                    <a:lstStyle/>
                    <a:p>
                      <a:pPr algn="ctr">
                        <a:defRPr sz="900" b="1">
                          <a:solidFill>
                            <a:srgbClr val="FFFFFF"/>
                          </a:solidFill>
                        </a:defRPr>
                      </a:pPr>
                      <a:r>
                        <a:t>필요 조치</a:t>
                      </a:r>
                    </a:p>
                  </a:txBody>
                  <a:tcPr>
                    <a:solidFill>
                      <a:srgbClr val="1B2A4A"/>
                    </a:solidFill>
                  </a:tcPr>
                </a:tc>
              </a:tr>
              <a:tr h="274320">
                <a:tc>
                  <a:txBody>
                    <a:bodyPr/>
                    <a:lstStyle/>
                    <a:p>
                      <a:pPr>
                        <a:defRPr sz="800">
                          <a:solidFill>
                            <a:srgbClr val="333333"/>
                          </a:solidFill>
                        </a:defRPr>
                      </a:pPr>
                      <a:r>
                        <a:t>GC 로그 미수집</a:t>
                      </a:r>
                    </a:p>
                  </a:txBody>
                  <a:tcPr>
                    <a:solidFill>
                      <a:srgbClr val="FFFFFF"/>
                    </a:solidFill>
                  </a:tcPr>
                </a:tc>
                <a:tc>
                  <a:txBody>
                    <a:bodyPr/>
                    <a:lstStyle/>
                    <a:p>
                      <a:pPr>
                        <a:defRPr sz="800">
                          <a:solidFill>
                            <a:srgbClr val="333333"/>
                          </a:solidFill>
                        </a:defRPr>
                      </a:pPr>
                      <a:r>
                        <a:t>4개 팀 수집 여부 불명</a:t>
                      </a:r>
                    </a:p>
                  </a:txBody>
                  <a:tcPr>
                    <a:solidFill>
                      <a:srgbClr val="FFFFFF"/>
                    </a:solidFill>
                  </a:tcPr>
                </a:tc>
                <a:tc>
                  <a:txBody>
                    <a:bodyPr/>
                    <a:lstStyle/>
                    <a:p>
                      <a:pPr>
                        <a:defRPr sz="800">
                          <a:solidFill>
                            <a:srgbClr val="333333"/>
                          </a:solidFill>
                        </a:defRPr>
                      </a:pPr>
                      <a:r>
                        <a:t>Full GC 이력 파악 불가</a:t>
                      </a:r>
                    </a:p>
                  </a:txBody>
                  <a:tcPr>
                    <a:solidFill>
                      <a:srgbClr val="FFFFFF"/>
                    </a:solidFill>
                  </a:tcPr>
                </a:tc>
                <a:tc>
                  <a:txBody>
                    <a:bodyPr/>
                    <a:lstStyle/>
                    <a:p>
                      <a:pPr>
                        <a:defRPr sz="800">
                          <a:solidFill>
                            <a:srgbClr val="333333"/>
                          </a:solidFill>
                        </a:defRPr>
                      </a:pPr>
                      <a:r>
                        <a:t>-Xlog:gc* 활성화</a:t>
                      </a:r>
                    </a:p>
                  </a:txBody>
                  <a:tcPr>
                    <a:solidFill>
                      <a:srgbClr val="FFFFFF"/>
                    </a:solidFill>
                  </a:tcPr>
                </a:tc>
              </a:tr>
              <a:tr h="274320">
                <a:tc>
                  <a:txBody>
                    <a:bodyPr/>
                    <a:lstStyle/>
                    <a:p>
                      <a:pPr>
                        <a:defRPr sz="800">
                          <a:solidFill>
                            <a:srgbClr val="333333"/>
                          </a:solidFill>
                        </a:defRPr>
                      </a:pPr>
                      <a:r>
                        <a:t>Peak 타임 데이터 부재</a:t>
                      </a:r>
                    </a:p>
                  </a:txBody>
                  <a:tcPr>
                    <a:solidFill>
                      <a:srgbClr val="F2F2F2"/>
                    </a:solidFill>
                  </a:tcPr>
                </a:tc>
                <a:tc>
                  <a:txBody>
                    <a:bodyPr/>
                    <a:lstStyle/>
                    <a:p>
                      <a:pPr>
                        <a:defRPr sz="800">
                          <a:solidFill>
                            <a:srgbClr val="333333"/>
                          </a:solidFill>
                        </a:defRPr>
                      </a:pPr>
                      <a:r>
                        <a:t>CL 외 3팀 미제공</a:t>
                      </a:r>
                    </a:p>
                  </a:txBody>
                  <a:tcPr>
                    <a:solidFill>
                      <a:srgbClr val="F2F2F2"/>
                    </a:solidFill>
                  </a:tcPr>
                </a:tc>
                <a:tc>
                  <a:txBody>
                    <a:bodyPr/>
                    <a:lstStyle/>
                    <a:p>
                      <a:pPr>
                        <a:defRPr sz="800">
                          <a:solidFill>
                            <a:srgbClr val="333333"/>
                          </a:solidFill>
                        </a:defRPr>
                      </a:pPr>
                      <a:r>
                        <a:t>실제 메모리 패턴 불명</a:t>
                      </a:r>
                    </a:p>
                  </a:txBody>
                  <a:tcPr>
                    <a:solidFill>
                      <a:srgbClr val="F2F2F2"/>
                    </a:solidFill>
                  </a:tcPr>
                </a:tc>
                <a:tc>
                  <a:txBody>
                    <a:bodyPr/>
                    <a:lstStyle/>
                    <a:p>
                      <a:pPr>
                        <a:defRPr sz="800">
                          <a:solidFill>
                            <a:srgbClr val="333333"/>
                          </a:solidFill>
                        </a:defRPr>
                      </a:pPr>
                      <a:r>
                        <a:t>Peak 스냅샷 수집 체계</a:t>
                      </a:r>
                    </a:p>
                  </a:txBody>
                  <a:tcPr>
                    <a:solidFill>
                      <a:srgbClr val="F2F2F2"/>
                    </a:solidFill>
                  </a:tcPr>
                </a:tc>
              </a:tr>
              <a:tr h="274320">
                <a:tc>
                  <a:txBody>
                    <a:bodyPr/>
                    <a:lstStyle/>
                    <a:p>
                      <a:pPr>
                        <a:defRPr sz="800">
                          <a:solidFill>
                            <a:srgbClr val="333333"/>
                          </a:solidFill>
                        </a:defRPr>
                      </a:pPr>
                      <a:r>
                        <a:t>모니터링 체계 전무</a:t>
                      </a:r>
                    </a:p>
                  </a:txBody>
                  <a:tcPr>
                    <a:solidFill>
                      <a:srgbClr val="FFFFFF"/>
                    </a:solidFill>
                  </a:tcPr>
                </a:tc>
                <a:tc>
                  <a:txBody>
                    <a:bodyPr/>
                    <a:lstStyle/>
                    <a:p>
                      <a:pPr>
                        <a:defRPr sz="800">
                          <a:solidFill>
                            <a:srgbClr val="333333"/>
                          </a:solidFill>
                        </a:defRPr>
                      </a:pPr>
                      <a:r>
                        <a:t>JVM 메트릭 확인 불가</a:t>
                      </a:r>
                    </a:p>
                  </a:txBody>
                  <a:tcPr>
                    <a:solidFill>
                      <a:srgbClr val="FFFFFF"/>
                    </a:solidFill>
                  </a:tcPr>
                </a:tc>
                <a:tc>
                  <a:txBody>
                    <a:bodyPr/>
                    <a:lstStyle/>
                    <a:p>
                      <a:pPr>
                        <a:defRPr sz="800">
                          <a:solidFill>
                            <a:srgbClr val="333333"/>
                          </a:solidFill>
                        </a:defRPr>
                      </a:pPr>
                      <a:r>
                        <a:t>장애 예측 불가</a:t>
                      </a:r>
                    </a:p>
                  </a:txBody>
                  <a:tcPr>
                    <a:solidFill>
                      <a:srgbClr val="FFFFFF"/>
                    </a:solidFill>
                  </a:tcPr>
                </a:tc>
                <a:tc>
                  <a:txBody>
                    <a:bodyPr/>
                    <a:lstStyle/>
                    <a:p>
                      <a:pPr>
                        <a:defRPr sz="800">
                          <a:solidFill>
                            <a:srgbClr val="333333"/>
                          </a:solidFill>
                        </a:defRPr>
                      </a:pPr>
                      <a:r>
                        <a:t>JMX/Prometheus 도입 검토</a:t>
                      </a:r>
                    </a:p>
                  </a:txBody>
                  <a:tcPr>
                    <a:solidFill>
                      <a:srgbClr val="FFFFFF"/>
                    </a:solidFill>
                  </a:tcPr>
                </a:tc>
              </a:tr>
              <a:tr h="274320">
                <a:tc>
                  <a:txBody>
                    <a:bodyPr/>
                    <a:lstStyle/>
                    <a:p>
                      <a:pPr>
                        <a:defRPr sz="800">
                          <a:solidFill>
                            <a:srgbClr val="333333"/>
                          </a:solidFill>
                        </a:defRPr>
                      </a:pPr>
                      <a:r>
                        <a:t>부하 테스트 이력</a:t>
                      </a:r>
                    </a:p>
                  </a:txBody>
                  <a:tcPr>
                    <a:solidFill>
                      <a:srgbClr val="F2F2F2"/>
                    </a:solidFill>
                  </a:tcPr>
                </a:tc>
                <a:tc>
                  <a:txBody>
                    <a:bodyPr/>
                    <a:lstStyle/>
                    <a:p>
                      <a:pPr>
                        <a:defRPr sz="800">
                          <a:solidFill>
                            <a:srgbClr val="333333"/>
                          </a:solidFill>
                        </a:defRPr>
                      </a:pPr>
                      <a:r>
                        <a:t>설정 근거 데이터 없음</a:t>
                      </a:r>
                    </a:p>
                  </a:txBody>
                  <a:tcPr>
                    <a:solidFill>
                      <a:srgbClr val="F2F2F2"/>
                    </a:solidFill>
                  </a:tcPr>
                </a:tc>
                <a:tc>
                  <a:txBody>
                    <a:bodyPr/>
                    <a:lstStyle/>
                    <a:p>
                      <a:pPr>
                        <a:defRPr sz="800">
                          <a:solidFill>
                            <a:srgbClr val="333333"/>
                          </a:solidFill>
                        </a:defRPr>
                      </a:pPr>
                      <a:r>
                        <a:t>적정성 검증 불가</a:t>
                      </a:r>
                    </a:p>
                  </a:txBody>
                  <a:tcPr>
                    <a:solidFill>
                      <a:srgbClr val="F2F2F2"/>
                    </a:solidFill>
                  </a:tcPr>
                </a:tc>
                <a:tc>
                  <a:txBody>
                    <a:bodyPr/>
                    <a:lstStyle/>
                    <a:p>
                      <a:pPr>
                        <a:defRPr sz="800">
                          <a:solidFill>
                            <a:srgbClr val="333333"/>
                          </a:solidFill>
                        </a:defRPr>
                      </a:pPr>
                      <a:r>
                        <a:t>기준 부하 테스트 수행</a:t>
                      </a:r>
                    </a:p>
                  </a:txBody>
                  <a:tcPr>
                    <a:solidFill>
                      <a:srgbClr val="F2F2F2"/>
                    </a:solidFill>
                  </a:tcPr>
                </a:tc>
              </a:tr>
            </a:tbl>
          </a:graphicData>
        </a:graphic>
      </p:graphicFrame>
      <p:sp>
        <p:nvSpPr>
          <p:cNvPr id="4" name="TextBox 3"/>
          <p:cNvSpPr txBox="1"/>
          <p:nvPr/>
        </p:nvSpPr>
        <p:spPr>
          <a:xfrm>
            <a:off x="457200" y="3200400"/>
            <a:ext cx="10972800" cy="457200"/>
          </a:xfrm>
          <a:prstGeom prst="rect">
            <a:avLst/>
          </a:prstGeom>
          <a:solidFill>
            <a:srgbClr val="FFF8DC"/>
          </a:solidFill>
          <a:ln>
            <a:noFill/>
          </a:ln>
        </p:spPr>
        <p:txBody>
          <a:bodyPr wrap="square">
            <a:spAutoFit/>
          </a:bodyPr>
          <a:lstStyle/>
          <a:p>
            <a:pPr>
              <a:defRPr sz="1000" b="1">
                <a:solidFill>
                  <a:srgbClr val="663300"/>
                </a:solidFill>
              </a:defRPr>
            </a:pPr>
            <a:r>
              <a:t>Discussion Point: 우리가 놓치고 있거나 간과한 중요한 인프라 설정 항목이 있는지? 특히 JVM 모니터링, GC 로그 수집, 알림 체계 측면에서</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square">
            <a:spAutoFit/>
          </a:bodyPr>
          <a:lstStyle/>
          <a:p>
            <a:pPr>
              <a:defRPr sz="2400" b="1">
                <a:solidFill>
                  <a:srgbClr val="1B2A4A"/>
                </a:solidFill>
              </a:defRPr>
            </a:pPr>
            <a:r>
              <a:t>[D-03] 후속 워크숍 계획 및 Next Steps</a:t>
            </a:r>
          </a:p>
        </p:txBody>
      </p:sp>
      <p:graphicFrame>
        <p:nvGraphicFramePr>
          <p:cNvPr id="3" name="Table 2"/>
          <p:cNvGraphicFramePr>
            <a:graphicFrameLocks noGrp="1"/>
          </p:cNvGraphicFramePr>
          <p:nvPr/>
        </p:nvGraphicFramePr>
        <p:xfrm>
          <a:off x="457200" y="1097280"/>
          <a:ext cx="10972800" cy="2743200"/>
        </p:xfrm>
        <a:graphic>
          <a:graphicData uri="http://schemas.openxmlformats.org/drawingml/2006/table">
            <a:tbl>
              <a:tblPr firstRow="1" bandRow="1">
                <a:tableStyleId>{5C22544A-7EE6-4342-B048-85BDC9FD1C3A}</a:tableStyleId>
              </a:tblPr>
              <a:tblGrid>
                <a:gridCol w="1828800"/>
                <a:gridCol w="3657600"/>
                <a:gridCol w="2743200"/>
                <a:gridCol w="2743200"/>
              </a:tblGrid>
              <a:tr h="274320">
                <a:tc>
                  <a:txBody>
                    <a:bodyPr/>
                    <a:lstStyle/>
                    <a:p>
                      <a:pPr algn="ctr">
                        <a:defRPr sz="900" b="1">
                          <a:solidFill>
                            <a:srgbClr val="FFFFFF"/>
                          </a:solidFill>
                        </a:defRPr>
                      </a:pPr>
                      <a:r>
                        <a:t>구분</a:t>
                      </a:r>
                    </a:p>
                  </a:txBody>
                  <a:tcPr>
                    <a:solidFill>
                      <a:srgbClr val="1B2A4A"/>
                    </a:solidFill>
                  </a:tcPr>
                </a:tc>
                <a:tc>
                  <a:txBody>
                    <a:bodyPr/>
                    <a:lstStyle/>
                    <a:p>
                      <a:pPr algn="ctr">
                        <a:defRPr sz="900" b="1">
                          <a:solidFill>
                            <a:srgbClr val="FFFFFF"/>
                          </a:solidFill>
                        </a:defRPr>
                      </a:pPr>
                      <a:r>
                        <a:t>항목</a:t>
                      </a:r>
                    </a:p>
                  </a:txBody>
                  <a:tcPr>
                    <a:solidFill>
                      <a:srgbClr val="1B2A4A"/>
                    </a:solidFill>
                  </a:tcPr>
                </a:tc>
                <a:tc>
                  <a:txBody>
                    <a:bodyPr/>
                    <a:lstStyle/>
                    <a:p>
                      <a:pPr algn="ctr">
                        <a:defRPr sz="900" b="1">
                          <a:solidFill>
                            <a:srgbClr val="FFFFFF"/>
                          </a:solidFill>
                        </a:defRPr>
                      </a:pPr>
                      <a:r>
                        <a:t>담당</a:t>
                      </a:r>
                    </a:p>
                  </a:txBody>
                  <a:tcPr>
                    <a:solidFill>
                      <a:srgbClr val="1B2A4A"/>
                    </a:solidFill>
                  </a:tcPr>
                </a:tc>
                <a:tc>
                  <a:txBody>
                    <a:bodyPr/>
                    <a:lstStyle/>
                    <a:p>
                      <a:pPr algn="ctr">
                        <a:defRPr sz="900" b="1">
                          <a:solidFill>
                            <a:srgbClr val="FFFFFF"/>
                          </a:solidFill>
                        </a:defRPr>
                      </a:pPr>
                      <a:r>
                        <a:t>목표 일정</a:t>
                      </a:r>
                    </a:p>
                  </a:txBody>
                  <a:tcPr>
                    <a:solidFill>
                      <a:srgbClr val="1B2A4A"/>
                    </a:solidFill>
                  </a:tcPr>
                </a:tc>
              </a:tr>
              <a:tr h="274320">
                <a:tc>
                  <a:txBody>
                    <a:bodyPr/>
                    <a:lstStyle/>
                    <a:p>
                      <a:pPr>
                        <a:defRPr sz="800">
                          <a:solidFill>
                            <a:srgbClr val="333333"/>
                          </a:solidFill>
                        </a:defRPr>
                      </a:pPr>
                      <a:r>
                        <a:t>데이터 수집</a:t>
                      </a:r>
                    </a:p>
                  </a:txBody>
                  <a:tcPr>
                    <a:solidFill>
                      <a:srgbClr val="FFFFFF"/>
                    </a:solidFill>
                  </a:tcPr>
                </a:tc>
                <a:tc>
                  <a:txBody>
                    <a:bodyPr/>
                    <a:lstStyle/>
                    <a:p>
                      <a:pPr>
                        <a:defRPr sz="800">
                          <a:solidFill>
                            <a:srgbClr val="333333"/>
                          </a:solidFill>
                        </a:defRPr>
                      </a:pPr>
                      <a:r>
                        <a:t>전사 GC 로그 활성화</a:t>
                      </a:r>
                    </a:p>
                  </a:txBody>
                  <a:tcPr>
                    <a:solidFill>
                      <a:srgbClr val="FFFFFF"/>
                    </a:solidFill>
                  </a:tcPr>
                </a:tc>
                <a:tc>
                  <a:txBody>
                    <a:bodyPr/>
                    <a:lstStyle/>
                    <a:p>
                      <a:pPr>
                        <a:defRPr sz="800">
                          <a:solidFill>
                            <a:srgbClr val="333333"/>
                          </a:solidFill>
                        </a:defRPr>
                      </a:pPr>
                      <a:r>
                        <a:t>당사 (TA+각 팀)</a:t>
                      </a:r>
                    </a:p>
                  </a:txBody>
                  <a:tcPr>
                    <a:solidFill>
                      <a:srgbClr val="FFFFFF"/>
                    </a:solidFill>
                  </a:tcPr>
                </a:tc>
                <a:tc>
                  <a:txBody>
                    <a:bodyPr/>
                    <a:lstStyle/>
                    <a:p>
                      <a:pPr>
                        <a:defRPr sz="800">
                          <a:solidFill>
                            <a:srgbClr val="333333"/>
                          </a:solidFill>
                        </a:defRPr>
                      </a:pPr>
                      <a:r>
                        <a:t>미팅 후 즉시</a:t>
                      </a:r>
                    </a:p>
                  </a:txBody>
                  <a:tcPr>
                    <a:solidFill>
                      <a:srgbClr val="FFFFFF"/>
                    </a:solidFill>
                  </a:tcPr>
                </a:tc>
              </a:tr>
              <a:tr h="274320">
                <a:tc>
                  <a:txBody>
                    <a:bodyPr/>
                    <a:lstStyle/>
                    <a:p>
                      <a:pPr>
                        <a:defRPr sz="800">
                          <a:solidFill>
                            <a:srgbClr val="333333"/>
                          </a:solidFill>
                        </a:defRPr>
                      </a:pPr>
                      <a:r>
                        <a:t>데이터 수집</a:t>
                      </a:r>
                    </a:p>
                  </a:txBody>
                  <a:tcPr>
                    <a:solidFill>
                      <a:srgbClr val="F2F2F2"/>
                    </a:solidFill>
                  </a:tcPr>
                </a:tc>
                <a:tc>
                  <a:txBody>
                    <a:bodyPr/>
                    <a:lstStyle/>
                    <a:p>
                      <a:pPr>
                        <a:defRPr sz="800">
                          <a:solidFill>
                            <a:srgbClr val="333333"/>
                          </a:solidFill>
                        </a:defRPr>
                      </a:pPr>
                      <a:r>
                        <a:t>Peak 타임 Runtime 스냅샷</a:t>
                      </a:r>
                    </a:p>
                  </a:txBody>
                  <a:tcPr>
                    <a:solidFill>
                      <a:srgbClr val="F2F2F2"/>
                    </a:solidFill>
                  </a:tcPr>
                </a:tc>
                <a:tc>
                  <a:txBody>
                    <a:bodyPr/>
                    <a:lstStyle/>
                    <a:p>
                      <a:pPr>
                        <a:defRPr sz="800">
                          <a:solidFill>
                            <a:srgbClr val="333333"/>
                          </a:solidFill>
                        </a:defRPr>
                      </a:pPr>
                      <a:r>
                        <a:t>당사 (각 팀)</a:t>
                      </a:r>
                    </a:p>
                  </a:txBody>
                  <a:tcPr>
                    <a:solidFill>
                      <a:srgbClr val="F2F2F2"/>
                    </a:solidFill>
                  </a:tcPr>
                </a:tc>
                <a:tc>
                  <a:txBody>
                    <a:bodyPr/>
                    <a:lstStyle/>
                    <a:p>
                      <a:pPr>
                        <a:defRPr sz="800">
                          <a:solidFill>
                            <a:srgbClr val="333333"/>
                          </a:solidFill>
                        </a:defRPr>
                      </a:pPr>
                      <a:r>
                        <a:t>1주 내</a:t>
                      </a:r>
                    </a:p>
                  </a:txBody>
                  <a:tcPr>
                    <a:solidFill>
                      <a:srgbClr val="F2F2F2"/>
                    </a:solidFill>
                  </a:tcPr>
                </a:tc>
              </a:tr>
              <a:tr h="274320">
                <a:tc>
                  <a:txBody>
                    <a:bodyPr/>
                    <a:lstStyle/>
                    <a:p>
                      <a:pPr>
                        <a:defRPr sz="800">
                          <a:solidFill>
                            <a:srgbClr val="333333"/>
                          </a:solidFill>
                        </a:defRPr>
                      </a:pPr>
                      <a:r>
                        <a:t>데이터 수집</a:t>
                      </a:r>
                    </a:p>
                  </a:txBody>
                  <a:tcPr>
                    <a:solidFill>
                      <a:srgbClr val="FFFFFF"/>
                    </a:solidFill>
                  </a:tcPr>
                </a:tc>
                <a:tc>
                  <a:txBody>
                    <a:bodyPr/>
                    <a:lstStyle/>
                    <a:p>
                      <a:pPr>
                        <a:defRPr sz="800">
                          <a:solidFill>
                            <a:srgbClr val="333333"/>
                          </a:solidFill>
                        </a:defRPr>
                      </a:pPr>
                      <a:r>
                        <a:t>NC Java 15/25 혼재 상세 확인</a:t>
                      </a:r>
                    </a:p>
                  </a:txBody>
                  <a:tcPr>
                    <a:solidFill>
                      <a:srgbClr val="FFFFFF"/>
                    </a:solidFill>
                  </a:tcPr>
                </a:tc>
                <a:tc>
                  <a:txBody>
                    <a:bodyPr/>
                    <a:lstStyle/>
                    <a:p>
                      <a:pPr>
                        <a:defRPr sz="800">
                          <a:solidFill>
                            <a:srgbClr val="333333"/>
                          </a:solidFill>
                        </a:defRPr>
                      </a:pPr>
                      <a:r>
                        <a:t>당사 (플랫폼개발팀)</a:t>
                      </a:r>
                    </a:p>
                  </a:txBody>
                  <a:tcPr>
                    <a:solidFill>
                      <a:srgbClr val="FFFFFF"/>
                    </a:solidFill>
                  </a:tcPr>
                </a:tc>
                <a:tc>
                  <a:txBody>
                    <a:bodyPr/>
                    <a:lstStyle/>
                    <a:p>
                      <a:pPr>
                        <a:defRPr sz="800">
                          <a:solidFill>
                            <a:srgbClr val="333333"/>
                          </a:solidFill>
                        </a:defRPr>
                      </a:pPr>
                      <a:r>
                        <a:t>1주 내</a:t>
                      </a:r>
                    </a:p>
                  </a:txBody>
                  <a:tcPr>
                    <a:solidFill>
                      <a:srgbClr val="FFFFFF"/>
                    </a:solidFill>
                  </a:tcPr>
                </a:tc>
              </a:tr>
              <a:tr h="274320">
                <a:tc>
                  <a:txBody>
                    <a:bodyPr/>
                    <a:lstStyle/>
                    <a:p>
                      <a:pPr>
                        <a:defRPr sz="800">
                          <a:solidFill>
                            <a:srgbClr val="333333"/>
                          </a:solidFill>
                        </a:defRPr>
                      </a:pPr>
                      <a:r>
                        <a:t>컨설팅 산출물</a:t>
                      </a:r>
                    </a:p>
                  </a:txBody>
                  <a:tcPr>
                    <a:solidFill>
                      <a:srgbClr val="F2F2F2"/>
                    </a:solidFill>
                  </a:tcPr>
                </a:tc>
                <a:tc>
                  <a:txBody>
                    <a:bodyPr/>
                    <a:lstStyle/>
                    <a:p>
                      <a:pPr>
                        <a:defRPr sz="800">
                          <a:solidFill>
                            <a:srgbClr val="333333"/>
                          </a:solidFill>
                        </a:defRPr>
                      </a:pPr>
                      <a:r>
                        <a:t>미팅 피드백 정리 및 추가 제언</a:t>
                      </a:r>
                    </a:p>
                  </a:txBody>
                  <a:tcPr>
                    <a:solidFill>
                      <a:srgbClr val="F2F2F2"/>
                    </a:solidFill>
                  </a:tcPr>
                </a:tc>
                <a:tc>
                  <a:txBody>
                    <a:bodyPr/>
                    <a:lstStyle/>
                    <a:p>
                      <a:pPr>
                        <a:defRPr sz="800">
                          <a:solidFill>
                            <a:srgbClr val="333333"/>
                          </a:solidFill>
                        </a:defRPr>
                      </a:pPr>
                      <a:r>
                        <a:t>컨설팅사</a:t>
                      </a:r>
                    </a:p>
                  </a:txBody>
                  <a:tcPr>
                    <a:solidFill>
                      <a:srgbClr val="F2F2F2"/>
                    </a:solidFill>
                  </a:tcPr>
                </a:tc>
                <a:tc>
                  <a:txBody>
                    <a:bodyPr/>
                    <a:lstStyle/>
                    <a:p>
                      <a:pPr>
                        <a:defRPr sz="800">
                          <a:solidFill>
                            <a:srgbClr val="333333"/>
                          </a:solidFill>
                        </a:defRPr>
                      </a:pPr>
                      <a:r>
                        <a:t>후속 미팅 전</a:t>
                      </a:r>
                    </a:p>
                  </a:txBody>
                  <a:tcPr>
                    <a:solidFill>
                      <a:srgbClr val="F2F2F2"/>
                    </a:solidFill>
                  </a:tcPr>
                </a:tc>
              </a:tr>
              <a:tr h="274320">
                <a:tc>
                  <a:txBody>
                    <a:bodyPr/>
                    <a:lstStyle/>
                    <a:p>
                      <a:pPr>
                        <a:defRPr sz="800">
                          <a:solidFill>
                            <a:srgbClr val="333333"/>
                          </a:solidFill>
                        </a:defRPr>
                      </a:pPr>
                      <a:r>
                        <a:t>컨설팅 산출물</a:t>
                      </a:r>
                    </a:p>
                  </a:txBody>
                  <a:tcPr>
                    <a:solidFill>
                      <a:srgbClr val="FFFFFF"/>
                    </a:solidFill>
                  </a:tcPr>
                </a:tc>
                <a:tc>
                  <a:txBody>
                    <a:bodyPr/>
                    <a:lstStyle/>
                    <a:p>
                      <a:pPr>
                        <a:defRPr sz="800">
                          <a:solidFill>
                            <a:srgbClr val="333333"/>
                          </a:solidFill>
                        </a:defRPr>
                      </a:pPr>
                      <a:r>
                        <a:t>최소 모니터링 체계 권장안</a:t>
                      </a:r>
                    </a:p>
                  </a:txBody>
                  <a:tcPr>
                    <a:solidFill>
                      <a:srgbClr val="FFFFFF"/>
                    </a:solidFill>
                  </a:tcPr>
                </a:tc>
                <a:tc>
                  <a:txBody>
                    <a:bodyPr/>
                    <a:lstStyle/>
                    <a:p>
                      <a:pPr>
                        <a:defRPr sz="800">
                          <a:solidFill>
                            <a:srgbClr val="333333"/>
                          </a:solidFill>
                        </a:defRPr>
                      </a:pPr>
                      <a:r>
                        <a:t>컨설팅사</a:t>
                      </a:r>
                    </a:p>
                  </a:txBody>
                  <a:tcPr>
                    <a:solidFill>
                      <a:srgbClr val="FFFFFF"/>
                    </a:solidFill>
                  </a:tcPr>
                </a:tc>
                <a:tc>
                  <a:txBody>
                    <a:bodyPr/>
                    <a:lstStyle/>
                    <a:p>
                      <a:pPr>
                        <a:defRPr sz="800">
                          <a:solidFill>
                            <a:srgbClr val="333333"/>
                          </a:solidFill>
                        </a:defRPr>
                      </a:pPr>
                      <a:r>
                        <a:t>후속 미팅 전</a:t>
                      </a:r>
                    </a:p>
                  </a:txBody>
                  <a:tcPr>
                    <a:solidFill>
                      <a:srgbClr val="FFFFFF"/>
                    </a:solidFill>
                  </a:tcPr>
                </a:tc>
              </a:tr>
              <a:tr h="274320">
                <a:tc>
                  <a:txBody>
                    <a:bodyPr/>
                    <a:lstStyle/>
                    <a:p>
                      <a:pPr>
                        <a:defRPr sz="800">
                          <a:solidFill>
                            <a:srgbClr val="333333"/>
                          </a:solidFill>
                        </a:defRPr>
                      </a:pPr>
                      <a:r>
                        <a:t>컨설팅 산출물</a:t>
                      </a:r>
                    </a:p>
                  </a:txBody>
                  <a:tcPr>
                    <a:solidFill>
                      <a:srgbClr val="F2F2F2"/>
                    </a:solidFill>
                  </a:tcPr>
                </a:tc>
                <a:tc>
                  <a:txBody>
                    <a:bodyPr/>
                    <a:lstStyle/>
                    <a:p>
                      <a:pPr>
                        <a:defRPr sz="800">
                          <a:solidFill>
                            <a:srgbClr val="333333"/>
                          </a:solidFill>
                        </a:defRPr>
                      </a:pPr>
                      <a:r>
                        <a:t>P0 실행 가이드 (G1 전환 절차 등)</a:t>
                      </a:r>
                    </a:p>
                  </a:txBody>
                  <a:tcPr>
                    <a:solidFill>
                      <a:srgbClr val="F2F2F2"/>
                    </a:solidFill>
                  </a:tcPr>
                </a:tc>
                <a:tc>
                  <a:txBody>
                    <a:bodyPr/>
                    <a:lstStyle/>
                    <a:p>
                      <a:pPr>
                        <a:defRPr sz="800">
                          <a:solidFill>
                            <a:srgbClr val="333333"/>
                          </a:solidFill>
                        </a:defRPr>
                      </a:pPr>
                      <a:r>
                        <a:t>컨설팅사</a:t>
                      </a:r>
                    </a:p>
                  </a:txBody>
                  <a:tcPr>
                    <a:solidFill>
                      <a:srgbClr val="F2F2F2"/>
                    </a:solidFill>
                  </a:tcPr>
                </a:tc>
                <a:tc>
                  <a:txBody>
                    <a:bodyPr/>
                    <a:lstStyle/>
                    <a:p>
                      <a:pPr>
                        <a:defRPr sz="800">
                          <a:solidFill>
                            <a:srgbClr val="333333"/>
                          </a:solidFill>
                        </a:defRPr>
                      </a:pPr>
                      <a:r>
                        <a:t>후속 미팅 전</a:t>
                      </a:r>
                    </a:p>
                  </a:txBody>
                  <a:tcPr>
                    <a:solidFill>
                      <a:srgbClr val="F2F2F2"/>
                    </a:solidFill>
                  </a:tcPr>
                </a:tc>
              </a:tr>
              <a:tr h="274320">
                <a:tc>
                  <a:txBody>
                    <a:bodyPr/>
                    <a:lstStyle/>
                    <a:p>
                      <a:pPr>
                        <a:defRPr sz="800">
                          <a:solidFill>
                            <a:srgbClr val="333333"/>
                          </a:solidFill>
                        </a:defRPr>
                      </a:pPr>
                      <a:r>
                        <a:t>검증</a:t>
                      </a:r>
                    </a:p>
                  </a:txBody>
                  <a:tcPr>
                    <a:solidFill>
                      <a:srgbClr val="FFFFFF"/>
                    </a:solidFill>
                  </a:tcPr>
                </a:tc>
                <a:tc>
                  <a:txBody>
                    <a:bodyPr/>
                    <a:lstStyle/>
                    <a:p>
                      <a:pPr>
                        <a:defRPr sz="800">
                          <a:solidFill>
                            <a:srgbClr val="333333"/>
                          </a:solidFill>
                        </a:defRPr>
                      </a:pPr>
                      <a:r>
                        <a:t>현금정보계 Metaspace 실제 반영 확인</a:t>
                      </a:r>
                    </a:p>
                  </a:txBody>
                  <a:tcPr>
                    <a:solidFill>
                      <a:srgbClr val="FFFFFF"/>
                    </a:solidFill>
                  </a:tcPr>
                </a:tc>
                <a:tc>
                  <a:txBody>
                    <a:bodyPr/>
                    <a:lstStyle/>
                    <a:p>
                      <a:pPr>
                        <a:defRPr sz="800">
                          <a:solidFill>
                            <a:srgbClr val="333333"/>
                          </a:solidFill>
                        </a:defRPr>
                      </a:pPr>
                      <a:r>
                        <a:t>당사 (현금정보계팀)</a:t>
                      </a:r>
                    </a:p>
                  </a:txBody>
                  <a:tcPr>
                    <a:solidFill>
                      <a:srgbClr val="FFFFFF"/>
                    </a:solidFill>
                  </a:tcPr>
                </a:tc>
                <a:tc>
                  <a:txBody>
                    <a:bodyPr/>
                    <a:lstStyle/>
                    <a:p>
                      <a:pPr>
                        <a:defRPr sz="800">
                          <a:solidFill>
                            <a:srgbClr val="333333"/>
                          </a:solidFill>
                        </a:defRPr>
                      </a:pPr>
                      <a:r>
                        <a:t>1주 내</a:t>
                      </a:r>
                    </a:p>
                  </a:txBody>
                  <a:tcPr>
                    <a:solidFill>
                      <a:srgbClr val="FFFFFF"/>
                    </a:solidFill>
                  </a:tcPr>
                </a:tc>
              </a:tr>
              <a:tr h="274320">
                <a:tc>
                  <a:txBody>
                    <a:bodyPr/>
                    <a:lstStyle/>
                    <a:p>
                      <a:pPr>
                        <a:defRPr sz="800">
                          <a:solidFill>
                            <a:srgbClr val="333333"/>
                          </a:solidFill>
                        </a:defRPr>
                      </a:pPr>
                      <a:r>
                        <a:t>최종 산출물</a:t>
                      </a:r>
                    </a:p>
                  </a:txBody>
                  <a:tcPr>
                    <a:solidFill>
                      <a:srgbClr val="F2F2F2"/>
                    </a:solidFill>
                  </a:tcPr>
                </a:tc>
                <a:tc>
                  <a:txBody>
                    <a:bodyPr/>
                    <a:lstStyle/>
                    <a:p>
                      <a:pPr>
                        <a:defRPr sz="800">
                          <a:solidFill>
                            <a:srgbClr val="333333"/>
                          </a:solidFill>
                        </a:defRPr>
                      </a:pPr>
                      <a:r>
                        <a:t>전사 표준 설정 가이드</a:t>
                      </a:r>
                    </a:p>
                  </a:txBody>
                  <a:tcPr>
                    <a:solidFill>
                      <a:srgbClr val="F2F2F2"/>
                    </a:solidFill>
                  </a:tcPr>
                </a:tc>
                <a:tc>
                  <a:txBody>
                    <a:bodyPr/>
                    <a:lstStyle/>
                    <a:p>
                      <a:pPr>
                        <a:defRPr sz="800">
                          <a:solidFill>
                            <a:srgbClr val="333333"/>
                          </a:solidFill>
                        </a:defRPr>
                      </a:pPr>
                      <a:r>
                        <a:t>공동</a:t>
                      </a:r>
                    </a:p>
                  </a:txBody>
                  <a:tcPr>
                    <a:solidFill>
                      <a:srgbClr val="F2F2F2"/>
                    </a:solidFill>
                  </a:tcPr>
                </a:tc>
                <a:tc>
                  <a:txBody>
                    <a:bodyPr/>
                    <a:lstStyle/>
                    <a:p>
                      <a:pPr>
                        <a:defRPr sz="800">
                          <a:solidFill>
                            <a:srgbClr val="333333"/>
                          </a:solidFill>
                        </a:defRPr>
                      </a:pPr>
                      <a:r>
                        <a:t>후속 워크숍 이후</a:t>
                      </a:r>
                    </a:p>
                  </a:txBody>
                  <a:tcPr>
                    <a:solidFill>
                      <a:srgbClr val="F2F2F2"/>
                    </a:solidFill>
                  </a:tcPr>
                </a:tc>
              </a:tr>
              <a:tr h="274320">
                <a:tc>
                  <a:txBody>
                    <a:bodyPr/>
                    <a:lstStyle/>
                    <a:p>
                      <a:pPr>
                        <a:defRPr sz="800">
                          <a:solidFill>
                            <a:srgbClr val="333333"/>
                          </a:solidFill>
                        </a:defRPr>
                      </a:pPr>
                      <a:r>
                        <a:t>최종 산출물</a:t>
                      </a:r>
                    </a:p>
                  </a:txBody>
                  <a:tcPr>
                    <a:solidFill>
                      <a:srgbClr val="FFFFFF"/>
                    </a:solidFill>
                  </a:tcPr>
                </a:tc>
                <a:tc>
                  <a:txBody>
                    <a:bodyPr/>
                    <a:lstStyle/>
                    <a:p>
                      <a:pPr>
                        <a:defRPr sz="800">
                          <a:solidFill>
                            <a:srgbClr val="333333"/>
                          </a:solidFill>
                        </a:defRPr>
                      </a:pPr>
                      <a:r>
                        <a:t>모니터링 체계 구축 가이드</a:t>
                      </a:r>
                    </a:p>
                  </a:txBody>
                  <a:tcPr>
                    <a:solidFill>
                      <a:srgbClr val="FFFFFF"/>
                    </a:solidFill>
                  </a:tcPr>
                </a:tc>
                <a:tc>
                  <a:txBody>
                    <a:bodyPr/>
                    <a:lstStyle/>
                    <a:p>
                      <a:pPr>
                        <a:defRPr sz="800">
                          <a:solidFill>
                            <a:srgbClr val="333333"/>
                          </a:solidFill>
                        </a:defRPr>
                      </a:pPr>
                      <a:r>
                        <a:t>공동</a:t>
                      </a:r>
                    </a:p>
                  </a:txBody>
                  <a:tcPr>
                    <a:solidFill>
                      <a:srgbClr val="FFFFFF"/>
                    </a:solidFill>
                  </a:tcPr>
                </a:tc>
                <a:tc>
                  <a:txBody>
                    <a:bodyPr/>
                    <a:lstStyle/>
                    <a:p>
                      <a:pPr>
                        <a:defRPr sz="800">
                          <a:solidFill>
                            <a:srgbClr val="333333"/>
                          </a:solidFill>
                        </a:defRPr>
                      </a:pPr>
                      <a:r>
                        <a:t>후속 워크숍 이후</a:t>
                      </a:r>
                    </a:p>
                  </a:txBody>
                  <a:tcPr>
                    <a:solidFill>
                      <a:srgbClr val="FFFFFF"/>
                    </a:solidFill>
                  </a:tcPr>
                </a:tc>
              </a:tr>
            </a:tbl>
          </a:graphicData>
        </a:graphic>
      </p:graphicFrame>
      <p:sp>
        <p:nvSpPr>
          <p:cNvPr id="4" name="TextBox 3"/>
          <p:cNvSpPr txBox="1"/>
          <p:nvPr/>
        </p:nvSpPr>
        <p:spPr>
          <a:xfrm>
            <a:off x="457200" y="4572000"/>
            <a:ext cx="10972800" cy="457200"/>
          </a:xfrm>
          <a:prstGeom prst="rect">
            <a:avLst/>
          </a:prstGeom>
          <a:solidFill>
            <a:srgbClr val="FFF8DC"/>
          </a:solidFill>
          <a:ln>
            <a:noFill/>
          </a:ln>
        </p:spPr>
        <p:txBody>
          <a:bodyPr wrap="square">
            <a:spAutoFit/>
          </a:bodyPr>
          <a:lstStyle/>
          <a:p>
            <a:pPr>
              <a:defRPr sz="1000" b="1">
                <a:solidFill>
                  <a:srgbClr val="663300"/>
                </a:solidFill>
              </a:defRPr>
            </a:pPr>
            <a:r>
              <a:t>Discussion Point: 컨설팅 측에서 다음 단계까지 준비해 주실 수 있는 산출물은?</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square">
            <a:spAutoFit/>
          </a:bodyPr>
          <a:lstStyle/>
          <a:p>
            <a:pPr>
              <a:defRPr sz="2400" b="1">
                <a:solidFill>
                  <a:srgbClr val="1B2A4A"/>
                </a:solidFill>
              </a:defRPr>
            </a:pPr>
            <a:r>
              <a:t>[E-01a] 원천 데이터 요약 -- 플랫폼개발팀</a:t>
            </a:r>
          </a:p>
        </p:txBody>
      </p:sp>
      <p:graphicFrame>
        <p:nvGraphicFramePr>
          <p:cNvPr id="3" name="Table 2"/>
          <p:cNvGraphicFramePr>
            <a:graphicFrameLocks noGrp="1"/>
          </p:cNvGraphicFramePr>
          <p:nvPr/>
        </p:nvGraphicFramePr>
        <p:xfrm>
          <a:off x="457200" y="1005840"/>
          <a:ext cx="10972800" cy="3566160"/>
        </p:xfrm>
        <a:graphic>
          <a:graphicData uri="http://schemas.openxmlformats.org/drawingml/2006/table">
            <a:tbl>
              <a:tblPr firstRow="1" bandRow="1">
                <a:tableStyleId>{5C22544A-7EE6-4342-B048-85BDC9FD1C3A}</a:tableStyleId>
              </a:tblPr>
              <a:tblGrid>
                <a:gridCol w="2286000"/>
                <a:gridCol w="4343400"/>
                <a:gridCol w="4343400"/>
              </a:tblGrid>
              <a:tr h="274320">
                <a:tc>
                  <a:txBody>
                    <a:bodyPr/>
                    <a:lstStyle/>
                    <a:p>
                      <a:pPr algn="ctr">
                        <a:defRPr sz="900" b="1">
                          <a:solidFill>
                            <a:srgbClr val="FFFFFF"/>
                          </a:solidFill>
                        </a:defRPr>
                      </a:pPr>
                      <a:r>
                        <a:t>항목</a:t>
                      </a:r>
                    </a:p>
                  </a:txBody>
                  <a:tcPr>
                    <a:solidFill>
                      <a:srgbClr val="1B2A4A"/>
                    </a:solidFill>
                  </a:tcPr>
                </a:tc>
                <a:tc>
                  <a:txBody>
                    <a:bodyPr/>
                    <a:lstStyle/>
                    <a:p>
                      <a:pPr algn="ctr">
                        <a:defRPr sz="900" b="1">
                          <a:solidFill>
                            <a:srgbClr val="FFFFFF"/>
                          </a:solidFill>
                        </a:defRPr>
                      </a:pPr>
                      <a:r>
                        <a:t>Nice Park (NP)</a:t>
                      </a:r>
                    </a:p>
                  </a:txBody>
                  <a:tcPr>
                    <a:solidFill>
                      <a:srgbClr val="1B2A4A"/>
                    </a:solidFill>
                  </a:tcPr>
                </a:tc>
                <a:tc>
                  <a:txBody>
                    <a:bodyPr/>
                    <a:lstStyle/>
                    <a:p>
                      <a:pPr algn="ctr">
                        <a:defRPr sz="900" b="1">
                          <a:solidFill>
                            <a:srgbClr val="FFFFFF"/>
                          </a:solidFill>
                        </a:defRPr>
                      </a:pPr>
                      <a:r>
                        <a:t>Nice Charger (NC)</a:t>
                      </a:r>
                    </a:p>
                  </a:txBody>
                  <a:tcPr>
                    <a:solidFill>
                      <a:srgbClr val="1B2A4A"/>
                    </a:solidFill>
                  </a:tcPr>
                </a:tc>
              </a:tr>
              <a:tr h="274320">
                <a:tc>
                  <a:txBody>
                    <a:bodyPr/>
                    <a:lstStyle/>
                    <a:p>
                      <a:pPr>
                        <a:defRPr sz="800">
                          <a:solidFill>
                            <a:srgbClr val="333333"/>
                          </a:solidFill>
                        </a:defRPr>
                      </a:pPr>
                      <a:r>
                        <a:t>WAS</a:t>
                      </a:r>
                    </a:p>
                  </a:txBody>
                  <a:tcPr>
                    <a:solidFill>
                      <a:srgbClr val="FFFFFF"/>
                    </a:solidFill>
                  </a:tcPr>
                </a:tc>
                <a:tc>
                  <a:txBody>
                    <a:bodyPr/>
                    <a:lstStyle/>
                    <a:p>
                      <a:pPr>
                        <a:defRPr sz="800">
                          <a:solidFill>
                            <a:srgbClr val="333333"/>
                          </a:solidFill>
                        </a:defRPr>
                      </a:pPr>
                      <a:r>
                        <a:t>Spring Boot 3.5.3 내장 Tomcat</a:t>
                      </a:r>
                    </a:p>
                  </a:txBody>
                  <a:tcPr>
                    <a:solidFill>
                      <a:srgbClr val="FFFFFF"/>
                    </a:solidFill>
                  </a:tcPr>
                </a:tc>
                <a:tc>
                  <a:txBody>
                    <a:bodyPr/>
                    <a:lstStyle/>
                    <a:p>
                      <a:pPr>
                        <a:defRPr sz="800">
                          <a:solidFill>
                            <a:srgbClr val="333333"/>
                          </a:solidFill>
                        </a:defRPr>
                      </a:pPr>
                      <a:r>
                        <a:t>Tomcat 9 / Spring Boot 4.0.5</a:t>
                      </a:r>
                    </a:p>
                  </a:txBody>
                  <a:tcPr>
                    <a:solidFill>
                      <a:srgbClr val="FFFFFF"/>
                    </a:solidFill>
                  </a:tcPr>
                </a:tc>
              </a:tr>
              <a:tr h="274320">
                <a:tc>
                  <a:txBody>
                    <a:bodyPr/>
                    <a:lstStyle/>
                    <a:p>
                      <a:pPr>
                        <a:defRPr sz="800">
                          <a:solidFill>
                            <a:srgbClr val="333333"/>
                          </a:solidFill>
                        </a:defRPr>
                      </a:pPr>
                      <a:r>
                        <a:t>Java</a:t>
                      </a:r>
                    </a:p>
                  </a:txBody>
                  <a:tcPr>
                    <a:solidFill>
                      <a:srgbClr val="F2F2F2"/>
                    </a:solidFill>
                  </a:tcPr>
                </a:tc>
                <a:tc>
                  <a:txBody>
                    <a:bodyPr/>
                    <a:lstStyle/>
                    <a:p>
                      <a:pPr>
                        <a:defRPr sz="800">
                          <a:solidFill>
                            <a:srgbClr val="333333"/>
                          </a:solidFill>
                        </a:defRPr>
                      </a:pPr>
                      <a:r>
                        <a:t>17</a:t>
                      </a:r>
                    </a:p>
                  </a:txBody>
                  <a:tcPr>
                    <a:solidFill>
                      <a:srgbClr val="F2F2F2"/>
                    </a:solidFill>
                  </a:tcPr>
                </a:tc>
                <a:tc>
                  <a:txBody>
                    <a:bodyPr/>
                    <a:lstStyle/>
                    <a:p>
                      <a:pPr>
                        <a:defRPr sz="800">
                          <a:solidFill>
                            <a:srgbClr val="333333"/>
                          </a:solidFill>
                        </a:defRPr>
                      </a:pPr>
                      <a:r>
                        <a:t>15 (Tomcat 9) / 25 (Spring Boot 4.0.5)</a:t>
                      </a:r>
                    </a:p>
                  </a:txBody>
                  <a:tcPr>
                    <a:solidFill>
                      <a:srgbClr val="F2F2F2"/>
                    </a:solidFill>
                  </a:tcPr>
                </a:tc>
              </a:tr>
              <a:tr h="274320">
                <a:tc>
                  <a:txBody>
                    <a:bodyPr/>
                    <a:lstStyle/>
                    <a:p>
                      <a:pPr>
                        <a:defRPr sz="800">
                          <a:solidFill>
                            <a:srgbClr val="333333"/>
                          </a:solidFill>
                        </a:defRPr>
                      </a:pPr>
                      <a:r>
                        <a:t>GC</a:t>
                      </a:r>
                    </a:p>
                  </a:txBody>
                  <a:tcPr>
                    <a:solidFill>
                      <a:srgbClr val="FFFFFF"/>
                    </a:solidFill>
                  </a:tcPr>
                </a:tc>
                <a:tc>
                  <a:txBody>
                    <a:bodyPr/>
                    <a:lstStyle/>
                    <a:p>
                      <a:pPr>
                        <a:defRPr sz="800">
                          <a:solidFill>
                            <a:srgbClr val="333333"/>
                          </a:solidFill>
                        </a:defRPr>
                      </a:pPr>
                      <a:r>
                        <a:t>G1 GC</a:t>
                      </a:r>
                    </a:p>
                  </a:txBody>
                  <a:tcPr>
                    <a:solidFill>
                      <a:srgbClr val="FFFFFF"/>
                    </a:solidFill>
                  </a:tcPr>
                </a:tc>
                <a:tc>
                  <a:txBody>
                    <a:bodyPr/>
                    <a:lstStyle/>
                    <a:p>
                      <a:pPr>
                        <a:defRPr sz="800">
                          <a:solidFill>
                            <a:srgbClr val="333333"/>
                          </a:solidFill>
                        </a:defRPr>
                      </a:pPr>
                      <a:r>
                        <a:t>G1 GC</a:t>
                      </a:r>
                    </a:p>
                  </a:txBody>
                  <a:tcPr>
                    <a:solidFill>
                      <a:srgbClr val="FFFFFF"/>
                    </a:solidFill>
                  </a:tcPr>
                </a:tc>
              </a:tr>
              <a:tr h="274320">
                <a:tc>
                  <a:txBody>
                    <a:bodyPr/>
                    <a:lstStyle/>
                    <a:p>
                      <a:pPr>
                        <a:defRPr sz="800">
                          <a:solidFill>
                            <a:srgbClr val="333333"/>
                          </a:solidFill>
                        </a:defRPr>
                      </a:pPr>
                      <a:r>
                        <a:t>Heap</a:t>
                      </a:r>
                    </a:p>
                  </a:txBody>
                  <a:tcPr>
                    <a:solidFill>
                      <a:srgbClr val="F2F2F2"/>
                    </a:solidFill>
                  </a:tcPr>
                </a:tc>
                <a:tc>
                  <a:txBody>
                    <a:bodyPr/>
                    <a:lstStyle/>
                    <a:p>
                      <a:pPr>
                        <a:defRPr sz="800">
                          <a:solidFill>
                            <a:srgbClr val="333333"/>
                          </a:solidFill>
                        </a:defRPr>
                      </a:pPr>
                      <a:r>
                        <a:t>heapPercent: 70%</a:t>
                      </a:r>
                    </a:p>
                  </a:txBody>
                  <a:tcPr>
                    <a:solidFill>
                      <a:srgbClr val="F2F2F2"/>
                    </a:solidFill>
                  </a:tcPr>
                </a:tc>
                <a:tc>
                  <a:txBody>
                    <a:bodyPr/>
                    <a:lstStyle/>
                    <a:p>
                      <a:pPr>
                        <a:defRPr sz="800">
                          <a:solidFill>
                            <a:srgbClr val="333333"/>
                          </a:solidFill>
                        </a:defRPr>
                      </a:pPr>
                      <a:r>
                        <a:t>Xms=Xmx=2048m</a:t>
                      </a:r>
                    </a:p>
                  </a:txBody>
                  <a:tcPr>
                    <a:solidFill>
                      <a:srgbClr val="F2F2F2"/>
                    </a:solidFill>
                  </a:tcPr>
                </a:tc>
              </a:tr>
              <a:tr h="274320">
                <a:tc>
                  <a:txBody>
                    <a:bodyPr/>
                    <a:lstStyle/>
                    <a:p>
                      <a:pPr>
                        <a:defRPr sz="800">
                          <a:solidFill>
                            <a:srgbClr val="333333"/>
                          </a:solidFill>
                        </a:defRPr>
                      </a:pPr>
                      <a:r>
                        <a:t>Metaspace</a:t>
                      </a:r>
                    </a:p>
                  </a:txBody>
                  <a:tcPr>
                    <a:solidFill>
                      <a:srgbClr val="FFFFFF"/>
                    </a:solidFill>
                  </a:tcPr>
                </a:tc>
                <a:tc>
                  <a:txBody>
                    <a:bodyPr/>
                    <a:lstStyle/>
                    <a:p>
                      <a:pPr>
                        <a:defRPr sz="800">
                          <a:solidFill>
                            <a:srgbClr val="333333"/>
                          </a:solidFill>
                        </a:defRPr>
                      </a:pPr>
                      <a:r>
                        <a:t>128m / Max 128m</a:t>
                      </a:r>
                    </a:p>
                  </a:txBody>
                  <a:tcPr>
                    <a:solidFill>
                      <a:srgbClr val="FFFFFF"/>
                    </a:solidFill>
                  </a:tcPr>
                </a:tc>
                <a:tc>
                  <a:txBody>
                    <a:bodyPr/>
                    <a:lstStyle/>
                    <a:p>
                      <a:pPr>
                        <a:defRPr sz="800">
                          <a:solidFill>
                            <a:srgbClr val="333333"/>
                          </a:solidFill>
                        </a:defRPr>
                      </a:pPr>
                      <a:r>
                        <a:t>512m / Max 512m</a:t>
                      </a:r>
                    </a:p>
                  </a:txBody>
                  <a:tcPr>
                    <a:solidFill>
                      <a:srgbClr val="FFFFFF"/>
                    </a:solidFill>
                  </a:tcPr>
                </a:tc>
              </a:tr>
              <a:tr h="274320">
                <a:tc>
                  <a:txBody>
                    <a:bodyPr/>
                    <a:lstStyle/>
                    <a:p>
                      <a:pPr>
                        <a:defRPr sz="800">
                          <a:solidFill>
                            <a:srgbClr val="333333"/>
                          </a:solidFill>
                        </a:defRPr>
                      </a:pPr>
                      <a:r>
                        <a:t>maxPoolSize</a:t>
                      </a:r>
                    </a:p>
                  </a:txBody>
                  <a:tcPr>
                    <a:solidFill>
                      <a:srgbClr val="F2F2F2"/>
                    </a:solidFill>
                  </a:tcPr>
                </a:tc>
                <a:tc>
                  <a:txBody>
                    <a:bodyPr/>
                    <a:lstStyle/>
                    <a:p>
                      <a:pPr>
                        <a:defRPr sz="800">
                          <a:solidFill>
                            <a:srgbClr val="333333"/>
                          </a:solidFill>
                        </a:defRPr>
                      </a:pPr>
                      <a:r>
                        <a:t>5 (HikariCP)</a:t>
                      </a:r>
                    </a:p>
                  </a:txBody>
                  <a:tcPr>
                    <a:solidFill>
                      <a:srgbClr val="F2F2F2"/>
                    </a:solidFill>
                  </a:tcPr>
                </a:tc>
                <a:tc>
                  <a:txBody>
                    <a:bodyPr/>
                    <a:lstStyle/>
                    <a:p>
                      <a:pPr>
                        <a:defRPr sz="800">
                          <a:solidFill>
                            <a:srgbClr val="333333"/>
                          </a:solidFill>
                        </a:defRPr>
                      </a:pPr>
                      <a:r>
                        <a:t>100(webapp) / 20(admin) (HikariCP)</a:t>
                      </a:r>
                    </a:p>
                  </a:txBody>
                  <a:tcPr>
                    <a:solidFill>
                      <a:srgbClr val="F2F2F2"/>
                    </a:solidFill>
                  </a:tcPr>
                </a:tc>
              </a:tr>
              <a:tr h="274320">
                <a:tc>
                  <a:txBody>
                    <a:bodyPr/>
                    <a:lstStyle/>
                    <a:p>
                      <a:pPr>
                        <a:defRPr sz="800">
                          <a:solidFill>
                            <a:srgbClr val="333333"/>
                          </a:solidFill>
                        </a:defRPr>
                      </a:pPr>
                      <a:r>
                        <a:t>minIdle</a:t>
                      </a:r>
                    </a:p>
                  </a:txBody>
                  <a:tcPr>
                    <a:solidFill>
                      <a:srgbClr val="FFFFFF"/>
                    </a:solidFill>
                  </a:tcPr>
                </a:tc>
                <a:tc>
                  <a:txBody>
                    <a:bodyPr/>
                    <a:lstStyle/>
                    <a:p>
                      <a:pPr>
                        <a:defRPr sz="800">
                          <a:solidFill>
                            <a:srgbClr val="333333"/>
                          </a:solidFill>
                        </a:defRPr>
                      </a:pPr>
                      <a:r>
                        <a:t>2</a:t>
                      </a:r>
                    </a:p>
                  </a:txBody>
                  <a:tcPr>
                    <a:solidFill>
                      <a:srgbClr val="FFFFFF"/>
                    </a:solidFill>
                  </a:tcPr>
                </a:tc>
                <a:tc>
                  <a:txBody>
                    <a:bodyPr/>
                    <a:lstStyle/>
                    <a:p>
                      <a:pPr>
                        <a:defRPr sz="800">
                          <a:solidFill>
                            <a:srgbClr val="333333"/>
                          </a:solidFill>
                        </a:defRPr>
                      </a:pPr>
                      <a:r>
                        <a:t>5</a:t>
                      </a:r>
                    </a:p>
                  </a:txBody>
                  <a:tcPr>
                    <a:solidFill>
                      <a:srgbClr val="FFFFFF"/>
                    </a:solidFill>
                  </a:tcPr>
                </a:tc>
              </a:tr>
              <a:tr h="274320">
                <a:tc>
                  <a:txBody>
                    <a:bodyPr/>
                    <a:lstStyle/>
                    <a:p>
                      <a:pPr>
                        <a:defRPr sz="800">
                          <a:solidFill>
                            <a:srgbClr val="333333"/>
                          </a:solidFill>
                        </a:defRPr>
                      </a:pPr>
                      <a:r>
                        <a:t>maxLifetime</a:t>
                      </a:r>
                    </a:p>
                  </a:txBody>
                  <a:tcPr>
                    <a:solidFill>
                      <a:srgbClr val="F2F2F2"/>
                    </a:solidFill>
                  </a:tcPr>
                </a:tc>
                <a:tc>
                  <a:txBody>
                    <a:bodyPr/>
                    <a:lstStyle/>
                    <a:p>
                      <a:pPr>
                        <a:defRPr sz="800">
                          <a:solidFill>
                            <a:srgbClr val="333333"/>
                          </a:solidFill>
                        </a:defRPr>
                      </a:pPr>
                      <a:r>
                        <a:t>1,800,000 ms (30분)</a:t>
                      </a:r>
                    </a:p>
                  </a:txBody>
                  <a:tcPr>
                    <a:solidFill>
                      <a:srgbClr val="F2F2F2"/>
                    </a:solidFill>
                  </a:tcPr>
                </a:tc>
                <a:tc>
                  <a:txBody>
                    <a:bodyPr/>
                    <a:lstStyle/>
                    <a:p>
                      <a:pPr>
                        <a:defRPr sz="800">
                          <a:solidFill>
                            <a:srgbClr val="333333"/>
                          </a:solidFill>
                        </a:defRPr>
                      </a:pPr>
                      <a:r>
                        <a:t>2,000,000 ms</a:t>
                      </a:r>
                    </a:p>
                  </a:txBody>
                  <a:tcPr>
                    <a:solidFill>
                      <a:srgbClr val="F2F2F2"/>
                    </a:solidFill>
                  </a:tcPr>
                </a:tc>
              </a:tr>
              <a:tr h="274320">
                <a:tc>
                  <a:txBody>
                    <a:bodyPr/>
                    <a:lstStyle/>
                    <a:p>
                      <a:pPr>
                        <a:defRPr sz="800">
                          <a:solidFill>
                            <a:srgbClr val="333333"/>
                          </a:solidFill>
                        </a:defRPr>
                      </a:pPr>
                      <a:r>
                        <a:t>maxThreads</a:t>
                      </a:r>
                    </a:p>
                  </a:txBody>
                  <a:tcPr>
                    <a:solidFill>
                      <a:srgbClr val="FFFFFF"/>
                    </a:solidFill>
                  </a:tcPr>
                </a:tc>
                <a:tc>
                  <a:txBody>
                    <a:bodyPr/>
                    <a:lstStyle/>
                    <a:p>
                      <a:pPr>
                        <a:defRPr sz="800">
                          <a:solidFill>
                            <a:srgbClr val="333333"/>
                          </a:solidFill>
                        </a:defRPr>
                      </a:pPr>
                      <a:r>
                        <a:t>기본값 (200)</a:t>
                      </a:r>
                    </a:p>
                  </a:txBody>
                  <a:tcPr>
                    <a:solidFill>
                      <a:srgbClr val="FFFFFF"/>
                    </a:solidFill>
                  </a:tcPr>
                </a:tc>
                <a:tc>
                  <a:txBody>
                    <a:bodyPr/>
                    <a:lstStyle/>
                    <a:p>
                      <a:pPr>
                        <a:defRPr sz="800">
                          <a:solidFill>
                            <a:srgbClr val="333333"/>
                          </a:solidFill>
                        </a:defRPr>
                      </a:pPr>
                      <a:r>
                        <a:t>기본값 (200)</a:t>
                      </a:r>
                    </a:p>
                  </a:txBody>
                  <a:tcPr>
                    <a:solidFill>
                      <a:srgbClr val="FFFFFF"/>
                    </a:solidFill>
                  </a:tcPr>
                </a:tc>
              </a:tr>
              <a:tr h="274320">
                <a:tc>
                  <a:txBody>
                    <a:bodyPr/>
                    <a:lstStyle/>
                    <a:p>
                      <a:pPr>
                        <a:defRPr sz="800">
                          <a:solidFill>
                            <a:srgbClr val="333333"/>
                          </a:solidFill>
                        </a:defRPr>
                      </a:pPr>
                      <a:r>
                        <a:t>DB</a:t>
                      </a:r>
                    </a:p>
                  </a:txBody>
                  <a:tcPr>
                    <a:solidFill>
                      <a:srgbClr val="F2F2F2"/>
                    </a:solidFill>
                  </a:tcPr>
                </a:tc>
                <a:tc>
                  <a:txBody>
                    <a:bodyPr/>
                    <a:lstStyle/>
                    <a:p>
                      <a:pPr>
                        <a:defRPr sz="800">
                          <a:solidFill>
                            <a:srgbClr val="333333"/>
                          </a:solidFill>
                        </a:defRPr>
                      </a:pPr>
                      <a:r>
                        <a:t>PostgreSQL(PgPool-II) + MongoDB</a:t>
                      </a:r>
                    </a:p>
                  </a:txBody>
                  <a:tcPr>
                    <a:solidFill>
                      <a:srgbClr val="F2F2F2"/>
                    </a:solidFill>
                  </a:tcPr>
                </a:tc>
                <a:tc>
                  <a:txBody>
                    <a:bodyPr/>
                    <a:lstStyle/>
                    <a:p>
                      <a:pPr>
                        <a:defRPr sz="800">
                          <a:solidFill>
                            <a:srgbClr val="333333"/>
                          </a:solidFill>
                        </a:defRPr>
                      </a:pPr>
                      <a:r>
                        <a:t>PostgreSQL(PgPool-II)</a:t>
                      </a:r>
                    </a:p>
                  </a:txBody>
                  <a:tcPr>
                    <a:solidFill>
                      <a:srgbClr val="F2F2F2"/>
                    </a:solidFill>
                  </a:tcPr>
                </a:tc>
              </a:tr>
              <a:tr h="274320">
                <a:tc>
                  <a:txBody>
                    <a:bodyPr/>
                    <a:lstStyle/>
                    <a:p>
                      <a:pPr>
                        <a:defRPr sz="800">
                          <a:solidFill>
                            <a:srgbClr val="333333"/>
                          </a:solidFill>
                        </a:defRPr>
                      </a:pPr>
                      <a:r>
                        <a:t>PG Read:Write</a:t>
                      </a:r>
                    </a:p>
                  </a:txBody>
                  <a:tcPr>
                    <a:solidFill>
                      <a:srgbClr val="FFFFFF"/>
                    </a:solidFill>
                  </a:tcPr>
                </a:tc>
                <a:tc>
                  <a:txBody>
                    <a:bodyPr/>
                    <a:lstStyle/>
                    <a:p>
                      <a:pPr>
                        <a:defRPr sz="800">
                          <a:solidFill>
                            <a:srgbClr val="333333"/>
                          </a:solidFill>
                        </a:defRPr>
                      </a:pPr>
                      <a:r>
                        <a:t>7:3</a:t>
                      </a:r>
                    </a:p>
                  </a:txBody>
                  <a:tcPr>
                    <a:solidFill>
                      <a:srgbClr val="FFFFFF"/>
                    </a:solidFill>
                  </a:tcPr>
                </a:tc>
                <a:tc>
                  <a:txBody>
                    <a:bodyPr/>
                    <a:lstStyle/>
                    <a:p>
                      <a:pPr>
                        <a:defRPr sz="800">
                          <a:solidFill>
                            <a:srgbClr val="333333"/>
                          </a:solidFill>
                        </a:defRPr>
                      </a:pPr>
                      <a:r>
                        <a:t>-</a:t>
                      </a:r>
                    </a:p>
                  </a:txBody>
                  <a:tcPr>
                    <a:solidFill>
                      <a:srgbClr val="FFFFFF"/>
                    </a:solidFill>
                  </a:tcPr>
                </a:tc>
              </a:tr>
              <a:tr h="274320">
                <a:tc>
                  <a:txBody>
                    <a:bodyPr/>
                    <a:lstStyle/>
                    <a:p>
                      <a:pPr>
                        <a:defRPr sz="800">
                          <a:solidFill>
                            <a:srgbClr val="333333"/>
                          </a:solidFill>
                        </a:defRPr>
                      </a:pPr>
                      <a:r>
                        <a:t>MG Read:Write</a:t>
                      </a:r>
                    </a:p>
                  </a:txBody>
                  <a:tcPr>
                    <a:solidFill>
                      <a:srgbClr val="F2F2F2"/>
                    </a:solidFill>
                  </a:tcPr>
                </a:tc>
                <a:tc>
                  <a:txBody>
                    <a:bodyPr/>
                    <a:lstStyle/>
                    <a:p>
                      <a:pPr>
                        <a:defRPr sz="800">
                          <a:solidFill>
                            <a:srgbClr val="333333"/>
                          </a:solidFill>
                        </a:defRPr>
                      </a:pPr>
                      <a:r>
                        <a:t>6:4</a:t>
                      </a:r>
                    </a:p>
                  </a:txBody>
                  <a:tcPr>
                    <a:solidFill>
                      <a:srgbClr val="F2F2F2"/>
                    </a:solidFill>
                  </a:tcPr>
                </a:tc>
                <a:tc>
                  <a:txBody>
                    <a:bodyPr/>
                    <a:lstStyle/>
                    <a:p>
                      <a:pPr>
                        <a:defRPr sz="800">
                          <a:solidFill>
                            <a:srgbClr val="333333"/>
                          </a:solidFill>
                        </a:defRPr>
                      </a:pPr>
                      <a:r>
                        <a:t>-</a:t>
                      </a:r>
                    </a:p>
                  </a:txBody>
                  <a:tcPr>
                    <a:solidFill>
                      <a:srgbClr val="F2F2F2"/>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square">
            <a:spAutoFit/>
          </a:bodyPr>
          <a:lstStyle/>
          <a:p>
            <a:pPr>
              <a:defRPr sz="2400" b="1">
                <a:solidFill>
                  <a:srgbClr val="1B2A4A"/>
                </a:solidFill>
              </a:defRPr>
            </a:pPr>
            <a:r>
              <a:t>[E-01b] 원천 데이터 요약 -- CL플랫폼팀 / 주차서비스팀</a:t>
            </a:r>
          </a:p>
        </p:txBody>
      </p:sp>
      <p:sp>
        <p:nvSpPr>
          <p:cNvPr id="3" name="TextBox 2"/>
          <p:cNvSpPr txBox="1"/>
          <p:nvPr/>
        </p:nvSpPr>
        <p:spPr>
          <a:xfrm>
            <a:off x="457200" y="1005840"/>
            <a:ext cx="10972800" cy="365760"/>
          </a:xfrm>
          <a:prstGeom prst="rect">
            <a:avLst/>
          </a:prstGeom>
          <a:noFill/>
        </p:spPr>
        <p:txBody>
          <a:bodyPr wrap="square">
            <a:spAutoFit/>
          </a:bodyPr>
          <a:lstStyle/>
          <a:p>
            <a:pPr algn="l">
              <a:defRPr sz="1200" b="1">
                <a:solidFill>
                  <a:srgbClr val="1B2A4A"/>
                </a:solidFill>
              </a:defRPr>
            </a:pPr>
            <a:r>
              <a:t>CL플랫폼팀</a:t>
            </a:r>
          </a:p>
        </p:txBody>
      </p:sp>
      <p:graphicFrame>
        <p:nvGraphicFramePr>
          <p:cNvPr id="4" name="Table 3"/>
          <p:cNvGraphicFramePr>
            <a:graphicFrameLocks noGrp="1"/>
          </p:cNvGraphicFramePr>
          <p:nvPr/>
        </p:nvGraphicFramePr>
        <p:xfrm>
          <a:off x="457200" y="1280160"/>
          <a:ext cx="5029200" cy="3566160"/>
        </p:xfrm>
        <a:graphic>
          <a:graphicData uri="http://schemas.openxmlformats.org/drawingml/2006/table">
            <a:tbl>
              <a:tblPr firstRow="1" bandRow="1">
                <a:tableStyleId>{5C22544A-7EE6-4342-B048-85BDC9FD1C3A}</a:tableStyleId>
              </a:tblPr>
              <a:tblGrid>
                <a:gridCol w="2286000"/>
                <a:gridCol w="2743200"/>
              </a:tblGrid>
              <a:tr h="274320">
                <a:tc>
                  <a:txBody>
                    <a:bodyPr/>
                    <a:lstStyle/>
                    <a:p>
                      <a:pPr algn="ctr">
                        <a:defRPr sz="900" b="1">
                          <a:solidFill>
                            <a:srgbClr val="FFFFFF"/>
                          </a:solidFill>
                        </a:defRPr>
                      </a:pPr>
                      <a:r>
                        <a:t>항목</a:t>
                      </a:r>
                    </a:p>
                  </a:txBody>
                  <a:tcPr>
                    <a:solidFill>
                      <a:srgbClr val="1B2A4A"/>
                    </a:solidFill>
                  </a:tcPr>
                </a:tc>
                <a:tc>
                  <a:txBody>
                    <a:bodyPr/>
                    <a:lstStyle/>
                    <a:p>
                      <a:pPr algn="ctr">
                        <a:defRPr sz="900" b="1">
                          <a:solidFill>
                            <a:srgbClr val="FFFFFF"/>
                          </a:solidFill>
                        </a:defRPr>
                      </a:pPr>
                      <a:r>
                        <a:t>설정값</a:t>
                      </a:r>
                    </a:p>
                  </a:txBody>
                  <a:tcPr>
                    <a:solidFill>
                      <a:srgbClr val="1B2A4A"/>
                    </a:solidFill>
                  </a:tcPr>
                </a:tc>
              </a:tr>
              <a:tr h="274320">
                <a:tc>
                  <a:txBody>
                    <a:bodyPr/>
                    <a:lstStyle/>
                    <a:p>
                      <a:pPr>
                        <a:defRPr sz="800">
                          <a:solidFill>
                            <a:srgbClr val="333333"/>
                          </a:solidFill>
                        </a:defRPr>
                      </a:pPr>
                      <a:r>
                        <a:t>WAS</a:t>
                      </a:r>
                    </a:p>
                  </a:txBody>
                  <a:tcPr>
                    <a:solidFill>
                      <a:srgbClr val="FFFFFF"/>
                    </a:solidFill>
                  </a:tcPr>
                </a:tc>
                <a:tc>
                  <a:txBody>
                    <a:bodyPr/>
                    <a:lstStyle/>
                    <a:p>
                      <a:pPr>
                        <a:defRPr sz="800">
                          <a:solidFill>
                            <a:srgbClr val="333333"/>
                          </a:solidFill>
                        </a:defRPr>
                      </a:pPr>
                      <a:r>
                        <a:t>CLS 전용 WAS</a:t>
                      </a:r>
                    </a:p>
                  </a:txBody>
                  <a:tcPr>
                    <a:solidFill>
                      <a:srgbClr val="FFFFFF"/>
                    </a:solidFill>
                  </a:tcPr>
                </a:tc>
              </a:tr>
              <a:tr h="274320">
                <a:tc>
                  <a:txBody>
                    <a:bodyPr/>
                    <a:lstStyle/>
                    <a:p>
                      <a:pPr>
                        <a:defRPr sz="800">
                          <a:solidFill>
                            <a:srgbClr val="333333"/>
                          </a:solidFill>
                        </a:defRPr>
                      </a:pPr>
                      <a:r>
                        <a:t>Java</a:t>
                      </a:r>
                    </a:p>
                  </a:txBody>
                  <a:tcPr>
                    <a:solidFill>
                      <a:srgbClr val="F2F2F2"/>
                    </a:solidFill>
                  </a:tcPr>
                </a:tc>
                <a:tc>
                  <a:txBody>
                    <a:bodyPr/>
                    <a:lstStyle/>
                    <a:p>
                      <a:pPr>
                        <a:defRPr sz="800">
                          <a:solidFill>
                            <a:srgbClr val="333333"/>
                          </a:solidFill>
                        </a:defRPr>
                      </a:pPr>
                      <a:r>
                        <a:t>15.0.2</a:t>
                      </a:r>
                    </a:p>
                  </a:txBody>
                  <a:tcPr>
                    <a:solidFill>
                      <a:srgbClr val="F2F2F2"/>
                    </a:solidFill>
                  </a:tcPr>
                </a:tc>
              </a:tr>
              <a:tr h="274320">
                <a:tc>
                  <a:txBody>
                    <a:bodyPr/>
                    <a:lstStyle/>
                    <a:p>
                      <a:pPr>
                        <a:defRPr sz="800">
                          <a:solidFill>
                            <a:srgbClr val="333333"/>
                          </a:solidFill>
                        </a:defRPr>
                      </a:pPr>
                      <a:r>
                        <a:t>GC</a:t>
                      </a:r>
                    </a:p>
                  </a:txBody>
                  <a:tcPr>
                    <a:solidFill>
                      <a:srgbClr val="FFFFFF"/>
                    </a:solidFill>
                  </a:tcPr>
                </a:tc>
                <a:tc>
                  <a:txBody>
                    <a:bodyPr/>
                    <a:lstStyle/>
                    <a:p>
                      <a:pPr>
                        <a:defRPr sz="800">
                          <a:solidFill>
                            <a:srgbClr val="333333"/>
                          </a:solidFill>
                        </a:defRPr>
                      </a:pPr>
                      <a:r>
                        <a:t>Parallel GC</a:t>
                      </a:r>
                    </a:p>
                  </a:txBody>
                  <a:tcPr>
                    <a:solidFill>
                      <a:srgbClr val="FFFFFF"/>
                    </a:solidFill>
                  </a:tcPr>
                </a:tc>
              </a:tr>
              <a:tr h="274320">
                <a:tc>
                  <a:txBody>
                    <a:bodyPr/>
                    <a:lstStyle/>
                    <a:p>
                      <a:pPr>
                        <a:defRPr sz="800">
                          <a:solidFill>
                            <a:srgbClr val="333333"/>
                          </a:solidFill>
                        </a:defRPr>
                      </a:pPr>
                      <a:r>
                        <a:t>Heap</a:t>
                      </a:r>
                    </a:p>
                  </a:txBody>
                  <a:tcPr>
                    <a:solidFill>
                      <a:srgbClr val="F2F2F2"/>
                    </a:solidFill>
                  </a:tcPr>
                </a:tc>
                <a:tc>
                  <a:txBody>
                    <a:bodyPr/>
                    <a:lstStyle/>
                    <a:p>
                      <a:pPr>
                        <a:defRPr sz="800">
                          <a:solidFill>
                            <a:srgbClr val="333333"/>
                          </a:solidFill>
                        </a:defRPr>
                      </a:pPr>
                      <a:r>
                        <a:t>Xms=Xmx=2048m</a:t>
                      </a:r>
                    </a:p>
                  </a:txBody>
                  <a:tcPr>
                    <a:solidFill>
                      <a:srgbClr val="F2F2F2"/>
                    </a:solidFill>
                  </a:tcPr>
                </a:tc>
              </a:tr>
              <a:tr h="274320">
                <a:tc>
                  <a:txBody>
                    <a:bodyPr/>
                    <a:lstStyle/>
                    <a:p>
                      <a:pPr>
                        <a:defRPr sz="800">
                          <a:solidFill>
                            <a:srgbClr val="333333"/>
                          </a:solidFill>
                        </a:defRPr>
                      </a:pPr>
                      <a:r>
                        <a:t>Metaspace</a:t>
                      </a:r>
                    </a:p>
                  </a:txBody>
                  <a:tcPr>
                    <a:solidFill>
                      <a:srgbClr val="FFFFFF"/>
                    </a:solidFill>
                  </a:tcPr>
                </a:tc>
                <a:tc>
                  <a:txBody>
                    <a:bodyPr/>
                    <a:lstStyle/>
                    <a:p>
                      <a:pPr>
                        <a:defRPr sz="800">
                          <a:solidFill>
                            <a:srgbClr val="333333"/>
                          </a:solidFill>
                        </a:defRPr>
                      </a:pPr>
                      <a:r>
                        <a:t>미설정 (무제한)</a:t>
                      </a:r>
                    </a:p>
                  </a:txBody>
                  <a:tcPr>
                    <a:solidFill>
                      <a:srgbClr val="FFFFFF"/>
                    </a:solidFill>
                  </a:tcPr>
                </a:tc>
              </a:tr>
              <a:tr h="274320">
                <a:tc>
                  <a:txBody>
                    <a:bodyPr/>
                    <a:lstStyle/>
                    <a:p>
                      <a:pPr>
                        <a:defRPr sz="800">
                          <a:solidFill>
                            <a:srgbClr val="333333"/>
                          </a:solidFill>
                        </a:defRPr>
                      </a:pPr>
                      <a:r>
                        <a:t>Old Gen 사용률</a:t>
                      </a:r>
                    </a:p>
                  </a:txBody>
                  <a:tcPr>
                    <a:solidFill>
                      <a:srgbClr val="F2F2F2"/>
                    </a:solidFill>
                  </a:tcPr>
                </a:tc>
                <a:tc>
                  <a:txBody>
                    <a:bodyPr/>
                    <a:lstStyle/>
                    <a:p>
                      <a:pPr>
                        <a:defRPr sz="800">
                          <a:solidFill>
                            <a:srgbClr val="333333"/>
                          </a:solidFill>
                        </a:defRPr>
                      </a:pPr>
                      <a:r>
                        <a:t>90.2% (1,418,698K / 1,572,864K)</a:t>
                      </a:r>
                    </a:p>
                  </a:txBody>
                  <a:tcPr>
                    <a:solidFill>
                      <a:srgbClr val="F2F2F2"/>
                    </a:solidFill>
                  </a:tcPr>
                </a:tc>
              </a:tr>
              <a:tr h="274320">
                <a:tc>
                  <a:txBody>
                    <a:bodyPr/>
                    <a:lstStyle/>
                    <a:p>
                      <a:pPr>
                        <a:defRPr sz="800">
                          <a:solidFill>
                            <a:srgbClr val="333333"/>
                          </a:solidFill>
                        </a:defRPr>
                      </a:pPr>
                      <a:r>
                        <a:t>maxPoolSize</a:t>
                      </a:r>
                    </a:p>
                  </a:txBody>
                  <a:tcPr>
                    <a:solidFill>
                      <a:srgbClr val="FFFFFF"/>
                    </a:solidFill>
                  </a:tcPr>
                </a:tc>
                <a:tc>
                  <a:txBody>
                    <a:bodyPr/>
                    <a:lstStyle/>
                    <a:p>
                      <a:pPr>
                        <a:defRPr sz="800">
                          <a:solidFill>
                            <a:srgbClr val="333333"/>
                          </a:solidFill>
                        </a:defRPr>
                      </a:pPr>
                      <a:r>
                        <a:t>50</a:t>
                      </a:r>
                    </a:p>
                  </a:txBody>
                  <a:tcPr>
                    <a:solidFill>
                      <a:srgbClr val="FFFFFF"/>
                    </a:solidFill>
                  </a:tcPr>
                </a:tc>
              </a:tr>
              <a:tr h="274320">
                <a:tc>
                  <a:txBody>
                    <a:bodyPr/>
                    <a:lstStyle/>
                    <a:p>
                      <a:pPr>
                        <a:defRPr sz="800">
                          <a:solidFill>
                            <a:srgbClr val="333333"/>
                          </a:solidFill>
                        </a:defRPr>
                      </a:pPr>
                      <a:r>
                        <a:t>minPoolSize</a:t>
                      </a:r>
                    </a:p>
                  </a:txBody>
                  <a:tcPr>
                    <a:solidFill>
                      <a:srgbClr val="F2F2F2"/>
                    </a:solidFill>
                  </a:tcPr>
                </a:tc>
                <a:tc>
                  <a:txBody>
                    <a:bodyPr/>
                    <a:lstStyle/>
                    <a:p>
                      <a:pPr>
                        <a:defRPr sz="800">
                          <a:solidFill>
                            <a:srgbClr val="333333"/>
                          </a:solidFill>
                        </a:defRPr>
                      </a:pPr>
                      <a:r>
                        <a:t>0</a:t>
                      </a:r>
                    </a:p>
                  </a:txBody>
                  <a:tcPr>
                    <a:solidFill>
                      <a:srgbClr val="F2F2F2"/>
                    </a:solidFill>
                  </a:tcPr>
                </a:tc>
              </a:tr>
              <a:tr h="274320">
                <a:tc>
                  <a:txBody>
                    <a:bodyPr/>
                    <a:lstStyle/>
                    <a:p>
                      <a:pPr>
                        <a:defRPr sz="800">
                          <a:solidFill>
                            <a:srgbClr val="333333"/>
                          </a:solidFill>
                        </a:defRPr>
                      </a:pPr>
                      <a:r>
                        <a:t>maxLifetime</a:t>
                      </a:r>
                    </a:p>
                  </a:txBody>
                  <a:tcPr>
                    <a:solidFill>
                      <a:srgbClr val="FFFFFF"/>
                    </a:solidFill>
                  </a:tcPr>
                </a:tc>
                <a:tc>
                  <a:txBody>
                    <a:bodyPr/>
                    <a:lstStyle/>
                    <a:p>
                      <a:pPr>
                        <a:defRPr sz="800">
                          <a:solidFill>
                            <a:srgbClr val="333333"/>
                          </a:solidFill>
                        </a:defRPr>
                      </a:pPr>
                      <a:r>
                        <a:t>1800 (단위 불명)</a:t>
                      </a:r>
                    </a:p>
                  </a:txBody>
                  <a:tcPr>
                    <a:solidFill>
                      <a:srgbClr val="FFFFFF"/>
                    </a:solidFill>
                  </a:tcPr>
                </a:tc>
              </a:tr>
              <a:tr h="274320">
                <a:tc>
                  <a:txBody>
                    <a:bodyPr/>
                    <a:lstStyle/>
                    <a:p>
                      <a:pPr>
                        <a:defRPr sz="800">
                          <a:solidFill>
                            <a:srgbClr val="333333"/>
                          </a:solidFill>
                        </a:defRPr>
                      </a:pPr>
                      <a:r>
                        <a:t>connectionTimeout</a:t>
                      </a:r>
                    </a:p>
                  </a:txBody>
                  <a:tcPr>
                    <a:solidFill>
                      <a:srgbClr val="F2F2F2"/>
                    </a:solidFill>
                  </a:tcPr>
                </a:tc>
                <a:tc>
                  <a:txBody>
                    <a:bodyPr/>
                    <a:lstStyle/>
                    <a:p>
                      <a:pPr>
                        <a:defRPr sz="800">
                          <a:solidFill>
                            <a:srgbClr val="333333"/>
                          </a:solidFill>
                        </a:defRPr>
                      </a:pPr>
                      <a:r>
                        <a:t>30s</a:t>
                      </a:r>
                    </a:p>
                  </a:txBody>
                  <a:tcPr>
                    <a:solidFill>
                      <a:srgbClr val="F2F2F2"/>
                    </a:solidFill>
                  </a:tcPr>
                </a:tc>
              </a:tr>
              <a:tr h="274320">
                <a:tc>
                  <a:txBody>
                    <a:bodyPr/>
                    <a:lstStyle/>
                    <a:p>
                      <a:pPr>
                        <a:defRPr sz="800">
                          <a:solidFill>
                            <a:srgbClr val="333333"/>
                          </a:solidFill>
                        </a:defRPr>
                      </a:pPr>
                      <a:r>
                        <a:t>maxThreads</a:t>
                      </a:r>
                    </a:p>
                  </a:txBody>
                  <a:tcPr>
                    <a:solidFill>
                      <a:srgbClr val="FFFFFF"/>
                    </a:solidFill>
                  </a:tcPr>
                </a:tc>
                <a:tc>
                  <a:txBody>
                    <a:bodyPr/>
                    <a:lstStyle/>
                    <a:p>
                      <a:pPr>
                        <a:defRPr sz="800">
                          <a:solidFill>
                            <a:srgbClr val="333333"/>
                          </a:solidFill>
                        </a:defRPr>
                      </a:pPr>
                      <a:r>
                        <a:t>-1 (무제한)</a:t>
                      </a:r>
                    </a:p>
                  </a:txBody>
                  <a:tcPr>
                    <a:solidFill>
                      <a:srgbClr val="FFFFFF"/>
                    </a:solidFill>
                  </a:tcPr>
                </a:tc>
              </a:tr>
              <a:tr h="274320">
                <a:tc>
                  <a:txBody>
                    <a:bodyPr/>
                    <a:lstStyle/>
                    <a:p>
                      <a:pPr>
                        <a:defRPr sz="800">
                          <a:solidFill>
                            <a:srgbClr val="333333"/>
                          </a:solidFill>
                        </a:defRPr>
                      </a:pPr>
                      <a:r>
                        <a:t>DB</a:t>
                      </a:r>
                    </a:p>
                  </a:txBody>
                  <a:tcPr>
                    <a:solidFill>
                      <a:srgbClr val="F2F2F2"/>
                    </a:solidFill>
                  </a:tcPr>
                </a:tc>
                <a:tc>
                  <a:txBody>
                    <a:bodyPr/>
                    <a:lstStyle/>
                    <a:p>
                      <a:pPr>
                        <a:defRPr sz="800">
                          <a:solidFill>
                            <a:srgbClr val="333333"/>
                          </a:solidFill>
                        </a:defRPr>
                      </a:pPr>
                      <a:r>
                        <a:t>해당 없음</a:t>
                      </a:r>
                    </a:p>
                  </a:txBody>
                  <a:tcPr>
                    <a:solidFill>
                      <a:srgbClr val="F2F2F2"/>
                    </a:solidFill>
                  </a:tcPr>
                </a:tc>
              </a:tr>
            </a:tbl>
          </a:graphicData>
        </a:graphic>
      </p:graphicFrame>
      <p:sp>
        <p:nvSpPr>
          <p:cNvPr id="5" name="TextBox 4"/>
          <p:cNvSpPr txBox="1"/>
          <p:nvPr/>
        </p:nvSpPr>
        <p:spPr>
          <a:xfrm>
            <a:off x="5943600" y="1005840"/>
            <a:ext cx="10972800" cy="365760"/>
          </a:xfrm>
          <a:prstGeom prst="rect">
            <a:avLst/>
          </a:prstGeom>
          <a:noFill/>
        </p:spPr>
        <p:txBody>
          <a:bodyPr wrap="square">
            <a:spAutoFit/>
          </a:bodyPr>
          <a:lstStyle/>
          <a:p>
            <a:pPr algn="l">
              <a:defRPr sz="1200" b="1">
                <a:solidFill>
                  <a:srgbClr val="1B2A4A"/>
                </a:solidFill>
              </a:defRPr>
            </a:pPr>
            <a:r>
              <a:t>주차서비스팀</a:t>
            </a:r>
          </a:p>
        </p:txBody>
      </p:sp>
      <p:graphicFrame>
        <p:nvGraphicFramePr>
          <p:cNvPr id="6" name="Table 5"/>
          <p:cNvGraphicFramePr>
            <a:graphicFrameLocks noGrp="1"/>
          </p:cNvGraphicFramePr>
          <p:nvPr/>
        </p:nvGraphicFramePr>
        <p:xfrm>
          <a:off x="5943600" y="1280160"/>
          <a:ext cx="5029200" cy="3566160"/>
        </p:xfrm>
        <a:graphic>
          <a:graphicData uri="http://schemas.openxmlformats.org/drawingml/2006/table">
            <a:tbl>
              <a:tblPr firstRow="1" bandRow="1">
                <a:tableStyleId>{5C22544A-7EE6-4342-B048-85BDC9FD1C3A}</a:tableStyleId>
              </a:tblPr>
              <a:tblGrid>
                <a:gridCol w="2286000"/>
                <a:gridCol w="2743200"/>
              </a:tblGrid>
              <a:tr h="274320">
                <a:tc>
                  <a:txBody>
                    <a:bodyPr/>
                    <a:lstStyle/>
                    <a:p>
                      <a:pPr algn="ctr">
                        <a:defRPr sz="900" b="1">
                          <a:solidFill>
                            <a:srgbClr val="FFFFFF"/>
                          </a:solidFill>
                        </a:defRPr>
                      </a:pPr>
                      <a:r>
                        <a:t>항목</a:t>
                      </a:r>
                    </a:p>
                  </a:txBody>
                  <a:tcPr>
                    <a:solidFill>
                      <a:srgbClr val="1B2A4A"/>
                    </a:solidFill>
                  </a:tcPr>
                </a:tc>
                <a:tc>
                  <a:txBody>
                    <a:bodyPr/>
                    <a:lstStyle/>
                    <a:p>
                      <a:pPr algn="ctr">
                        <a:defRPr sz="900" b="1">
                          <a:solidFill>
                            <a:srgbClr val="FFFFFF"/>
                          </a:solidFill>
                        </a:defRPr>
                      </a:pPr>
                      <a:r>
                        <a:t>설정값</a:t>
                      </a:r>
                    </a:p>
                  </a:txBody>
                  <a:tcPr>
                    <a:solidFill>
                      <a:srgbClr val="1B2A4A"/>
                    </a:solidFill>
                  </a:tcPr>
                </a:tc>
              </a:tr>
              <a:tr h="274320">
                <a:tc>
                  <a:txBody>
                    <a:bodyPr/>
                    <a:lstStyle/>
                    <a:p>
                      <a:pPr>
                        <a:defRPr sz="800">
                          <a:solidFill>
                            <a:srgbClr val="333333"/>
                          </a:solidFill>
                        </a:defRPr>
                      </a:pPr>
                      <a:r>
                        <a:t>WAS</a:t>
                      </a:r>
                    </a:p>
                  </a:txBody>
                  <a:tcPr>
                    <a:solidFill>
                      <a:srgbClr val="FFFFFF"/>
                    </a:solidFill>
                  </a:tcPr>
                </a:tc>
                <a:tc>
                  <a:txBody>
                    <a:bodyPr/>
                    <a:lstStyle/>
                    <a:p>
                      <a:pPr>
                        <a:defRPr sz="800">
                          <a:solidFill>
                            <a:srgbClr val="333333"/>
                          </a:solidFill>
                        </a:defRPr>
                      </a:pPr>
                      <a:r>
                        <a:t>Apache Tomcat 9.0.70</a:t>
                      </a:r>
                    </a:p>
                  </a:txBody>
                  <a:tcPr>
                    <a:solidFill>
                      <a:srgbClr val="FFFFFF"/>
                    </a:solidFill>
                  </a:tcPr>
                </a:tc>
              </a:tr>
              <a:tr h="274320">
                <a:tc>
                  <a:txBody>
                    <a:bodyPr/>
                    <a:lstStyle/>
                    <a:p>
                      <a:pPr>
                        <a:defRPr sz="800">
                          <a:solidFill>
                            <a:srgbClr val="333333"/>
                          </a:solidFill>
                        </a:defRPr>
                      </a:pPr>
                      <a:r>
                        <a:t>Java</a:t>
                      </a:r>
                    </a:p>
                  </a:txBody>
                  <a:tcPr>
                    <a:solidFill>
                      <a:srgbClr val="F2F2F2"/>
                    </a:solidFill>
                  </a:tcPr>
                </a:tc>
                <a:tc>
                  <a:txBody>
                    <a:bodyPr/>
                    <a:lstStyle/>
                    <a:p>
                      <a:pPr>
                        <a:defRPr sz="800">
                          <a:solidFill>
                            <a:srgbClr val="333333"/>
                          </a:solidFill>
                        </a:defRPr>
                      </a:pPr>
                      <a:r>
                        <a:t>15.0.2 (OpenJDK)</a:t>
                      </a:r>
                    </a:p>
                  </a:txBody>
                  <a:tcPr>
                    <a:solidFill>
                      <a:srgbClr val="F2F2F2"/>
                    </a:solidFill>
                  </a:tcPr>
                </a:tc>
              </a:tr>
              <a:tr h="274320">
                <a:tc>
                  <a:txBody>
                    <a:bodyPr/>
                    <a:lstStyle/>
                    <a:p>
                      <a:pPr>
                        <a:defRPr sz="800">
                          <a:solidFill>
                            <a:srgbClr val="333333"/>
                          </a:solidFill>
                        </a:defRPr>
                      </a:pPr>
                      <a:r>
                        <a:t>GC</a:t>
                      </a:r>
                    </a:p>
                  </a:txBody>
                  <a:tcPr>
                    <a:solidFill>
                      <a:srgbClr val="FFFFFF"/>
                    </a:solidFill>
                  </a:tcPr>
                </a:tc>
                <a:tc>
                  <a:txBody>
                    <a:bodyPr/>
                    <a:lstStyle/>
                    <a:p>
                      <a:pPr>
                        <a:defRPr sz="800">
                          <a:solidFill>
                            <a:srgbClr val="333333"/>
                          </a:solidFill>
                        </a:defRPr>
                      </a:pPr>
                      <a:r>
                        <a:t>G1 GC</a:t>
                      </a:r>
                    </a:p>
                  </a:txBody>
                  <a:tcPr>
                    <a:solidFill>
                      <a:srgbClr val="FFFFFF"/>
                    </a:solidFill>
                  </a:tcPr>
                </a:tc>
              </a:tr>
              <a:tr h="274320">
                <a:tc>
                  <a:txBody>
                    <a:bodyPr/>
                    <a:lstStyle/>
                    <a:p>
                      <a:pPr>
                        <a:defRPr sz="800">
                          <a:solidFill>
                            <a:srgbClr val="333333"/>
                          </a:solidFill>
                        </a:defRPr>
                      </a:pPr>
                      <a:r>
                        <a:t>Heap</a:t>
                      </a:r>
                    </a:p>
                  </a:txBody>
                  <a:tcPr>
                    <a:solidFill>
                      <a:srgbClr val="F2F2F2"/>
                    </a:solidFill>
                  </a:tcPr>
                </a:tc>
                <a:tc>
                  <a:txBody>
                    <a:bodyPr/>
                    <a:lstStyle/>
                    <a:p>
                      <a:pPr>
                        <a:defRPr sz="800">
                          <a:solidFill>
                            <a:srgbClr val="333333"/>
                          </a:solidFill>
                        </a:defRPr>
                      </a:pPr>
                      <a:r>
                        <a:t>Xms 2048m / Xmx 4096m (가변)</a:t>
                      </a:r>
                    </a:p>
                  </a:txBody>
                  <a:tcPr>
                    <a:solidFill>
                      <a:srgbClr val="F2F2F2"/>
                    </a:solidFill>
                  </a:tcPr>
                </a:tc>
              </a:tr>
              <a:tr h="274320">
                <a:tc>
                  <a:txBody>
                    <a:bodyPr/>
                    <a:lstStyle/>
                    <a:p>
                      <a:pPr>
                        <a:defRPr sz="800">
                          <a:solidFill>
                            <a:srgbClr val="333333"/>
                          </a:solidFill>
                        </a:defRPr>
                      </a:pPr>
                      <a:r>
                        <a:t>Metaspace</a:t>
                      </a:r>
                    </a:p>
                  </a:txBody>
                  <a:tcPr>
                    <a:solidFill>
                      <a:srgbClr val="FFFFFF"/>
                    </a:solidFill>
                  </a:tcPr>
                </a:tc>
                <a:tc>
                  <a:txBody>
                    <a:bodyPr/>
                    <a:lstStyle/>
                    <a:p>
                      <a:pPr>
                        <a:defRPr sz="800">
                          <a:solidFill>
                            <a:srgbClr val="333333"/>
                          </a:solidFill>
                        </a:defRPr>
                      </a:pPr>
                      <a:r>
                        <a:t>미기입</a:t>
                      </a:r>
                    </a:p>
                  </a:txBody>
                  <a:tcPr>
                    <a:solidFill>
                      <a:srgbClr val="FFFFFF"/>
                    </a:solidFill>
                  </a:tcPr>
                </a:tc>
              </a:tr>
              <a:tr h="274320">
                <a:tc>
                  <a:txBody>
                    <a:bodyPr/>
                    <a:lstStyle/>
                    <a:p>
                      <a:pPr>
                        <a:defRPr sz="800">
                          <a:solidFill>
                            <a:srgbClr val="333333"/>
                          </a:solidFill>
                        </a:defRPr>
                      </a:pPr>
                      <a:r>
                        <a:t>maxTotal</a:t>
                      </a:r>
                    </a:p>
                  </a:txBody>
                  <a:tcPr>
                    <a:solidFill>
                      <a:srgbClr val="F2F2F2"/>
                    </a:solidFill>
                  </a:tcPr>
                </a:tc>
                <a:tc>
                  <a:txBody>
                    <a:bodyPr/>
                    <a:lstStyle/>
                    <a:p>
                      <a:pPr>
                        <a:defRPr sz="800">
                          <a:solidFill>
                            <a:srgbClr val="333333"/>
                          </a:solidFill>
                        </a:defRPr>
                      </a:pPr>
                      <a:r>
                        <a:t>100 (DBCP)</a:t>
                      </a:r>
                    </a:p>
                  </a:txBody>
                  <a:tcPr>
                    <a:solidFill>
                      <a:srgbClr val="F2F2F2"/>
                    </a:solidFill>
                  </a:tcPr>
                </a:tc>
              </a:tr>
              <a:tr h="274320">
                <a:tc>
                  <a:txBody>
                    <a:bodyPr/>
                    <a:lstStyle/>
                    <a:p>
                      <a:pPr>
                        <a:defRPr sz="800">
                          <a:solidFill>
                            <a:srgbClr val="333333"/>
                          </a:solidFill>
                        </a:defRPr>
                      </a:pPr>
                      <a:r>
                        <a:t>minimumIdle</a:t>
                      </a:r>
                    </a:p>
                  </a:txBody>
                  <a:tcPr>
                    <a:solidFill>
                      <a:srgbClr val="FFFFFF"/>
                    </a:solidFill>
                  </a:tcPr>
                </a:tc>
                <a:tc>
                  <a:txBody>
                    <a:bodyPr/>
                    <a:lstStyle/>
                    <a:p>
                      <a:pPr>
                        <a:defRPr sz="800">
                          <a:solidFill>
                            <a:srgbClr val="333333"/>
                          </a:solidFill>
                        </a:defRPr>
                      </a:pPr>
                      <a:r>
                        <a:t>100</a:t>
                      </a:r>
                    </a:p>
                  </a:txBody>
                  <a:tcPr>
                    <a:solidFill>
                      <a:srgbClr val="FFFFFF"/>
                    </a:solidFill>
                  </a:tcPr>
                </a:tc>
              </a:tr>
              <a:tr h="274320">
                <a:tc>
                  <a:txBody>
                    <a:bodyPr/>
                    <a:lstStyle/>
                    <a:p>
                      <a:pPr>
                        <a:defRPr sz="800">
                          <a:solidFill>
                            <a:srgbClr val="333333"/>
                          </a:solidFill>
                        </a:defRPr>
                      </a:pPr>
                      <a:r>
                        <a:t>maxLifetime</a:t>
                      </a:r>
                    </a:p>
                  </a:txBody>
                  <a:tcPr>
                    <a:solidFill>
                      <a:srgbClr val="F2F2F2"/>
                    </a:solidFill>
                  </a:tcPr>
                </a:tc>
                <a:tc>
                  <a:txBody>
                    <a:bodyPr/>
                    <a:lstStyle/>
                    <a:p>
                      <a:pPr>
                        <a:defRPr sz="800">
                          <a:solidFill>
                            <a:srgbClr val="333333"/>
                          </a:solidFill>
                        </a:defRPr>
                      </a:pPr>
                      <a:r>
                        <a:t>10,000 ms (maxWaitMillis 연동)</a:t>
                      </a:r>
                    </a:p>
                  </a:txBody>
                  <a:tcPr>
                    <a:solidFill>
                      <a:srgbClr val="F2F2F2"/>
                    </a:solidFill>
                  </a:tcPr>
                </a:tc>
              </a:tr>
              <a:tr h="274320">
                <a:tc>
                  <a:txBody>
                    <a:bodyPr/>
                    <a:lstStyle/>
                    <a:p>
                      <a:pPr>
                        <a:defRPr sz="800">
                          <a:solidFill>
                            <a:srgbClr val="333333"/>
                          </a:solidFill>
                        </a:defRPr>
                      </a:pPr>
                      <a:r>
                        <a:t>connectionTimeout</a:t>
                      </a:r>
                    </a:p>
                  </a:txBody>
                  <a:tcPr>
                    <a:solidFill>
                      <a:srgbClr val="FFFFFF"/>
                    </a:solidFill>
                  </a:tcPr>
                </a:tc>
                <a:tc>
                  <a:txBody>
                    <a:bodyPr/>
                    <a:lstStyle/>
                    <a:p>
                      <a:pPr>
                        <a:defRPr sz="800">
                          <a:solidFill>
                            <a:srgbClr val="333333"/>
                          </a:solidFill>
                        </a:defRPr>
                      </a:pPr>
                      <a:r>
                        <a:t>20,000 ms</a:t>
                      </a:r>
                    </a:p>
                  </a:txBody>
                  <a:tcPr>
                    <a:solidFill>
                      <a:srgbClr val="FFFFFF"/>
                    </a:solidFill>
                  </a:tcPr>
                </a:tc>
              </a:tr>
              <a:tr h="274320">
                <a:tc>
                  <a:txBody>
                    <a:bodyPr/>
                    <a:lstStyle/>
                    <a:p>
                      <a:pPr>
                        <a:defRPr sz="800">
                          <a:solidFill>
                            <a:srgbClr val="333333"/>
                          </a:solidFill>
                        </a:defRPr>
                      </a:pPr>
                      <a:r>
                        <a:t>maxThreads</a:t>
                      </a:r>
                    </a:p>
                  </a:txBody>
                  <a:tcPr>
                    <a:solidFill>
                      <a:srgbClr val="F2F2F2"/>
                    </a:solidFill>
                  </a:tcPr>
                </a:tc>
                <a:tc>
                  <a:txBody>
                    <a:bodyPr/>
                    <a:lstStyle/>
                    <a:p>
                      <a:pPr>
                        <a:defRPr sz="800">
                          <a:solidFill>
                            <a:srgbClr val="333333"/>
                          </a:solidFill>
                        </a:defRPr>
                      </a:pPr>
                      <a:r>
                        <a:t>500</a:t>
                      </a:r>
                    </a:p>
                  </a:txBody>
                  <a:tcPr>
                    <a:solidFill>
                      <a:srgbClr val="F2F2F2"/>
                    </a:solidFill>
                  </a:tcPr>
                </a:tc>
              </a:tr>
              <a:tr h="274320">
                <a:tc>
                  <a:txBody>
                    <a:bodyPr/>
                    <a:lstStyle/>
                    <a:p>
                      <a:pPr>
                        <a:defRPr sz="800">
                          <a:solidFill>
                            <a:srgbClr val="333333"/>
                          </a:solidFill>
                        </a:defRPr>
                      </a:pPr>
                      <a:r>
                        <a:t>minSpareThreads</a:t>
                      </a:r>
                    </a:p>
                  </a:txBody>
                  <a:tcPr>
                    <a:solidFill>
                      <a:srgbClr val="FFFFFF"/>
                    </a:solidFill>
                  </a:tcPr>
                </a:tc>
                <a:tc>
                  <a:txBody>
                    <a:bodyPr/>
                    <a:lstStyle/>
                    <a:p>
                      <a:pPr>
                        <a:defRPr sz="800">
                          <a:solidFill>
                            <a:srgbClr val="333333"/>
                          </a:solidFill>
                        </a:defRPr>
                      </a:pPr>
                      <a:r>
                        <a:t>25</a:t>
                      </a:r>
                    </a:p>
                  </a:txBody>
                  <a:tcPr>
                    <a:solidFill>
                      <a:srgbClr val="FFFFFF"/>
                    </a:solidFill>
                  </a:tcPr>
                </a:tc>
              </a:tr>
              <a:tr h="274320">
                <a:tc>
                  <a:txBody>
                    <a:bodyPr/>
                    <a:lstStyle/>
                    <a:p>
                      <a:pPr>
                        <a:defRPr sz="800">
                          <a:solidFill>
                            <a:srgbClr val="333333"/>
                          </a:solidFill>
                        </a:defRPr>
                      </a:pPr>
                      <a:r>
                        <a:t>DB</a:t>
                      </a:r>
                    </a:p>
                  </a:txBody>
                  <a:tcPr>
                    <a:solidFill>
                      <a:srgbClr val="F2F2F2"/>
                    </a:solidFill>
                  </a:tcPr>
                </a:tc>
                <a:tc>
                  <a:txBody>
                    <a:bodyPr/>
                    <a:lstStyle/>
                    <a:p>
                      <a:pPr>
                        <a:defRPr sz="800">
                          <a:solidFill>
                            <a:srgbClr val="333333"/>
                          </a:solidFill>
                        </a:defRPr>
                      </a:pPr>
                      <a:r>
                        <a:t>DB2 (전담 DBA, 범위 외)</a:t>
                      </a:r>
                    </a:p>
                  </a:txBody>
                  <a:tcPr>
                    <a:solidFill>
                      <a:srgbClr val="F2F2F2"/>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square">
            <a:spAutoFit/>
          </a:bodyPr>
          <a:lstStyle/>
          <a:p>
            <a:pPr>
              <a:defRPr sz="2400" b="1">
                <a:solidFill>
                  <a:srgbClr val="1B2A4A"/>
                </a:solidFill>
              </a:defRPr>
            </a:pPr>
            <a:r>
              <a:t>[E-01c] 원천 데이터 요약 -- 현금정보계팀</a:t>
            </a:r>
          </a:p>
        </p:txBody>
      </p:sp>
      <p:graphicFrame>
        <p:nvGraphicFramePr>
          <p:cNvPr id="3" name="Table 2"/>
          <p:cNvGraphicFramePr>
            <a:graphicFrameLocks noGrp="1"/>
          </p:cNvGraphicFramePr>
          <p:nvPr/>
        </p:nvGraphicFramePr>
        <p:xfrm>
          <a:off x="457200" y="1005840"/>
          <a:ext cx="7772400" cy="2194560"/>
        </p:xfrm>
        <a:graphic>
          <a:graphicData uri="http://schemas.openxmlformats.org/drawingml/2006/table">
            <a:tbl>
              <a:tblPr firstRow="1" bandRow="1">
                <a:tableStyleId>{5C22544A-7EE6-4342-B048-85BDC9FD1C3A}</a:tableStyleId>
              </a:tblPr>
              <a:tblGrid>
                <a:gridCol w="1371600"/>
                <a:gridCol w="1371600"/>
                <a:gridCol w="1371600"/>
                <a:gridCol w="914400"/>
                <a:gridCol w="1371600"/>
                <a:gridCol w="1371600"/>
              </a:tblGrid>
              <a:tr h="274320">
                <a:tc>
                  <a:txBody>
                    <a:bodyPr/>
                    <a:lstStyle/>
                    <a:p>
                      <a:pPr algn="ctr">
                        <a:defRPr sz="900" b="1">
                          <a:solidFill>
                            <a:srgbClr val="FFFFFF"/>
                          </a:solidFill>
                        </a:defRPr>
                      </a:pPr>
                      <a:r>
                        <a:t>컨테이너</a:t>
                      </a:r>
                    </a:p>
                  </a:txBody>
                  <a:tcPr>
                    <a:solidFill>
                      <a:srgbClr val="1B2A4A"/>
                    </a:solidFill>
                  </a:tcPr>
                </a:tc>
                <a:tc>
                  <a:txBody>
                    <a:bodyPr/>
                    <a:lstStyle/>
                    <a:p>
                      <a:pPr algn="ctr">
                        <a:defRPr sz="900" b="1">
                          <a:solidFill>
                            <a:srgbClr val="FFFFFF"/>
                          </a:solidFill>
                        </a:defRPr>
                      </a:pPr>
                      <a:r>
                        <a:t>Xms</a:t>
                      </a:r>
                    </a:p>
                  </a:txBody>
                  <a:tcPr>
                    <a:solidFill>
                      <a:srgbClr val="1B2A4A"/>
                    </a:solidFill>
                  </a:tcPr>
                </a:tc>
                <a:tc>
                  <a:txBody>
                    <a:bodyPr/>
                    <a:lstStyle/>
                    <a:p>
                      <a:pPr algn="ctr">
                        <a:defRPr sz="900" b="1">
                          <a:solidFill>
                            <a:srgbClr val="FFFFFF"/>
                          </a:solidFill>
                        </a:defRPr>
                      </a:pPr>
                      <a:r>
                        <a:t>Xmx</a:t>
                      </a:r>
                    </a:p>
                  </a:txBody>
                  <a:tcPr>
                    <a:solidFill>
                      <a:srgbClr val="1B2A4A"/>
                    </a:solidFill>
                  </a:tcPr>
                </a:tc>
                <a:tc>
                  <a:txBody>
                    <a:bodyPr/>
                    <a:lstStyle/>
                    <a:p>
                      <a:pPr algn="ctr">
                        <a:defRPr sz="900" b="1">
                          <a:solidFill>
                            <a:srgbClr val="FFFFFF"/>
                          </a:solidFill>
                        </a:defRPr>
                      </a:pPr>
                      <a:r>
                        <a:t>방식</a:t>
                      </a:r>
                    </a:p>
                  </a:txBody>
                  <a:tcPr>
                    <a:solidFill>
                      <a:srgbClr val="1B2A4A"/>
                    </a:solidFill>
                  </a:tcPr>
                </a:tc>
                <a:tc>
                  <a:txBody>
                    <a:bodyPr/>
                    <a:lstStyle/>
                    <a:p>
                      <a:pPr algn="ctr">
                        <a:defRPr sz="900" b="1">
                          <a:solidFill>
                            <a:srgbClr val="FFFFFF"/>
                          </a:solidFill>
                        </a:defRPr>
                      </a:pPr>
                      <a:r>
                        <a:t>Meta Min</a:t>
                      </a:r>
                    </a:p>
                  </a:txBody>
                  <a:tcPr>
                    <a:solidFill>
                      <a:srgbClr val="1B2A4A"/>
                    </a:solidFill>
                  </a:tcPr>
                </a:tc>
                <a:tc>
                  <a:txBody>
                    <a:bodyPr/>
                    <a:lstStyle/>
                    <a:p>
                      <a:pPr algn="ctr">
                        <a:defRPr sz="900" b="1">
                          <a:solidFill>
                            <a:srgbClr val="FFFFFF"/>
                          </a:solidFill>
                        </a:defRPr>
                      </a:pPr>
                      <a:r>
                        <a:t>Meta Max</a:t>
                      </a:r>
                    </a:p>
                  </a:txBody>
                  <a:tcPr>
                    <a:solidFill>
                      <a:srgbClr val="1B2A4A"/>
                    </a:solidFill>
                  </a:tcPr>
                </a:tc>
              </a:tr>
              <a:tr h="274320">
                <a:tc>
                  <a:txBody>
                    <a:bodyPr/>
                    <a:lstStyle/>
                    <a:p>
                      <a:pPr>
                        <a:defRPr sz="800">
                          <a:solidFill>
                            <a:srgbClr val="333333"/>
                          </a:solidFill>
                        </a:defRPr>
                      </a:pPr>
                      <a:r>
                        <a:t>NIBS</a:t>
                      </a:r>
                    </a:p>
                  </a:txBody>
                  <a:tcPr>
                    <a:solidFill>
                      <a:srgbClr val="FFFFFF"/>
                    </a:solidFill>
                  </a:tcPr>
                </a:tc>
                <a:tc>
                  <a:txBody>
                    <a:bodyPr/>
                    <a:lstStyle/>
                    <a:p>
                      <a:pPr>
                        <a:defRPr sz="800">
                          <a:solidFill>
                            <a:srgbClr val="333333"/>
                          </a:solidFill>
                        </a:defRPr>
                      </a:pPr>
                      <a:r>
                        <a:t>8,192m</a:t>
                      </a:r>
                    </a:p>
                  </a:txBody>
                  <a:tcPr>
                    <a:solidFill>
                      <a:srgbClr val="FFFFFF"/>
                    </a:solidFill>
                  </a:tcPr>
                </a:tc>
                <a:tc>
                  <a:txBody>
                    <a:bodyPr/>
                    <a:lstStyle/>
                    <a:p>
                      <a:pPr>
                        <a:defRPr sz="800">
                          <a:solidFill>
                            <a:srgbClr val="333333"/>
                          </a:solidFill>
                        </a:defRPr>
                      </a:pPr>
                      <a:r>
                        <a:t>8,192m</a:t>
                      </a:r>
                    </a:p>
                  </a:txBody>
                  <a:tcPr>
                    <a:solidFill>
                      <a:srgbClr val="FFFFFF"/>
                    </a:solidFill>
                  </a:tcPr>
                </a:tc>
                <a:tc>
                  <a:txBody>
                    <a:bodyPr/>
                    <a:lstStyle/>
                    <a:p>
                      <a:pPr>
                        <a:defRPr sz="800">
                          <a:solidFill>
                            <a:srgbClr val="333333"/>
                          </a:solidFill>
                        </a:defRPr>
                      </a:pPr>
                      <a:r>
                        <a:t>고정</a:t>
                      </a:r>
                    </a:p>
                  </a:txBody>
                  <a:tcPr>
                    <a:solidFill>
                      <a:srgbClr val="FFFFFF"/>
                    </a:solidFill>
                  </a:tcPr>
                </a:tc>
                <a:tc>
                  <a:txBody>
                    <a:bodyPr/>
                    <a:lstStyle/>
                    <a:p>
                      <a:pPr>
                        <a:defRPr sz="800">
                          <a:solidFill>
                            <a:srgbClr val="333333"/>
                          </a:solidFill>
                        </a:defRPr>
                      </a:pPr>
                      <a:r>
                        <a:t>2,048m</a:t>
                      </a:r>
                    </a:p>
                  </a:txBody>
                  <a:tcPr>
                    <a:solidFill>
                      <a:srgbClr val="FFFFFF"/>
                    </a:solidFill>
                  </a:tcPr>
                </a:tc>
                <a:tc>
                  <a:txBody>
                    <a:bodyPr/>
                    <a:lstStyle/>
                    <a:p>
                      <a:pPr>
                        <a:defRPr sz="800">
                          <a:solidFill>
                            <a:srgbClr val="333333"/>
                          </a:solidFill>
                        </a:defRPr>
                      </a:pPr>
                      <a:r>
                        <a:t>미기재</a:t>
                      </a:r>
                    </a:p>
                  </a:txBody>
                  <a:tcPr>
                    <a:solidFill>
                      <a:srgbClr val="FFFFFF"/>
                    </a:solidFill>
                  </a:tcPr>
                </a:tc>
              </a:tr>
              <a:tr h="274320">
                <a:tc>
                  <a:txBody>
                    <a:bodyPr/>
                    <a:lstStyle/>
                    <a:p>
                      <a:pPr>
                        <a:defRPr sz="800">
                          <a:solidFill>
                            <a:srgbClr val="333333"/>
                          </a:solidFill>
                        </a:defRPr>
                      </a:pPr>
                      <a:r>
                        <a:t>CLS</a:t>
                      </a:r>
                    </a:p>
                  </a:txBody>
                  <a:tcPr>
                    <a:solidFill>
                      <a:srgbClr val="F2F2F2"/>
                    </a:solidFill>
                  </a:tcPr>
                </a:tc>
                <a:tc>
                  <a:txBody>
                    <a:bodyPr/>
                    <a:lstStyle/>
                    <a:p>
                      <a:pPr>
                        <a:defRPr sz="800">
                          <a:solidFill>
                            <a:srgbClr val="333333"/>
                          </a:solidFill>
                        </a:defRPr>
                      </a:pPr>
                      <a:r>
                        <a:t>2,048m</a:t>
                      </a:r>
                    </a:p>
                  </a:txBody>
                  <a:tcPr>
                    <a:solidFill>
                      <a:srgbClr val="F2F2F2"/>
                    </a:solidFill>
                  </a:tcPr>
                </a:tc>
                <a:tc>
                  <a:txBody>
                    <a:bodyPr/>
                    <a:lstStyle/>
                    <a:p>
                      <a:pPr>
                        <a:defRPr sz="800">
                          <a:solidFill>
                            <a:srgbClr val="333333"/>
                          </a:solidFill>
                        </a:defRPr>
                      </a:pPr>
                      <a:r>
                        <a:t>2,048m</a:t>
                      </a:r>
                    </a:p>
                  </a:txBody>
                  <a:tcPr>
                    <a:solidFill>
                      <a:srgbClr val="F2F2F2"/>
                    </a:solidFill>
                  </a:tcPr>
                </a:tc>
                <a:tc>
                  <a:txBody>
                    <a:bodyPr/>
                    <a:lstStyle/>
                    <a:p>
                      <a:pPr>
                        <a:defRPr sz="800">
                          <a:solidFill>
                            <a:srgbClr val="333333"/>
                          </a:solidFill>
                        </a:defRPr>
                      </a:pPr>
                      <a:r>
                        <a:t>고정</a:t>
                      </a:r>
                    </a:p>
                  </a:txBody>
                  <a:tcPr>
                    <a:solidFill>
                      <a:srgbClr val="F2F2F2"/>
                    </a:solidFill>
                  </a:tcPr>
                </a:tc>
                <a:tc>
                  <a:txBody>
                    <a:bodyPr/>
                    <a:lstStyle/>
                    <a:p>
                      <a:pPr>
                        <a:defRPr sz="800">
                          <a:solidFill>
                            <a:srgbClr val="333333"/>
                          </a:solidFill>
                        </a:defRPr>
                      </a:pPr>
                      <a:r>
                        <a:t>256m</a:t>
                      </a:r>
                    </a:p>
                  </a:txBody>
                  <a:tcPr>
                    <a:solidFill>
                      <a:srgbClr val="F2F2F2"/>
                    </a:solidFill>
                  </a:tcPr>
                </a:tc>
                <a:tc>
                  <a:txBody>
                    <a:bodyPr/>
                    <a:lstStyle/>
                    <a:p>
                      <a:pPr>
                        <a:defRPr sz="800">
                          <a:solidFill>
                            <a:srgbClr val="333333"/>
                          </a:solidFill>
                        </a:defRPr>
                      </a:pPr>
                      <a:r>
                        <a:t>16m</a:t>
                      </a:r>
                    </a:p>
                  </a:txBody>
                  <a:tcPr>
                    <a:solidFill>
                      <a:srgbClr val="F2F2F2"/>
                    </a:solidFill>
                  </a:tcPr>
                </a:tc>
              </a:tr>
              <a:tr h="274320">
                <a:tc>
                  <a:txBody>
                    <a:bodyPr/>
                    <a:lstStyle/>
                    <a:p>
                      <a:pPr>
                        <a:defRPr sz="800">
                          <a:solidFill>
                            <a:srgbClr val="333333"/>
                          </a:solidFill>
                        </a:defRPr>
                      </a:pPr>
                      <a:r>
                        <a:t>NPS</a:t>
                      </a:r>
                    </a:p>
                  </a:txBody>
                  <a:tcPr>
                    <a:solidFill>
                      <a:srgbClr val="FFFFFF"/>
                    </a:solidFill>
                  </a:tcPr>
                </a:tc>
                <a:tc>
                  <a:txBody>
                    <a:bodyPr/>
                    <a:lstStyle/>
                    <a:p>
                      <a:pPr>
                        <a:defRPr sz="800">
                          <a:solidFill>
                            <a:srgbClr val="333333"/>
                          </a:solidFill>
                        </a:defRPr>
                      </a:pPr>
                      <a:r>
                        <a:t>1,024m</a:t>
                      </a:r>
                    </a:p>
                  </a:txBody>
                  <a:tcPr>
                    <a:solidFill>
                      <a:srgbClr val="FFFFFF"/>
                    </a:solidFill>
                  </a:tcPr>
                </a:tc>
                <a:tc>
                  <a:txBody>
                    <a:bodyPr/>
                    <a:lstStyle/>
                    <a:p>
                      <a:pPr>
                        <a:defRPr sz="800">
                          <a:solidFill>
                            <a:srgbClr val="333333"/>
                          </a:solidFill>
                        </a:defRPr>
                      </a:pPr>
                      <a:r>
                        <a:t>1,024m</a:t>
                      </a:r>
                    </a:p>
                  </a:txBody>
                  <a:tcPr>
                    <a:solidFill>
                      <a:srgbClr val="FFFFFF"/>
                    </a:solidFill>
                  </a:tcPr>
                </a:tc>
                <a:tc>
                  <a:txBody>
                    <a:bodyPr/>
                    <a:lstStyle/>
                    <a:p>
                      <a:pPr>
                        <a:defRPr sz="800">
                          <a:solidFill>
                            <a:srgbClr val="333333"/>
                          </a:solidFill>
                        </a:defRPr>
                      </a:pPr>
                      <a:r>
                        <a:t>고정</a:t>
                      </a:r>
                    </a:p>
                  </a:txBody>
                  <a:tcPr>
                    <a:solidFill>
                      <a:srgbClr val="FFFFFF"/>
                    </a:solidFill>
                  </a:tcPr>
                </a:tc>
                <a:tc>
                  <a:txBody>
                    <a:bodyPr/>
                    <a:lstStyle/>
                    <a:p>
                      <a:pPr>
                        <a:defRPr sz="800">
                          <a:solidFill>
                            <a:srgbClr val="333333"/>
                          </a:solidFill>
                        </a:defRPr>
                      </a:pPr>
                      <a:r>
                        <a:t>256m</a:t>
                      </a:r>
                    </a:p>
                  </a:txBody>
                  <a:tcPr>
                    <a:solidFill>
                      <a:srgbClr val="FFFFFF"/>
                    </a:solidFill>
                  </a:tcPr>
                </a:tc>
                <a:tc>
                  <a:txBody>
                    <a:bodyPr/>
                    <a:lstStyle/>
                    <a:p>
                      <a:pPr>
                        <a:defRPr sz="800">
                          <a:solidFill>
                            <a:srgbClr val="333333"/>
                          </a:solidFill>
                        </a:defRPr>
                      </a:pPr>
                      <a:r>
                        <a:t>16m</a:t>
                      </a:r>
                    </a:p>
                  </a:txBody>
                  <a:tcPr>
                    <a:solidFill>
                      <a:srgbClr val="FFFFFF"/>
                    </a:solidFill>
                  </a:tcPr>
                </a:tc>
              </a:tr>
              <a:tr h="274320">
                <a:tc>
                  <a:txBody>
                    <a:bodyPr/>
                    <a:lstStyle/>
                    <a:p>
                      <a:pPr>
                        <a:defRPr sz="800">
                          <a:solidFill>
                            <a:srgbClr val="333333"/>
                          </a:solidFill>
                        </a:defRPr>
                      </a:pPr>
                      <a:r>
                        <a:t>PARTNER</a:t>
                      </a:r>
                    </a:p>
                  </a:txBody>
                  <a:tcPr>
                    <a:solidFill>
                      <a:srgbClr val="F2F2F2"/>
                    </a:solidFill>
                  </a:tcPr>
                </a:tc>
                <a:tc>
                  <a:txBody>
                    <a:bodyPr/>
                    <a:lstStyle/>
                    <a:p>
                      <a:pPr>
                        <a:defRPr sz="800">
                          <a:solidFill>
                            <a:srgbClr val="333333"/>
                          </a:solidFill>
                        </a:defRPr>
                      </a:pPr>
                      <a:r>
                        <a:t>1,024m</a:t>
                      </a:r>
                    </a:p>
                  </a:txBody>
                  <a:tcPr>
                    <a:solidFill>
                      <a:srgbClr val="F2F2F2"/>
                    </a:solidFill>
                  </a:tcPr>
                </a:tc>
                <a:tc>
                  <a:txBody>
                    <a:bodyPr/>
                    <a:lstStyle/>
                    <a:p>
                      <a:pPr>
                        <a:defRPr sz="800">
                          <a:solidFill>
                            <a:srgbClr val="333333"/>
                          </a:solidFill>
                        </a:defRPr>
                      </a:pPr>
                      <a:r>
                        <a:t>5,120m</a:t>
                      </a:r>
                    </a:p>
                  </a:txBody>
                  <a:tcPr>
                    <a:solidFill>
                      <a:srgbClr val="F2F2F2"/>
                    </a:solidFill>
                  </a:tcPr>
                </a:tc>
                <a:tc>
                  <a:txBody>
                    <a:bodyPr/>
                    <a:lstStyle/>
                    <a:p>
                      <a:pPr>
                        <a:defRPr sz="800">
                          <a:solidFill>
                            <a:srgbClr val="333333"/>
                          </a:solidFill>
                        </a:defRPr>
                      </a:pPr>
                      <a:r>
                        <a:t>동적</a:t>
                      </a:r>
                    </a:p>
                  </a:txBody>
                  <a:tcPr>
                    <a:solidFill>
                      <a:srgbClr val="F2F2F2"/>
                    </a:solidFill>
                  </a:tcPr>
                </a:tc>
                <a:tc>
                  <a:txBody>
                    <a:bodyPr/>
                    <a:lstStyle/>
                    <a:p>
                      <a:pPr>
                        <a:defRPr sz="800">
                          <a:solidFill>
                            <a:srgbClr val="333333"/>
                          </a:solidFill>
                        </a:defRPr>
                      </a:pPr>
                      <a:r>
                        <a:t>512m</a:t>
                      </a:r>
                    </a:p>
                  </a:txBody>
                  <a:tcPr>
                    <a:solidFill>
                      <a:srgbClr val="F2F2F2"/>
                    </a:solidFill>
                  </a:tcPr>
                </a:tc>
                <a:tc>
                  <a:txBody>
                    <a:bodyPr/>
                    <a:lstStyle/>
                    <a:p>
                      <a:pPr>
                        <a:defRPr sz="800">
                          <a:solidFill>
                            <a:srgbClr val="333333"/>
                          </a:solidFill>
                        </a:defRPr>
                      </a:pPr>
                      <a:r>
                        <a:t>16m</a:t>
                      </a:r>
                    </a:p>
                  </a:txBody>
                  <a:tcPr>
                    <a:solidFill>
                      <a:srgbClr val="F2F2F2"/>
                    </a:solidFill>
                  </a:tcPr>
                </a:tc>
              </a:tr>
              <a:tr h="274320">
                <a:tc>
                  <a:txBody>
                    <a:bodyPr/>
                    <a:lstStyle/>
                    <a:p>
                      <a:pPr>
                        <a:defRPr sz="800">
                          <a:solidFill>
                            <a:srgbClr val="333333"/>
                          </a:solidFill>
                        </a:defRPr>
                      </a:pPr>
                      <a:r>
                        <a:t>EAUDIT</a:t>
                      </a:r>
                    </a:p>
                  </a:txBody>
                  <a:tcPr>
                    <a:solidFill>
                      <a:srgbClr val="FFFFFF"/>
                    </a:solidFill>
                  </a:tcPr>
                </a:tc>
                <a:tc>
                  <a:txBody>
                    <a:bodyPr/>
                    <a:lstStyle/>
                    <a:p>
                      <a:pPr>
                        <a:defRPr sz="800">
                          <a:solidFill>
                            <a:srgbClr val="333333"/>
                          </a:solidFill>
                        </a:defRPr>
                      </a:pPr>
                      <a:r>
                        <a:t>1,024m</a:t>
                      </a:r>
                    </a:p>
                  </a:txBody>
                  <a:tcPr>
                    <a:solidFill>
                      <a:srgbClr val="FFFFFF"/>
                    </a:solidFill>
                  </a:tcPr>
                </a:tc>
                <a:tc>
                  <a:txBody>
                    <a:bodyPr/>
                    <a:lstStyle/>
                    <a:p>
                      <a:pPr>
                        <a:defRPr sz="800">
                          <a:solidFill>
                            <a:srgbClr val="333333"/>
                          </a:solidFill>
                        </a:defRPr>
                      </a:pPr>
                      <a:r>
                        <a:t>5,120m</a:t>
                      </a:r>
                    </a:p>
                  </a:txBody>
                  <a:tcPr>
                    <a:solidFill>
                      <a:srgbClr val="FFFFFF"/>
                    </a:solidFill>
                  </a:tcPr>
                </a:tc>
                <a:tc>
                  <a:txBody>
                    <a:bodyPr/>
                    <a:lstStyle/>
                    <a:p>
                      <a:pPr>
                        <a:defRPr sz="800">
                          <a:solidFill>
                            <a:srgbClr val="333333"/>
                          </a:solidFill>
                        </a:defRPr>
                      </a:pPr>
                      <a:r>
                        <a:t>동적</a:t>
                      </a:r>
                    </a:p>
                  </a:txBody>
                  <a:tcPr>
                    <a:solidFill>
                      <a:srgbClr val="FFFFFF"/>
                    </a:solidFill>
                  </a:tcPr>
                </a:tc>
                <a:tc>
                  <a:txBody>
                    <a:bodyPr/>
                    <a:lstStyle/>
                    <a:p>
                      <a:pPr>
                        <a:defRPr sz="800">
                          <a:solidFill>
                            <a:srgbClr val="333333"/>
                          </a:solidFill>
                        </a:defRPr>
                      </a:pPr>
                      <a:r>
                        <a:t>512m</a:t>
                      </a:r>
                    </a:p>
                  </a:txBody>
                  <a:tcPr>
                    <a:solidFill>
                      <a:srgbClr val="FFFFFF"/>
                    </a:solidFill>
                  </a:tcPr>
                </a:tc>
                <a:tc>
                  <a:txBody>
                    <a:bodyPr/>
                    <a:lstStyle/>
                    <a:p>
                      <a:pPr>
                        <a:defRPr sz="800">
                          <a:solidFill>
                            <a:srgbClr val="333333"/>
                          </a:solidFill>
                        </a:defRPr>
                      </a:pPr>
                      <a:r>
                        <a:t>16m</a:t>
                      </a:r>
                    </a:p>
                  </a:txBody>
                  <a:tcPr>
                    <a:solidFill>
                      <a:srgbClr val="FFFFFF"/>
                    </a:solidFill>
                  </a:tcPr>
                </a:tc>
              </a:tr>
              <a:tr h="274320">
                <a:tc>
                  <a:txBody>
                    <a:bodyPr/>
                    <a:lstStyle/>
                    <a:p>
                      <a:pPr>
                        <a:defRPr sz="800">
                          <a:solidFill>
                            <a:srgbClr val="333333"/>
                          </a:solidFill>
                        </a:defRPr>
                      </a:pPr>
                      <a:r>
                        <a:t>MOBILE</a:t>
                      </a:r>
                    </a:p>
                  </a:txBody>
                  <a:tcPr>
                    <a:solidFill>
                      <a:srgbClr val="F2F2F2"/>
                    </a:solidFill>
                  </a:tcPr>
                </a:tc>
                <a:tc>
                  <a:txBody>
                    <a:bodyPr/>
                    <a:lstStyle/>
                    <a:p>
                      <a:pPr>
                        <a:defRPr sz="800">
                          <a:solidFill>
                            <a:srgbClr val="333333"/>
                          </a:solidFill>
                        </a:defRPr>
                      </a:pPr>
                      <a:r>
                        <a:t>2,048m</a:t>
                      </a:r>
                    </a:p>
                  </a:txBody>
                  <a:tcPr>
                    <a:solidFill>
                      <a:srgbClr val="F2F2F2"/>
                    </a:solidFill>
                  </a:tcPr>
                </a:tc>
                <a:tc>
                  <a:txBody>
                    <a:bodyPr/>
                    <a:lstStyle/>
                    <a:p>
                      <a:pPr>
                        <a:defRPr sz="800">
                          <a:solidFill>
                            <a:srgbClr val="333333"/>
                          </a:solidFill>
                        </a:defRPr>
                      </a:pPr>
                      <a:r>
                        <a:t>4,096m</a:t>
                      </a:r>
                    </a:p>
                  </a:txBody>
                  <a:tcPr>
                    <a:solidFill>
                      <a:srgbClr val="F2F2F2"/>
                    </a:solidFill>
                  </a:tcPr>
                </a:tc>
                <a:tc>
                  <a:txBody>
                    <a:bodyPr/>
                    <a:lstStyle/>
                    <a:p>
                      <a:pPr>
                        <a:defRPr sz="800">
                          <a:solidFill>
                            <a:srgbClr val="333333"/>
                          </a:solidFill>
                        </a:defRPr>
                      </a:pPr>
                      <a:r>
                        <a:t>동적</a:t>
                      </a:r>
                    </a:p>
                  </a:txBody>
                  <a:tcPr>
                    <a:solidFill>
                      <a:srgbClr val="F2F2F2"/>
                    </a:solidFill>
                  </a:tcPr>
                </a:tc>
                <a:tc>
                  <a:txBody>
                    <a:bodyPr/>
                    <a:lstStyle/>
                    <a:p>
                      <a:pPr>
                        <a:defRPr sz="800">
                          <a:solidFill>
                            <a:srgbClr val="333333"/>
                          </a:solidFill>
                        </a:defRPr>
                      </a:pPr>
                      <a:r>
                        <a:t>512m</a:t>
                      </a:r>
                    </a:p>
                  </a:txBody>
                  <a:tcPr>
                    <a:solidFill>
                      <a:srgbClr val="F2F2F2"/>
                    </a:solidFill>
                  </a:tcPr>
                </a:tc>
                <a:tc>
                  <a:txBody>
                    <a:bodyPr/>
                    <a:lstStyle/>
                    <a:p>
                      <a:pPr>
                        <a:defRPr sz="800">
                          <a:solidFill>
                            <a:srgbClr val="333333"/>
                          </a:solidFill>
                        </a:defRPr>
                      </a:pPr>
                      <a:r>
                        <a:t>16m</a:t>
                      </a:r>
                    </a:p>
                  </a:txBody>
                  <a:tcPr>
                    <a:solidFill>
                      <a:srgbClr val="F2F2F2"/>
                    </a:solidFill>
                  </a:tcPr>
                </a:tc>
              </a:tr>
              <a:tr h="274320">
                <a:tc>
                  <a:txBody>
                    <a:bodyPr/>
                    <a:lstStyle/>
                    <a:p>
                      <a:pPr>
                        <a:defRPr sz="800">
                          <a:solidFill>
                            <a:srgbClr val="333333"/>
                          </a:solidFill>
                        </a:defRPr>
                      </a:pPr>
                      <a:r>
                        <a:t>POS</a:t>
                      </a:r>
                    </a:p>
                  </a:txBody>
                  <a:tcPr>
                    <a:solidFill>
                      <a:srgbClr val="FFFFFF"/>
                    </a:solidFill>
                  </a:tcPr>
                </a:tc>
                <a:tc>
                  <a:txBody>
                    <a:bodyPr/>
                    <a:lstStyle/>
                    <a:p>
                      <a:pPr>
                        <a:defRPr sz="800">
                          <a:solidFill>
                            <a:srgbClr val="333333"/>
                          </a:solidFill>
                        </a:defRPr>
                      </a:pPr>
                      <a:r>
                        <a:t>1,024m</a:t>
                      </a:r>
                    </a:p>
                  </a:txBody>
                  <a:tcPr>
                    <a:solidFill>
                      <a:srgbClr val="FFFFFF"/>
                    </a:solidFill>
                  </a:tcPr>
                </a:tc>
                <a:tc>
                  <a:txBody>
                    <a:bodyPr/>
                    <a:lstStyle/>
                    <a:p>
                      <a:pPr>
                        <a:defRPr sz="800">
                          <a:solidFill>
                            <a:srgbClr val="333333"/>
                          </a:solidFill>
                        </a:defRPr>
                      </a:pPr>
                      <a:r>
                        <a:t>2,048m</a:t>
                      </a:r>
                    </a:p>
                  </a:txBody>
                  <a:tcPr>
                    <a:solidFill>
                      <a:srgbClr val="FFFFFF"/>
                    </a:solidFill>
                  </a:tcPr>
                </a:tc>
                <a:tc>
                  <a:txBody>
                    <a:bodyPr/>
                    <a:lstStyle/>
                    <a:p>
                      <a:pPr>
                        <a:defRPr sz="800">
                          <a:solidFill>
                            <a:srgbClr val="333333"/>
                          </a:solidFill>
                        </a:defRPr>
                      </a:pPr>
                      <a:r>
                        <a:t>동적</a:t>
                      </a:r>
                    </a:p>
                  </a:txBody>
                  <a:tcPr>
                    <a:solidFill>
                      <a:srgbClr val="FFFFFF"/>
                    </a:solidFill>
                  </a:tcPr>
                </a:tc>
                <a:tc>
                  <a:txBody>
                    <a:bodyPr/>
                    <a:lstStyle/>
                    <a:p>
                      <a:pPr>
                        <a:defRPr sz="800">
                          <a:solidFill>
                            <a:srgbClr val="333333"/>
                          </a:solidFill>
                        </a:defRPr>
                      </a:pPr>
                      <a:r>
                        <a:t>256m</a:t>
                      </a:r>
                    </a:p>
                  </a:txBody>
                  <a:tcPr>
                    <a:solidFill>
                      <a:srgbClr val="FFFFFF"/>
                    </a:solidFill>
                  </a:tcPr>
                </a:tc>
                <a:tc>
                  <a:txBody>
                    <a:bodyPr/>
                    <a:lstStyle/>
                    <a:p>
                      <a:pPr>
                        <a:defRPr sz="800">
                          <a:solidFill>
                            <a:srgbClr val="333333"/>
                          </a:solidFill>
                        </a:defRPr>
                      </a:pPr>
                      <a:r>
                        <a:t>16m</a:t>
                      </a:r>
                    </a:p>
                  </a:txBody>
                  <a:tcPr>
                    <a:solidFill>
                      <a:srgbClr val="FFFFFF"/>
                    </a:solidFill>
                  </a:tcPr>
                </a:tc>
              </a:tr>
            </a:tbl>
          </a:graphicData>
        </a:graphic>
      </p:graphicFrame>
      <p:sp>
        <p:nvSpPr>
          <p:cNvPr id="4" name="TextBox 3"/>
          <p:cNvSpPr txBox="1"/>
          <p:nvPr/>
        </p:nvSpPr>
        <p:spPr>
          <a:xfrm>
            <a:off x="457200" y="3474720"/>
            <a:ext cx="10972800" cy="365760"/>
          </a:xfrm>
          <a:prstGeom prst="rect">
            <a:avLst/>
          </a:prstGeom>
          <a:noFill/>
        </p:spPr>
        <p:txBody>
          <a:bodyPr wrap="square">
            <a:spAutoFit/>
          </a:bodyPr>
          <a:lstStyle/>
          <a:p>
            <a:pPr algn="l">
              <a:defRPr sz="1000" b="1">
                <a:solidFill>
                  <a:srgbClr val="333333"/>
                </a:solidFill>
              </a:defRPr>
            </a:pPr>
            <a:r>
              <a:t>공통: Liberty 23.0.0.2 ND | OpenJDK 15.0.2+7 | Parallel GC | coreThreads=-1, maxThreads=-1 (자동) | maxPoolSize=50, minPoolSize=0 | connTimeout=30s, maxIdleTime=1800s, reapTime=300s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square">
            <a:spAutoFit/>
          </a:bodyPr>
          <a:lstStyle/>
          <a:p>
            <a:pPr>
              <a:defRPr sz="2400" b="1">
                <a:solidFill>
                  <a:srgbClr val="1B2A4A"/>
                </a:solidFill>
              </a:defRPr>
            </a:pPr>
            <a:r>
              <a:t>[E-02a] 벤더 권장사양 참조 -- WAS / Connection Pool</a:t>
            </a:r>
          </a:p>
        </p:txBody>
      </p:sp>
      <p:sp>
        <p:nvSpPr>
          <p:cNvPr id="3" name="TextBox 2"/>
          <p:cNvSpPr txBox="1"/>
          <p:nvPr/>
        </p:nvSpPr>
        <p:spPr>
          <a:xfrm>
            <a:off x="457200" y="1005840"/>
            <a:ext cx="10972800" cy="365760"/>
          </a:xfrm>
          <a:prstGeom prst="rect">
            <a:avLst/>
          </a:prstGeom>
          <a:noFill/>
        </p:spPr>
        <p:txBody>
          <a:bodyPr wrap="square">
            <a:spAutoFit/>
          </a:bodyPr>
          <a:lstStyle/>
          <a:p>
            <a:pPr algn="l">
              <a:defRPr sz="1100" b="1">
                <a:solidFill>
                  <a:srgbClr val="006D6F"/>
                </a:solidFill>
              </a:defRPr>
            </a:pPr>
            <a:r>
              <a:t>Apache Tomcat 9.x</a:t>
            </a:r>
          </a:p>
        </p:txBody>
      </p:sp>
      <p:graphicFrame>
        <p:nvGraphicFramePr>
          <p:cNvPr id="4" name="Table 3"/>
          <p:cNvGraphicFramePr>
            <a:graphicFrameLocks noGrp="1"/>
          </p:cNvGraphicFramePr>
          <p:nvPr/>
        </p:nvGraphicFramePr>
        <p:xfrm>
          <a:off x="457200" y="1280160"/>
          <a:ext cx="5029200" cy="1645919"/>
        </p:xfrm>
        <a:graphic>
          <a:graphicData uri="http://schemas.openxmlformats.org/drawingml/2006/table">
            <a:tbl>
              <a:tblPr firstRow="1" bandRow="1">
                <a:tableStyleId>{5C22544A-7EE6-4342-B048-85BDC9FD1C3A}</a:tableStyleId>
              </a:tblPr>
              <a:tblGrid>
                <a:gridCol w="1828800"/>
                <a:gridCol w="1371600"/>
                <a:gridCol w="1828800"/>
              </a:tblGrid>
              <a:tr h="274319">
                <a:tc>
                  <a:txBody>
                    <a:bodyPr/>
                    <a:lstStyle/>
                    <a:p>
                      <a:pPr algn="ctr">
                        <a:defRPr sz="900" b="1">
                          <a:solidFill>
                            <a:srgbClr val="FFFFFF"/>
                          </a:solidFill>
                        </a:defRPr>
                      </a:pPr>
                      <a:r>
                        <a:t>파라미터</a:t>
                      </a:r>
                    </a:p>
                  </a:txBody>
                  <a:tcPr>
                    <a:solidFill>
                      <a:srgbClr val="1B2A4A"/>
                    </a:solidFill>
                  </a:tcPr>
                </a:tc>
                <a:tc>
                  <a:txBody>
                    <a:bodyPr/>
                    <a:lstStyle/>
                    <a:p>
                      <a:pPr algn="ctr">
                        <a:defRPr sz="900" b="1">
                          <a:solidFill>
                            <a:srgbClr val="FFFFFF"/>
                          </a:solidFill>
                        </a:defRPr>
                      </a:pPr>
                      <a:r>
                        <a:t>기본값</a:t>
                      </a:r>
                    </a:p>
                  </a:txBody>
                  <a:tcPr>
                    <a:solidFill>
                      <a:srgbClr val="1B2A4A"/>
                    </a:solidFill>
                  </a:tcPr>
                </a:tc>
                <a:tc>
                  <a:txBody>
                    <a:bodyPr/>
                    <a:lstStyle/>
                    <a:p>
                      <a:pPr algn="ctr">
                        <a:defRPr sz="900" b="1">
                          <a:solidFill>
                            <a:srgbClr val="FFFFFF"/>
                          </a:solidFill>
                        </a:defRPr>
                      </a:pPr>
                      <a:r>
                        <a:t>권장 범위</a:t>
                      </a:r>
                    </a:p>
                  </a:txBody>
                  <a:tcPr>
                    <a:solidFill>
                      <a:srgbClr val="1B2A4A"/>
                    </a:solidFill>
                  </a:tcPr>
                </a:tc>
              </a:tr>
              <a:tr h="274319">
                <a:tc>
                  <a:txBody>
                    <a:bodyPr/>
                    <a:lstStyle/>
                    <a:p>
                      <a:pPr>
                        <a:defRPr sz="800">
                          <a:solidFill>
                            <a:srgbClr val="333333"/>
                          </a:solidFill>
                        </a:defRPr>
                      </a:pPr>
                      <a:r>
                        <a:t>maxThreads</a:t>
                      </a:r>
                    </a:p>
                  </a:txBody>
                  <a:tcPr>
                    <a:solidFill>
                      <a:srgbClr val="FFFFFF"/>
                    </a:solidFill>
                  </a:tcPr>
                </a:tc>
                <a:tc>
                  <a:txBody>
                    <a:bodyPr/>
                    <a:lstStyle/>
                    <a:p>
                      <a:pPr>
                        <a:defRPr sz="800">
                          <a:solidFill>
                            <a:srgbClr val="333333"/>
                          </a:solidFill>
                        </a:defRPr>
                      </a:pPr>
                      <a:r>
                        <a:t>200</a:t>
                      </a:r>
                    </a:p>
                  </a:txBody>
                  <a:tcPr>
                    <a:solidFill>
                      <a:srgbClr val="FFFFFF"/>
                    </a:solidFill>
                  </a:tcPr>
                </a:tc>
                <a:tc>
                  <a:txBody>
                    <a:bodyPr/>
                    <a:lstStyle/>
                    <a:p>
                      <a:pPr>
                        <a:defRPr sz="800">
                          <a:solidFill>
                            <a:srgbClr val="333333"/>
                          </a:solidFill>
                        </a:defRPr>
                      </a:pPr>
                      <a:r>
                        <a:t>200~500 (워크로드에 따라)</a:t>
                      </a:r>
                    </a:p>
                  </a:txBody>
                  <a:tcPr>
                    <a:solidFill>
                      <a:srgbClr val="FFFFFF"/>
                    </a:solidFill>
                  </a:tcPr>
                </a:tc>
              </a:tr>
              <a:tr h="274319">
                <a:tc>
                  <a:txBody>
                    <a:bodyPr/>
                    <a:lstStyle/>
                    <a:p>
                      <a:pPr>
                        <a:defRPr sz="800">
                          <a:solidFill>
                            <a:srgbClr val="333333"/>
                          </a:solidFill>
                        </a:defRPr>
                      </a:pPr>
                      <a:r>
                        <a:t>minSpareThreads</a:t>
                      </a:r>
                    </a:p>
                  </a:txBody>
                  <a:tcPr>
                    <a:solidFill>
                      <a:srgbClr val="F2F2F2"/>
                    </a:solidFill>
                  </a:tcPr>
                </a:tc>
                <a:tc>
                  <a:txBody>
                    <a:bodyPr/>
                    <a:lstStyle/>
                    <a:p>
                      <a:pPr>
                        <a:defRPr sz="800">
                          <a:solidFill>
                            <a:srgbClr val="333333"/>
                          </a:solidFill>
                        </a:defRPr>
                      </a:pPr>
                      <a:r>
                        <a:t>25</a:t>
                      </a:r>
                    </a:p>
                  </a:txBody>
                  <a:tcPr>
                    <a:solidFill>
                      <a:srgbClr val="F2F2F2"/>
                    </a:solidFill>
                  </a:tcPr>
                </a:tc>
                <a:tc>
                  <a:txBody>
                    <a:bodyPr/>
                    <a:lstStyle/>
                    <a:p>
                      <a:pPr>
                        <a:defRPr sz="800">
                          <a:solidFill>
                            <a:srgbClr val="333333"/>
                          </a:solidFill>
                        </a:defRPr>
                      </a:pPr>
                      <a:r>
                        <a:t>25 (기본값 유지)</a:t>
                      </a:r>
                    </a:p>
                  </a:txBody>
                  <a:tcPr>
                    <a:solidFill>
                      <a:srgbClr val="F2F2F2"/>
                    </a:solidFill>
                  </a:tcPr>
                </a:tc>
              </a:tr>
              <a:tr h="274319">
                <a:tc>
                  <a:txBody>
                    <a:bodyPr/>
                    <a:lstStyle/>
                    <a:p>
                      <a:pPr>
                        <a:defRPr sz="800">
                          <a:solidFill>
                            <a:srgbClr val="333333"/>
                          </a:solidFill>
                        </a:defRPr>
                      </a:pPr>
                      <a:r>
                        <a:t>acceptCount</a:t>
                      </a:r>
                    </a:p>
                  </a:txBody>
                  <a:tcPr>
                    <a:solidFill>
                      <a:srgbClr val="FFFFFF"/>
                    </a:solidFill>
                  </a:tcPr>
                </a:tc>
                <a:tc>
                  <a:txBody>
                    <a:bodyPr/>
                    <a:lstStyle/>
                    <a:p>
                      <a:pPr>
                        <a:defRPr sz="800">
                          <a:solidFill>
                            <a:srgbClr val="333333"/>
                          </a:solidFill>
                        </a:defRPr>
                      </a:pPr>
                      <a:r>
                        <a:t>100</a:t>
                      </a:r>
                    </a:p>
                  </a:txBody>
                  <a:tcPr>
                    <a:solidFill>
                      <a:srgbClr val="FFFFFF"/>
                    </a:solidFill>
                  </a:tcPr>
                </a:tc>
                <a:tc>
                  <a:txBody>
                    <a:bodyPr/>
                    <a:lstStyle/>
                    <a:p>
                      <a:pPr>
                        <a:defRPr sz="800">
                          <a:solidFill>
                            <a:srgbClr val="333333"/>
                          </a:solidFill>
                        </a:defRPr>
                      </a:pPr>
                      <a:r>
                        <a:t>100 (기본값 유지)</a:t>
                      </a:r>
                    </a:p>
                  </a:txBody>
                  <a:tcPr>
                    <a:solidFill>
                      <a:srgbClr val="FFFFFF"/>
                    </a:solidFill>
                  </a:tcPr>
                </a:tc>
              </a:tr>
              <a:tr h="274319">
                <a:tc>
                  <a:txBody>
                    <a:bodyPr/>
                    <a:lstStyle/>
                    <a:p>
                      <a:pPr>
                        <a:defRPr sz="800">
                          <a:solidFill>
                            <a:srgbClr val="333333"/>
                          </a:solidFill>
                        </a:defRPr>
                      </a:pPr>
                      <a:r>
                        <a:t>connectionTimeout</a:t>
                      </a:r>
                    </a:p>
                  </a:txBody>
                  <a:tcPr>
                    <a:solidFill>
                      <a:srgbClr val="F2F2F2"/>
                    </a:solidFill>
                  </a:tcPr>
                </a:tc>
                <a:tc>
                  <a:txBody>
                    <a:bodyPr/>
                    <a:lstStyle/>
                    <a:p>
                      <a:pPr>
                        <a:defRPr sz="800">
                          <a:solidFill>
                            <a:srgbClr val="333333"/>
                          </a:solidFill>
                        </a:defRPr>
                      </a:pPr>
                      <a:r>
                        <a:t>60,000 ms</a:t>
                      </a:r>
                    </a:p>
                  </a:txBody>
                  <a:tcPr>
                    <a:solidFill>
                      <a:srgbClr val="F2F2F2"/>
                    </a:solidFill>
                  </a:tcPr>
                </a:tc>
                <a:tc>
                  <a:txBody>
                    <a:bodyPr/>
                    <a:lstStyle/>
                    <a:p>
                      <a:pPr>
                        <a:defRPr sz="800">
                          <a:solidFill>
                            <a:srgbClr val="333333"/>
                          </a:solidFill>
                        </a:defRPr>
                      </a:pPr>
                      <a:r>
                        <a:t>20,000~60,000 ms</a:t>
                      </a:r>
                    </a:p>
                  </a:txBody>
                  <a:tcPr>
                    <a:solidFill>
                      <a:srgbClr val="F2F2F2"/>
                    </a:solidFill>
                  </a:tcPr>
                </a:tc>
              </a:tr>
              <a:tr h="274324">
                <a:tc>
                  <a:txBody>
                    <a:bodyPr/>
                    <a:lstStyle/>
                    <a:p>
                      <a:pPr>
                        <a:defRPr sz="800">
                          <a:solidFill>
                            <a:srgbClr val="333333"/>
                          </a:solidFill>
                        </a:defRPr>
                      </a:pPr>
                      <a:r>
                        <a:t>maxConnections</a:t>
                      </a:r>
                    </a:p>
                  </a:txBody>
                  <a:tcPr>
                    <a:solidFill>
                      <a:srgbClr val="FFFFFF"/>
                    </a:solidFill>
                  </a:tcPr>
                </a:tc>
                <a:tc>
                  <a:txBody>
                    <a:bodyPr/>
                    <a:lstStyle/>
                    <a:p>
                      <a:pPr>
                        <a:defRPr sz="800">
                          <a:solidFill>
                            <a:srgbClr val="333333"/>
                          </a:solidFill>
                        </a:defRPr>
                      </a:pPr>
                      <a:r>
                        <a:t>8,192 (NIO)</a:t>
                      </a:r>
                    </a:p>
                  </a:txBody>
                  <a:tcPr>
                    <a:solidFill>
                      <a:srgbClr val="FFFFFF"/>
                    </a:solidFill>
                  </a:tcPr>
                </a:tc>
                <a:tc>
                  <a:txBody>
                    <a:bodyPr/>
                    <a:lstStyle/>
                    <a:p>
                      <a:pPr>
                        <a:defRPr sz="800">
                          <a:solidFill>
                            <a:srgbClr val="333333"/>
                          </a:solidFill>
                        </a:defRPr>
                      </a:pPr>
                      <a:r>
                        <a:t>8,192 (기본값 유지)</a:t>
                      </a:r>
                    </a:p>
                  </a:txBody>
                  <a:tcPr>
                    <a:solidFill>
                      <a:srgbClr val="FFFFFF"/>
                    </a:solidFill>
                  </a:tcPr>
                </a:tc>
              </a:tr>
            </a:tbl>
          </a:graphicData>
        </a:graphic>
      </p:graphicFrame>
      <p:sp>
        <p:nvSpPr>
          <p:cNvPr id="5" name="TextBox 4"/>
          <p:cNvSpPr txBox="1"/>
          <p:nvPr/>
        </p:nvSpPr>
        <p:spPr>
          <a:xfrm>
            <a:off x="5943600" y="1005840"/>
            <a:ext cx="10972800" cy="365760"/>
          </a:xfrm>
          <a:prstGeom prst="rect">
            <a:avLst/>
          </a:prstGeom>
          <a:noFill/>
        </p:spPr>
        <p:txBody>
          <a:bodyPr wrap="square">
            <a:spAutoFit/>
          </a:bodyPr>
          <a:lstStyle/>
          <a:p>
            <a:pPr algn="l">
              <a:defRPr sz="1100" b="1">
                <a:solidFill>
                  <a:srgbClr val="006D6F"/>
                </a:solidFill>
              </a:defRPr>
            </a:pPr>
            <a:r>
              <a:t>IBM Liberty 23.x</a:t>
            </a:r>
          </a:p>
        </p:txBody>
      </p:sp>
      <p:graphicFrame>
        <p:nvGraphicFramePr>
          <p:cNvPr id="6" name="Table 5"/>
          <p:cNvGraphicFramePr>
            <a:graphicFrameLocks noGrp="1"/>
          </p:cNvGraphicFramePr>
          <p:nvPr/>
        </p:nvGraphicFramePr>
        <p:xfrm>
          <a:off x="5943600" y="1280160"/>
          <a:ext cx="5029200" cy="1645919"/>
        </p:xfrm>
        <a:graphic>
          <a:graphicData uri="http://schemas.openxmlformats.org/drawingml/2006/table">
            <a:tbl>
              <a:tblPr firstRow="1" bandRow="1">
                <a:tableStyleId>{5C22544A-7EE6-4342-B048-85BDC9FD1C3A}</a:tableStyleId>
              </a:tblPr>
              <a:tblGrid>
                <a:gridCol w="1828800"/>
                <a:gridCol w="1371600"/>
                <a:gridCol w="1828800"/>
              </a:tblGrid>
              <a:tr h="274319">
                <a:tc>
                  <a:txBody>
                    <a:bodyPr/>
                    <a:lstStyle/>
                    <a:p>
                      <a:pPr algn="ctr">
                        <a:defRPr sz="900" b="1">
                          <a:solidFill>
                            <a:srgbClr val="FFFFFF"/>
                          </a:solidFill>
                        </a:defRPr>
                      </a:pPr>
                      <a:r>
                        <a:t>파라미터</a:t>
                      </a:r>
                    </a:p>
                  </a:txBody>
                  <a:tcPr>
                    <a:solidFill>
                      <a:srgbClr val="1B2A4A"/>
                    </a:solidFill>
                  </a:tcPr>
                </a:tc>
                <a:tc>
                  <a:txBody>
                    <a:bodyPr/>
                    <a:lstStyle/>
                    <a:p>
                      <a:pPr algn="ctr">
                        <a:defRPr sz="900" b="1">
                          <a:solidFill>
                            <a:srgbClr val="FFFFFF"/>
                          </a:solidFill>
                        </a:defRPr>
                      </a:pPr>
                      <a:r>
                        <a:t>기본값</a:t>
                      </a:r>
                    </a:p>
                  </a:txBody>
                  <a:tcPr>
                    <a:solidFill>
                      <a:srgbClr val="1B2A4A"/>
                    </a:solidFill>
                  </a:tcPr>
                </a:tc>
                <a:tc>
                  <a:txBody>
                    <a:bodyPr/>
                    <a:lstStyle/>
                    <a:p>
                      <a:pPr algn="ctr">
                        <a:defRPr sz="900" b="1">
                          <a:solidFill>
                            <a:srgbClr val="FFFFFF"/>
                          </a:solidFill>
                        </a:defRPr>
                      </a:pPr>
                      <a:r>
                        <a:t>권장 사항</a:t>
                      </a:r>
                    </a:p>
                  </a:txBody>
                  <a:tcPr>
                    <a:solidFill>
                      <a:srgbClr val="1B2A4A"/>
                    </a:solidFill>
                  </a:tcPr>
                </a:tc>
              </a:tr>
              <a:tr h="274319">
                <a:tc>
                  <a:txBody>
                    <a:bodyPr/>
                    <a:lstStyle/>
                    <a:p>
                      <a:pPr>
                        <a:defRPr sz="800">
                          <a:solidFill>
                            <a:srgbClr val="333333"/>
                          </a:solidFill>
                        </a:defRPr>
                      </a:pPr>
                      <a:r>
                        <a:t>coreThreads</a:t>
                      </a:r>
                    </a:p>
                  </a:txBody>
                  <a:tcPr>
                    <a:solidFill>
                      <a:srgbClr val="FFFFFF"/>
                    </a:solidFill>
                  </a:tcPr>
                </a:tc>
                <a:tc>
                  <a:txBody>
                    <a:bodyPr/>
                    <a:lstStyle/>
                    <a:p>
                      <a:pPr>
                        <a:defRPr sz="800">
                          <a:solidFill>
                            <a:srgbClr val="333333"/>
                          </a:solidFill>
                        </a:defRPr>
                      </a:pPr>
                      <a:r>
                        <a:t>CPUs*2</a:t>
                      </a:r>
                    </a:p>
                  </a:txBody>
                  <a:tcPr>
                    <a:solidFill>
                      <a:srgbClr val="FFFFFF"/>
                    </a:solidFill>
                  </a:tcPr>
                </a:tc>
                <a:tc>
                  <a:txBody>
                    <a:bodyPr/>
                    <a:lstStyle/>
                    <a:p>
                      <a:pPr>
                        <a:defRPr sz="800">
                          <a:solidFill>
                            <a:srgbClr val="333333"/>
                          </a:solidFill>
                        </a:defRPr>
                      </a:pPr>
                      <a:r>
                        <a:t>기본값 권장</a:t>
                      </a:r>
                    </a:p>
                  </a:txBody>
                  <a:tcPr>
                    <a:solidFill>
                      <a:srgbClr val="FFFFFF"/>
                    </a:solidFill>
                  </a:tcPr>
                </a:tc>
              </a:tr>
              <a:tr h="274319">
                <a:tc>
                  <a:txBody>
                    <a:bodyPr/>
                    <a:lstStyle/>
                    <a:p>
                      <a:pPr>
                        <a:defRPr sz="800">
                          <a:solidFill>
                            <a:srgbClr val="333333"/>
                          </a:solidFill>
                        </a:defRPr>
                      </a:pPr>
                      <a:r>
                        <a:t>maxThreads</a:t>
                      </a:r>
                    </a:p>
                  </a:txBody>
                  <a:tcPr>
                    <a:solidFill>
                      <a:srgbClr val="F2F2F2"/>
                    </a:solidFill>
                  </a:tcPr>
                </a:tc>
                <a:tc>
                  <a:txBody>
                    <a:bodyPr/>
                    <a:lstStyle/>
                    <a:p>
                      <a:pPr>
                        <a:defRPr sz="800">
                          <a:solidFill>
                            <a:srgbClr val="333333"/>
                          </a:solidFill>
                        </a:defRPr>
                      </a:pPr>
                      <a:r>
                        <a:t>-1 (자동)</a:t>
                      </a:r>
                    </a:p>
                  </a:txBody>
                  <a:tcPr>
                    <a:solidFill>
                      <a:srgbClr val="F2F2F2"/>
                    </a:solidFill>
                  </a:tcPr>
                </a:tc>
                <a:tc>
                  <a:txBody>
                    <a:bodyPr/>
                    <a:lstStyle/>
                    <a:p>
                      <a:pPr>
                        <a:defRPr sz="800">
                          <a:solidFill>
                            <a:srgbClr val="333333"/>
                          </a:solidFill>
                        </a:defRPr>
                      </a:pPr>
                      <a:r>
                        <a:t>대부분 기본값 권장</a:t>
                      </a:r>
                    </a:p>
                  </a:txBody>
                  <a:tcPr>
                    <a:solidFill>
                      <a:srgbClr val="F2F2F2"/>
                    </a:solidFill>
                  </a:tcPr>
                </a:tc>
              </a:tr>
              <a:tr h="274319">
                <a:tc>
                  <a:txBody>
                    <a:bodyPr/>
                    <a:lstStyle/>
                    <a:p>
                      <a:pPr>
                        <a:defRPr sz="800">
                          <a:solidFill>
                            <a:srgbClr val="333333"/>
                          </a:solidFill>
                        </a:defRPr>
                      </a:pPr>
                      <a:r>
                        <a:t>maxPoolSize</a:t>
                      </a:r>
                    </a:p>
                  </a:txBody>
                  <a:tcPr>
                    <a:solidFill>
                      <a:srgbClr val="FFFFFF"/>
                    </a:solidFill>
                  </a:tcPr>
                </a:tc>
                <a:tc>
                  <a:txBody>
                    <a:bodyPr/>
                    <a:lstStyle/>
                    <a:p>
                      <a:pPr>
                        <a:defRPr sz="800">
                          <a:solidFill>
                            <a:srgbClr val="333333"/>
                          </a:solidFill>
                        </a:defRPr>
                      </a:pPr>
                      <a:r>
                        <a:t>50</a:t>
                      </a:r>
                    </a:p>
                  </a:txBody>
                  <a:tcPr>
                    <a:solidFill>
                      <a:srgbClr val="FFFFFF"/>
                    </a:solidFill>
                  </a:tcPr>
                </a:tc>
                <a:tc>
                  <a:txBody>
                    <a:bodyPr/>
                    <a:lstStyle/>
                    <a:p>
                      <a:pPr>
                        <a:defRPr sz="800">
                          <a:solidFill>
                            <a:srgbClr val="333333"/>
                          </a:solidFill>
                        </a:defRPr>
                      </a:pPr>
                      <a:r>
                        <a:t>coreThreads와 1:1</a:t>
                      </a:r>
                    </a:p>
                  </a:txBody>
                  <a:tcPr>
                    <a:solidFill>
                      <a:srgbClr val="FFFFFF"/>
                    </a:solidFill>
                  </a:tcPr>
                </a:tc>
              </a:tr>
              <a:tr h="274319">
                <a:tc>
                  <a:txBody>
                    <a:bodyPr/>
                    <a:lstStyle/>
                    <a:p>
                      <a:pPr>
                        <a:defRPr sz="800">
                          <a:solidFill>
                            <a:srgbClr val="333333"/>
                          </a:solidFill>
                        </a:defRPr>
                      </a:pPr>
                      <a:r>
                        <a:t>connectionTimeout</a:t>
                      </a:r>
                    </a:p>
                  </a:txBody>
                  <a:tcPr>
                    <a:solidFill>
                      <a:srgbClr val="F2F2F2"/>
                    </a:solidFill>
                  </a:tcPr>
                </a:tc>
                <a:tc>
                  <a:txBody>
                    <a:bodyPr/>
                    <a:lstStyle/>
                    <a:p>
                      <a:pPr>
                        <a:defRPr sz="800">
                          <a:solidFill>
                            <a:srgbClr val="333333"/>
                          </a:solidFill>
                        </a:defRPr>
                      </a:pPr>
                      <a:r>
                        <a:t>30s</a:t>
                      </a:r>
                    </a:p>
                  </a:txBody>
                  <a:tcPr>
                    <a:solidFill>
                      <a:srgbClr val="F2F2F2"/>
                    </a:solidFill>
                  </a:tcPr>
                </a:tc>
                <a:tc>
                  <a:txBody>
                    <a:bodyPr/>
                    <a:lstStyle/>
                    <a:p>
                      <a:pPr>
                        <a:defRPr sz="800">
                          <a:solidFill>
                            <a:srgbClr val="333333"/>
                          </a:solidFill>
                        </a:defRPr>
                      </a:pPr>
                      <a:r>
                        <a:t>기본값 유지</a:t>
                      </a:r>
                    </a:p>
                  </a:txBody>
                  <a:tcPr>
                    <a:solidFill>
                      <a:srgbClr val="F2F2F2"/>
                    </a:solidFill>
                  </a:tcPr>
                </a:tc>
              </a:tr>
              <a:tr h="274324">
                <a:tc>
                  <a:txBody>
                    <a:bodyPr/>
                    <a:lstStyle/>
                    <a:p>
                      <a:pPr>
                        <a:defRPr sz="800">
                          <a:solidFill>
                            <a:srgbClr val="333333"/>
                          </a:solidFill>
                        </a:defRPr>
                      </a:pPr>
                      <a:r>
                        <a:t>purgePolicy</a:t>
                      </a:r>
                    </a:p>
                  </a:txBody>
                  <a:tcPr>
                    <a:solidFill>
                      <a:srgbClr val="FFFFFF"/>
                    </a:solidFill>
                  </a:tcPr>
                </a:tc>
                <a:tc>
                  <a:txBody>
                    <a:bodyPr/>
                    <a:lstStyle/>
                    <a:p>
                      <a:pPr>
                        <a:defRPr sz="800">
                          <a:solidFill>
                            <a:srgbClr val="333333"/>
                          </a:solidFill>
                        </a:defRPr>
                      </a:pPr>
                      <a:r>
                        <a:t>EntirePool</a:t>
                      </a:r>
                    </a:p>
                  </a:txBody>
                  <a:tcPr>
                    <a:solidFill>
                      <a:srgbClr val="FFFFFF"/>
                    </a:solidFill>
                  </a:tcPr>
                </a:tc>
                <a:tc>
                  <a:txBody>
                    <a:bodyPr/>
                    <a:lstStyle/>
                    <a:p>
                      <a:pPr>
                        <a:defRPr sz="800">
                          <a:solidFill>
                            <a:srgbClr val="333333"/>
                          </a:solidFill>
                        </a:defRPr>
                      </a:pPr>
                      <a:r>
                        <a:t>FailingConnectionOnly 권장</a:t>
                      </a:r>
                    </a:p>
                  </a:txBody>
                  <a:tcPr>
                    <a:solidFill>
                      <a:srgbClr val="FFFFFF"/>
                    </a:solidFill>
                  </a:tcPr>
                </a:tc>
              </a:tr>
            </a:tbl>
          </a:graphicData>
        </a:graphic>
      </p:graphicFrame>
      <p:sp>
        <p:nvSpPr>
          <p:cNvPr id="7" name="TextBox 6"/>
          <p:cNvSpPr txBox="1"/>
          <p:nvPr/>
        </p:nvSpPr>
        <p:spPr>
          <a:xfrm>
            <a:off x="457200" y="3474720"/>
            <a:ext cx="10972800" cy="365760"/>
          </a:xfrm>
          <a:prstGeom prst="rect">
            <a:avLst/>
          </a:prstGeom>
          <a:noFill/>
        </p:spPr>
        <p:txBody>
          <a:bodyPr wrap="square">
            <a:spAutoFit/>
          </a:bodyPr>
          <a:lstStyle/>
          <a:p>
            <a:pPr algn="l">
              <a:defRPr sz="1100" b="1">
                <a:solidFill>
                  <a:srgbClr val="006D6F"/>
                </a:solidFill>
              </a:defRPr>
            </a:pPr>
            <a:r>
              <a:t>HikariCP</a:t>
            </a:r>
          </a:p>
        </p:txBody>
      </p:sp>
      <p:graphicFrame>
        <p:nvGraphicFramePr>
          <p:cNvPr id="8" name="Table 7"/>
          <p:cNvGraphicFramePr>
            <a:graphicFrameLocks noGrp="1"/>
          </p:cNvGraphicFramePr>
          <p:nvPr/>
        </p:nvGraphicFramePr>
        <p:xfrm>
          <a:off x="457200" y="3749039"/>
          <a:ext cx="10972800" cy="1371600"/>
        </p:xfrm>
        <a:graphic>
          <a:graphicData uri="http://schemas.openxmlformats.org/drawingml/2006/table">
            <a:tbl>
              <a:tblPr firstRow="1" bandRow="1">
                <a:tableStyleId>{5C22544A-7EE6-4342-B048-85BDC9FD1C3A}</a:tableStyleId>
              </a:tblPr>
              <a:tblGrid>
                <a:gridCol w="2286000"/>
                <a:gridCol w="3657600"/>
                <a:gridCol w="5029200"/>
              </a:tblGrid>
              <a:tr h="274320">
                <a:tc>
                  <a:txBody>
                    <a:bodyPr/>
                    <a:lstStyle/>
                    <a:p>
                      <a:pPr algn="ctr">
                        <a:defRPr sz="900" b="1">
                          <a:solidFill>
                            <a:srgbClr val="FFFFFF"/>
                          </a:solidFill>
                        </a:defRPr>
                      </a:pPr>
                      <a:r>
                        <a:t>파라미터</a:t>
                      </a:r>
                    </a:p>
                  </a:txBody>
                  <a:tcPr>
                    <a:solidFill>
                      <a:srgbClr val="1B2A4A"/>
                    </a:solidFill>
                  </a:tcPr>
                </a:tc>
                <a:tc>
                  <a:txBody>
                    <a:bodyPr/>
                    <a:lstStyle/>
                    <a:p>
                      <a:pPr algn="ctr">
                        <a:defRPr sz="900" b="1">
                          <a:solidFill>
                            <a:srgbClr val="FFFFFF"/>
                          </a:solidFill>
                        </a:defRPr>
                      </a:pPr>
                      <a:r>
                        <a:t>기본값</a:t>
                      </a:r>
                    </a:p>
                  </a:txBody>
                  <a:tcPr>
                    <a:solidFill>
                      <a:srgbClr val="1B2A4A"/>
                    </a:solidFill>
                  </a:tcPr>
                </a:tc>
                <a:tc>
                  <a:txBody>
                    <a:bodyPr/>
                    <a:lstStyle/>
                    <a:p>
                      <a:pPr algn="ctr">
                        <a:defRPr sz="900" b="1">
                          <a:solidFill>
                            <a:srgbClr val="FFFFFF"/>
                          </a:solidFill>
                        </a:defRPr>
                      </a:pPr>
                      <a:r>
                        <a:t>권장 사항</a:t>
                      </a:r>
                    </a:p>
                  </a:txBody>
                  <a:tcPr>
                    <a:solidFill>
                      <a:srgbClr val="1B2A4A"/>
                    </a:solidFill>
                  </a:tcPr>
                </a:tc>
              </a:tr>
              <a:tr h="274320">
                <a:tc>
                  <a:txBody>
                    <a:bodyPr/>
                    <a:lstStyle/>
                    <a:p>
                      <a:pPr>
                        <a:defRPr sz="800">
                          <a:solidFill>
                            <a:srgbClr val="333333"/>
                          </a:solidFill>
                        </a:defRPr>
                      </a:pPr>
                      <a:r>
                        <a:t>maximumPoolSize</a:t>
                      </a:r>
                    </a:p>
                  </a:txBody>
                  <a:tcPr>
                    <a:solidFill>
                      <a:srgbClr val="FFFFFF"/>
                    </a:solidFill>
                  </a:tcPr>
                </a:tc>
                <a:tc>
                  <a:txBody>
                    <a:bodyPr/>
                    <a:lstStyle/>
                    <a:p>
                      <a:pPr>
                        <a:defRPr sz="800">
                          <a:solidFill>
                            <a:srgbClr val="333333"/>
                          </a:solidFill>
                        </a:defRPr>
                      </a:pPr>
                      <a:r>
                        <a:t>10</a:t>
                      </a:r>
                    </a:p>
                  </a:txBody>
                  <a:tcPr>
                    <a:solidFill>
                      <a:srgbClr val="FFFFFF"/>
                    </a:solidFill>
                  </a:tcPr>
                </a:tc>
                <a:tc>
                  <a:txBody>
                    <a:bodyPr/>
                    <a:lstStyle/>
                    <a:p>
                      <a:pPr>
                        <a:defRPr sz="800">
                          <a:solidFill>
                            <a:srgbClr val="333333"/>
                          </a:solidFill>
                        </a:defRPr>
                      </a:pPr>
                      <a:r>
                        <a:t>(core_count*2)+spindle_count</a:t>
                      </a:r>
                    </a:p>
                  </a:txBody>
                  <a:tcPr>
                    <a:solidFill>
                      <a:srgbClr val="FFFFFF"/>
                    </a:solidFill>
                  </a:tcPr>
                </a:tc>
              </a:tr>
              <a:tr h="274320">
                <a:tc>
                  <a:txBody>
                    <a:bodyPr/>
                    <a:lstStyle/>
                    <a:p>
                      <a:pPr>
                        <a:defRPr sz="800">
                          <a:solidFill>
                            <a:srgbClr val="333333"/>
                          </a:solidFill>
                        </a:defRPr>
                      </a:pPr>
                      <a:r>
                        <a:t>minimumIdle</a:t>
                      </a:r>
                    </a:p>
                  </a:txBody>
                  <a:tcPr>
                    <a:solidFill>
                      <a:srgbClr val="F2F2F2"/>
                    </a:solidFill>
                  </a:tcPr>
                </a:tc>
                <a:tc>
                  <a:txBody>
                    <a:bodyPr/>
                    <a:lstStyle/>
                    <a:p>
                      <a:pPr>
                        <a:defRPr sz="800">
                          <a:solidFill>
                            <a:srgbClr val="333333"/>
                          </a:solidFill>
                        </a:defRPr>
                      </a:pPr>
                      <a:r>
                        <a:t>maxPoolSize와 동일</a:t>
                      </a:r>
                    </a:p>
                  </a:txBody>
                  <a:tcPr>
                    <a:solidFill>
                      <a:srgbClr val="F2F2F2"/>
                    </a:solidFill>
                  </a:tcPr>
                </a:tc>
                <a:tc>
                  <a:txBody>
                    <a:bodyPr/>
                    <a:lstStyle/>
                    <a:p>
                      <a:pPr>
                        <a:defRPr sz="800">
                          <a:solidFill>
                            <a:srgbClr val="333333"/>
                          </a:solidFill>
                        </a:defRPr>
                      </a:pPr>
                      <a:r>
                        <a:t>미설정 권장 (fixed-size pool)</a:t>
                      </a:r>
                    </a:p>
                  </a:txBody>
                  <a:tcPr>
                    <a:solidFill>
                      <a:srgbClr val="F2F2F2"/>
                    </a:solidFill>
                  </a:tcPr>
                </a:tc>
              </a:tr>
              <a:tr h="274320">
                <a:tc>
                  <a:txBody>
                    <a:bodyPr/>
                    <a:lstStyle/>
                    <a:p>
                      <a:pPr>
                        <a:defRPr sz="800">
                          <a:solidFill>
                            <a:srgbClr val="333333"/>
                          </a:solidFill>
                        </a:defRPr>
                      </a:pPr>
                      <a:r>
                        <a:t>maxLifetime</a:t>
                      </a:r>
                    </a:p>
                  </a:txBody>
                  <a:tcPr>
                    <a:solidFill>
                      <a:srgbClr val="FFFFFF"/>
                    </a:solidFill>
                  </a:tcPr>
                </a:tc>
                <a:tc>
                  <a:txBody>
                    <a:bodyPr/>
                    <a:lstStyle/>
                    <a:p>
                      <a:pPr>
                        <a:defRPr sz="800">
                          <a:solidFill>
                            <a:srgbClr val="333333"/>
                          </a:solidFill>
                        </a:defRPr>
                      </a:pPr>
                      <a:r>
                        <a:t>1,800,000 ms (30분)</a:t>
                      </a:r>
                    </a:p>
                  </a:txBody>
                  <a:tcPr>
                    <a:solidFill>
                      <a:srgbClr val="FFFFFF"/>
                    </a:solidFill>
                  </a:tcPr>
                </a:tc>
                <a:tc>
                  <a:txBody>
                    <a:bodyPr/>
                    <a:lstStyle/>
                    <a:p>
                      <a:pPr>
                        <a:defRPr sz="800">
                          <a:solidFill>
                            <a:srgbClr val="333333"/>
                          </a:solidFill>
                        </a:defRPr>
                      </a:pPr>
                      <a:r>
                        <a:t>DB wait_timeout보다 몇 초 짧게</a:t>
                      </a:r>
                    </a:p>
                  </a:txBody>
                  <a:tcPr>
                    <a:solidFill>
                      <a:srgbClr val="FFFFFF"/>
                    </a:solidFill>
                  </a:tcPr>
                </a:tc>
              </a:tr>
              <a:tr h="274320">
                <a:tc>
                  <a:txBody>
                    <a:bodyPr/>
                    <a:lstStyle/>
                    <a:p>
                      <a:pPr>
                        <a:defRPr sz="800">
                          <a:solidFill>
                            <a:srgbClr val="333333"/>
                          </a:solidFill>
                        </a:defRPr>
                      </a:pPr>
                      <a:r>
                        <a:t>connectionTimeout</a:t>
                      </a:r>
                    </a:p>
                  </a:txBody>
                  <a:tcPr>
                    <a:solidFill>
                      <a:srgbClr val="F2F2F2"/>
                    </a:solidFill>
                  </a:tcPr>
                </a:tc>
                <a:tc>
                  <a:txBody>
                    <a:bodyPr/>
                    <a:lstStyle/>
                    <a:p>
                      <a:pPr>
                        <a:defRPr sz="800">
                          <a:solidFill>
                            <a:srgbClr val="333333"/>
                          </a:solidFill>
                        </a:defRPr>
                      </a:pPr>
                      <a:r>
                        <a:t>30,000 ms</a:t>
                      </a:r>
                    </a:p>
                  </a:txBody>
                  <a:tcPr>
                    <a:solidFill>
                      <a:srgbClr val="F2F2F2"/>
                    </a:solidFill>
                  </a:tcPr>
                </a:tc>
                <a:tc>
                  <a:txBody>
                    <a:bodyPr/>
                    <a:lstStyle/>
                    <a:p>
                      <a:pPr>
                        <a:defRPr sz="800">
                          <a:solidFill>
                            <a:srgbClr val="333333"/>
                          </a:solidFill>
                        </a:defRPr>
                      </a:pPr>
                      <a:r>
                        <a:t>기본값 유지</a:t>
                      </a:r>
                    </a:p>
                  </a:txBody>
                  <a:tcPr>
                    <a:solidFill>
                      <a:srgbClr val="F2F2F2"/>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square">
            <a:spAutoFit/>
          </a:bodyPr>
          <a:lstStyle/>
          <a:p>
            <a:pPr>
              <a:defRPr sz="2400" b="1">
                <a:solidFill>
                  <a:srgbClr val="1B2A4A"/>
                </a:solidFill>
              </a:defRPr>
            </a:pPr>
            <a:r>
              <a:t>[E-02b] 벤더 권장사양 참조 -- JVM / MongoDB</a:t>
            </a:r>
          </a:p>
        </p:txBody>
      </p:sp>
      <p:sp>
        <p:nvSpPr>
          <p:cNvPr id="3" name="TextBox 2"/>
          <p:cNvSpPr txBox="1"/>
          <p:nvPr/>
        </p:nvSpPr>
        <p:spPr>
          <a:xfrm>
            <a:off x="457200" y="1005840"/>
            <a:ext cx="10972800" cy="365760"/>
          </a:xfrm>
          <a:prstGeom prst="rect">
            <a:avLst/>
          </a:prstGeom>
          <a:noFill/>
        </p:spPr>
        <p:txBody>
          <a:bodyPr wrap="square">
            <a:spAutoFit/>
          </a:bodyPr>
          <a:lstStyle/>
          <a:p>
            <a:pPr algn="l">
              <a:defRPr sz="1100" b="1">
                <a:solidFill>
                  <a:srgbClr val="006D6F"/>
                </a:solidFill>
              </a:defRPr>
            </a:pPr>
            <a:r>
              <a:t>JVM GC 및 메모리</a:t>
            </a:r>
          </a:p>
        </p:txBody>
      </p:sp>
      <p:graphicFrame>
        <p:nvGraphicFramePr>
          <p:cNvPr id="4" name="Table 3"/>
          <p:cNvGraphicFramePr>
            <a:graphicFrameLocks noGrp="1"/>
          </p:cNvGraphicFramePr>
          <p:nvPr/>
        </p:nvGraphicFramePr>
        <p:xfrm>
          <a:off x="457200" y="1280160"/>
          <a:ext cx="10972800" cy="1920240"/>
        </p:xfrm>
        <a:graphic>
          <a:graphicData uri="http://schemas.openxmlformats.org/drawingml/2006/table">
            <a:tbl>
              <a:tblPr firstRow="1" bandRow="1">
                <a:tableStyleId>{5C22544A-7EE6-4342-B048-85BDC9FD1C3A}</a:tableStyleId>
              </a:tblPr>
              <a:tblGrid>
                <a:gridCol w="2286000"/>
                <a:gridCol w="5029200"/>
                <a:gridCol w="3657600"/>
              </a:tblGrid>
              <a:tr h="274320">
                <a:tc>
                  <a:txBody>
                    <a:bodyPr/>
                    <a:lstStyle/>
                    <a:p>
                      <a:pPr algn="ctr">
                        <a:defRPr sz="900" b="1">
                          <a:solidFill>
                            <a:srgbClr val="FFFFFF"/>
                          </a:solidFill>
                        </a:defRPr>
                      </a:pPr>
                      <a:r>
                        <a:t>항목</a:t>
                      </a:r>
                    </a:p>
                  </a:txBody>
                  <a:tcPr>
                    <a:solidFill>
                      <a:srgbClr val="1B2A4A"/>
                    </a:solidFill>
                  </a:tcPr>
                </a:tc>
                <a:tc>
                  <a:txBody>
                    <a:bodyPr/>
                    <a:lstStyle/>
                    <a:p>
                      <a:pPr algn="ctr">
                        <a:defRPr sz="900" b="1">
                          <a:solidFill>
                            <a:srgbClr val="FFFFFF"/>
                          </a:solidFill>
                        </a:defRPr>
                      </a:pPr>
                      <a:r>
                        <a:t>권장 사항</a:t>
                      </a:r>
                    </a:p>
                  </a:txBody>
                  <a:tcPr>
                    <a:solidFill>
                      <a:srgbClr val="1B2A4A"/>
                    </a:solidFill>
                  </a:tcPr>
                </a:tc>
                <a:tc>
                  <a:txBody>
                    <a:bodyPr/>
                    <a:lstStyle/>
                    <a:p>
                      <a:pPr algn="ctr">
                        <a:defRPr sz="900" b="1">
                          <a:solidFill>
                            <a:srgbClr val="FFFFFF"/>
                          </a:solidFill>
                        </a:defRPr>
                      </a:pPr>
                      <a:r>
                        <a:t>출처</a:t>
                      </a:r>
                    </a:p>
                  </a:txBody>
                  <a:tcPr>
                    <a:solidFill>
                      <a:srgbClr val="1B2A4A"/>
                    </a:solidFill>
                  </a:tcPr>
                </a:tc>
              </a:tr>
              <a:tr h="274320">
                <a:tc>
                  <a:txBody>
                    <a:bodyPr/>
                    <a:lstStyle/>
                    <a:p>
                      <a:pPr>
                        <a:defRPr sz="800">
                          <a:solidFill>
                            <a:srgbClr val="333333"/>
                          </a:solidFill>
                        </a:defRPr>
                      </a:pPr>
                      <a:r>
                        <a:t>GC (웹 서비스)</a:t>
                      </a:r>
                    </a:p>
                  </a:txBody>
                  <a:tcPr>
                    <a:solidFill>
                      <a:srgbClr val="FFFFFF"/>
                    </a:solidFill>
                  </a:tcPr>
                </a:tc>
                <a:tc>
                  <a:txBody>
                    <a:bodyPr/>
                    <a:lstStyle/>
                    <a:p>
                      <a:pPr>
                        <a:defRPr sz="800">
                          <a:solidFill>
                            <a:srgbClr val="333333"/>
                          </a:solidFill>
                        </a:defRPr>
                      </a:pPr>
                      <a:r>
                        <a:t>G1 GC (Java 9+ 기본), pause 50~200ms</a:t>
                      </a:r>
                    </a:p>
                  </a:txBody>
                  <a:tcPr>
                    <a:solidFill>
                      <a:srgbClr val="FFFFFF"/>
                    </a:solidFill>
                  </a:tcPr>
                </a:tc>
                <a:tc>
                  <a:txBody>
                    <a:bodyPr/>
                    <a:lstStyle/>
                    <a:p>
                      <a:pPr>
                        <a:defRPr sz="800">
                          <a:solidFill>
                            <a:srgbClr val="333333"/>
                          </a:solidFill>
                        </a:defRPr>
                      </a:pPr>
                      <a:r>
                        <a:t>Oracle/OpenJDK</a:t>
                      </a:r>
                    </a:p>
                  </a:txBody>
                  <a:tcPr>
                    <a:solidFill>
                      <a:srgbClr val="FFFFFF"/>
                    </a:solidFill>
                  </a:tcPr>
                </a:tc>
              </a:tr>
              <a:tr h="274320">
                <a:tc>
                  <a:txBody>
                    <a:bodyPr/>
                    <a:lstStyle/>
                    <a:p>
                      <a:pPr>
                        <a:defRPr sz="800">
                          <a:solidFill>
                            <a:srgbClr val="333333"/>
                          </a:solidFill>
                        </a:defRPr>
                      </a:pPr>
                      <a:r>
                        <a:t>GC (배치/ETL)</a:t>
                      </a:r>
                    </a:p>
                  </a:txBody>
                  <a:tcPr>
                    <a:solidFill>
                      <a:srgbClr val="F2F2F2"/>
                    </a:solidFill>
                  </a:tcPr>
                </a:tc>
                <a:tc>
                  <a:txBody>
                    <a:bodyPr/>
                    <a:lstStyle/>
                    <a:p>
                      <a:pPr>
                        <a:defRPr sz="800">
                          <a:solidFill>
                            <a:srgbClr val="333333"/>
                          </a:solidFill>
                        </a:defRPr>
                      </a:pPr>
                      <a:r>
                        <a:t>Parallel GC (웹 서비스 비권장)</a:t>
                      </a:r>
                    </a:p>
                  </a:txBody>
                  <a:tcPr>
                    <a:solidFill>
                      <a:srgbClr val="F2F2F2"/>
                    </a:solidFill>
                  </a:tcPr>
                </a:tc>
                <a:tc>
                  <a:txBody>
                    <a:bodyPr/>
                    <a:lstStyle/>
                    <a:p>
                      <a:pPr>
                        <a:defRPr sz="800">
                          <a:solidFill>
                            <a:srgbClr val="333333"/>
                          </a:solidFill>
                        </a:defRPr>
                      </a:pPr>
                      <a:r>
                        <a:t>Oracle/OpenJDK</a:t>
                      </a:r>
                    </a:p>
                  </a:txBody>
                  <a:tcPr>
                    <a:solidFill>
                      <a:srgbClr val="F2F2F2"/>
                    </a:solidFill>
                  </a:tcPr>
                </a:tc>
              </a:tr>
              <a:tr h="274320">
                <a:tc>
                  <a:txBody>
                    <a:bodyPr/>
                    <a:lstStyle/>
                    <a:p>
                      <a:pPr>
                        <a:defRPr sz="800">
                          <a:solidFill>
                            <a:srgbClr val="333333"/>
                          </a:solidFill>
                        </a:defRPr>
                      </a:pPr>
                      <a:r>
                        <a:t>Heap</a:t>
                      </a:r>
                    </a:p>
                  </a:txBody>
                  <a:tcPr>
                    <a:solidFill>
                      <a:srgbClr val="FFFFFF"/>
                    </a:solidFill>
                  </a:tcPr>
                </a:tc>
                <a:tc>
                  <a:txBody>
                    <a:bodyPr/>
                    <a:lstStyle/>
                    <a:p>
                      <a:pPr>
                        <a:defRPr sz="800">
                          <a:solidFill>
                            <a:srgbClr val="333333"/>
                          </a:solidFill>
                        </a:defRPr>
                      </a:pPr>
                      <a:r>
                        <a:t>Xms=Xmx 고정, 컨테이너 메모리 50~70%</a:t>
                      </a:r>
                    </a:p>
                  </a:txBody>
                  <a:tcPr>
                    <a:solidFill>
                      <a:srgbClr val="FFFFFF"/>
                    </a:solidFill>
                  </a:tcPr>
                </a:tc>
                <a:tc>
                  <a:txBody>
                    <a:bodyPr/>
                    <a:lstStyle/>
                    <a:p>
                      <a:pPr>
                        <a:defRPr sz="800">
                          <a:solidFill>
                            <a:srgbClr val="333333"/>
                          </a:solidFill>
                        </a:defRPr>
                      </a:pPr>
                      <a:r>
                        <a:t>JVM 튜닝 가이드</a:t>
                      </a:r>
                    </a:p>
                  </a:txBody>
                  <a:tcPr>
                    <a:solidFill>
                      <a:srgbClr val="FFFFFF"/>
                    </a:solidFill>
                  </a:tcPr>
                </a:tc>
              </a:tr>
              <a:tr h="274320">
                <a:tc>
                  <a:txBody>
                    <a:bodyPr/>
                    <a:lstStyle/>
                    <a:p>
                      <a:pPr>
                        <a:defRPr sz="800">
                          <a:solidFill>
                            <a:srgbClr val="333333"/>
                          </a:solidFill>
                        </a:defRPr>
                      </a:pPr>
                      <a:r>
                        <a:t>Old Gen 경고</a:t>
                      </a:r>
                    </a:p>
                  </a:txBody>
                  <a:tcPr>
                    <a:solidFill>
                      <a:srgbClr val="F2F2F2"/>
                    </a:solidFill>
                  </a:tcPr>
                </a:tc>
                <a:tc>
                  <a:txBody>
                    <a:bodyPr/>
                    <a:lstStyle/>
                    <a:p>
                      <a:pPr>
                        <a:defRPr sz="800">
                          <a:solidFill>
                            <a:srgbClr val="333333"/>
                          </a:solidFill>
                        </a:defRPr>
                      </a:pPr>
                      <a:r>
                        <a:t>70~80% 경고, 90% 이상 즉각 조치</a:t>
                      </a:r>
                    </a:p>
                  </a:txBody>
                  <a:tcPr>
                    <a:solidFill>
                      <a:srgbClr val="F2F2F2"/>
                    </a:solidFill>
                  </a:tcPr>
                </a:tc>
                <a:tc>
                  <a:txBody>
                    <a:bodyPr/>
                    <a:lstStyle/>
                    <a:p>
                      <a:pPr>
                        <a:defRPr sz="800">
                          <a:solidFill>
                            <a:srgbClr val="333333"/>
                          </a:solidFill>
                        </a:defRPr>
                      </a:pPr>
                      <a:r>
                        <a:t>JVM 모니터링 권고</a:t>
                      </a:r>
                    </a:p>
                  </a:txBody>
                  <a:tcPr>
                    <a:solidFill>
                      <a:srgbClr val="F2F2F2"/>
                    </a:solidFill>
                  </a:tcPr>
                </a:tc>
              </a:tr>
              <a:tr h="274320">
                <a:tc>
                  <a:txBody>
                    <a:bodyPr/>
                    <a:lstStyle/>
                    <a:p>
                      <a:pPr>
                        <a:defRPr sz="800">
                          <a:solidFill>
                            <a:srgbClr val="333333"/>
                          </a:solidFill>
                        </a:defRPr>
                      </a:pPr>
                      <a:r>
                        <a:t>Metaspace Min</a:t>
                      </a:r>
                    </a:p>
                  </a:txBody>
                  <a:tcPr>
                    <a:solidFill>
                      <a:srgbClr val="FFFFFF"/>
                    </a:solidFill>
                  </a:tcPr>
                </a:tc>
                <a:tc>
                  <a:txBody>
                    <a:bodyPr/>
                    <a:lstStyle/>
                    <a:p>
                      <a:pPr>
                        <a:defRPr sz="800">
                          <a:solidFill>
                            <a:srgbClr val="333333"/>
                          </a:solidFill>
                        </a:defRPr>
                      </a:pPr>
                      <a:r>
                        <a:t>256m (Spring Boot/대규모 앱)</a:t>
                      </a:r>
                    </a:p>
                  </a:txBody>
                  <a:tcPr>
                    <a:solidFill>
                      <a:srgbClr val="FFFFFF"/>
                    </a:solidFill>
                  </a:tcPr>
                </a:tc>
                <a:tc>
                  <a:txBody>
                    <a:bodyPr/>
                    <a:lstStyle/>
                    <a:p>
                      <a:pPr>
                        <a:defRPr sz="800">
                          <a:solidFill>
                            <a:srgbClr val="333333"/>
                          </a:solidFill>
                        </a:defRPr>
                      </a:pPr>
                      <a:r>
                        <a:t>실무 권장</a:t>
                      </a:r>
                    </a:p>
                  </a:txBody>
                  <a:tcPr>
                    <a:solidFill>
                      <a:srgbClr val="FFFFFF"/>
                    </a:solidFill>
                  </a:tcPr>
                </a:tc>
              </a:tr>
              <a:tr h="274320">
                <a:tc>
                  <a:txBody>
                    <a:bodyPr/>
                    <a:lstStyle/>
                    <a:p>
                      <a:pPr>
                        <a:defRPr sz="800">
                          <a:solidFill>
                            <a:srgbClr val="333333"/>
                          </a:solidFill>
                        </a:defRPr>
                      </a:pPr>
                      <a:r>
                        <a:t>Metaspace Max</a:t>
                      </a:r>
                    </a:p>
                  </a:txBody>
                  <a:tcPr>
                    <a:solidFill>
                      <a:srgbClr val="F2F2F2"/>
                    </a:solidFill>
                  </a:tcPr>
                </a:tc>
                <a:tc>
                  <a:txBody>
                    <a:bodyPr/>
                    <a:lstStyle/>
                    <a:p>
                      <a:pPr>
                        <a:defRPr sz="800">
                          <a:solidFill>
                            <a:srgbClr val="333333"/>
                          </a:solidFill>
                        </a:defRPr>
                      </a:pPr>
                      <a:r>
                        <a:t>512m 이상 또는 미설정(무제한)</a:t>
                      </a:r>
                    </a:p>
                  </a:txBody>
                  <a:tcPr>
                    <a:solidFill>
                      <a:srgbClr val="F2F2F2"/>
                    </a:solidFill>
                  </a:tcPr>
                </a:tc>
                <a:tc>
                  <a:txBody>
                    <a:bodyPr/>
                    <a:lstStyle/>
                    <a:p>
                      <a:pPr>
                        <a:defRPr sz="800">
                          <a:solidFill>
                            <a:srgbClr val="333333"/>
                          </a:solidFill>
                        </a:defRPr>
                      </a:pPr>
                      <a:r>
                        <a:t>실무 권장</a:t>
                      </a:r>
                    </a:p>
                  </a:txBody>
                  <a:tcPr>
                    <a:solidFill>
                      <a:srgbClr val="F2F2F2"/>
                    </a:solidFill>
                  </a:tcPr>
                </a:tc>
              </a:tr>
            </a:tbl>
          </a:graphicData>
        </a:graphic>
      </p:graphicFrame>
      <p:sp>
        <p:nvSpPr>
          <p:cNvPr id="5" name="TextBox 4"/>
          <p:cNvSpPr txBox="1"/>
          <p:nvPr/>
        </p:nvSpPr>
        <p:spPr>
          <a:xfrm>
            <a:off x="457200" y="3474720"/>
            <a:ext cx="10972800" cy="365760"/>
          </a:xfrm>
          <a:prstGeom prst="rect">
            <a:avLst/>
          </a:prstGeom>
          <a:noFill/>
        </p:spPr>
        <p:txBody>
          <a:bodyPr wrap="square">
            <a:spAutoFit/>
          </a:bodyPr>
          <a:lstStyle/>
          <a:p>
            <a:pPr algn="l">
              <a:defRPr sz="1100" b="1">
                <a:solidFill>
                  <a:srgbClr val="006D6F"/>
                </a:solidFill>
              </a:defRPr>
            </a:pPr>
            <a:r>
              <a:t>MongoDB Replica Set</a:t>
            </a:r>
          </a:p>
        </p:txBody>
      </p:sp>
      <p:graphicFrame>
        <p:nvGraphicFramePr>
          <p:cNvPr id="6" name="Table 5"/>
          <p:cNvGraphicFramePr>
            <a:graphicFrameLocks noGrp="1"/>
          </p:cNvGraphicFramePr>
          <p:nvPr/>
        </p:nvGraphicFramePr>
        <p:xfrm>
          <a:off x="457200" y="3749039"/>
          <a:ext cx="10972800" cy="1371600"/>
        </p:xfrm>
        <a:graphic>
          <a:graphicData uri="http://schemas.openxmlformats.org/drawingml/2006/table">
            <a:tbl>
              <a:tblPr firstRow="1" bandRow="1">
                <a:tableStyleId>{5C22544A-7EE6-4342-B048-85BDC9FD1C3A}</a:tableStyleId>
              </a:tblPr>
              <a:tblGrid>
                <a:gridCol w="2286000"/>
                <a:gridCol w="8686800"/>
              </a:tblGrid>
              <a:tr h="274320">
                <a:tc>
                  <a:txBody>
                    <a:bodyPr/>
                    <a:lstStyle/>
                    <a:p>
                      <a:pPr algn="ctr">
                        <a:defRPr sz="900" b="1">
                          <a:solidFill>
                            <a:srgbClr val="FFFFFF"/>
                          </a:solidFill>
                        </a:defRPr>
                      </a:pPr>
                      <a:r>
                        <a:t>항목</a:t>
                      </a:r>
                    </a:p>
                  </a:txBody>
                  <a:tcPr>
                    <a:solidFill>
                      <a:srgbClr val="1B2A4A"/>
                    </a:solidFill>
                  </a:tcPr>
                </a:tc>
                <a:tc>
                  <a:txBody>
                    <a:bodyPr/>
                    <a:lstStyle/>
                    <a:p>
                      <a:pPr algn="ctr">
                        <a:defRPr sz="900" b="1">
                          <a:solidFill>
                            <a:srgbClr val="FFFFFF"/>
                          </a:solidFill>
                        </a:defRPr>
                      </a:pPr>
                      <a:r>
                        <a:t>권장 사항</a:t>
                      </a:r>
                    </a:p>
                  </a:txBody>
                  <a:tcPr>
                    <a:solidFill>
                      <a:srgbClr val="1B2A4A"/>
                    </a:solidFill>
                  </a:tcPr>
                </a:tc>
              </a:tr>
              <a:tr h="274320">
                <a:tc>
                  <a:txBody>
                    <a:bodyPr/>
                    <a:lstStyle/>
                    <a:p>
                      <a:pPr>
                        <a:defRPr sz="800">
                          <a:solidFill>
                            <a:srgbClr val="333333"/>
                          </a:solidFill>
                        </a:defRPr>
                      </a:pPr>
                      <a:r>
                        <a:t>COLLSCAN 감지</a:t>
                      </a:r>
                    </a:p>
                  </a:txBody>
                  <a:tcPr>
                    <a:solidFill>
                      <a:srgbClr val="FFFFFF"/>
                    </a:solidFill>
                  </a:tcPr>
                </a:tc>
                <a:tc>
                  <a:txBody>
                    <a:bodyPr/>
                    <a:lstStyle/>
                    <a:p>
                      <a:pPr>
                        <a:defRPr sz="800">
                          <a:solidFill>
                            <a:srgbClr val="333333"/>
                          </a:solidFill>
                        </a:defRPr>
                      </a:pPr>
                      <a:r>
                        <a:t>db.setProfilingLevel(1, {slowms: 100})</a:t>
                      </a:r>
                    </a:p>
                  </a:txBody>
                  <a:tcPr>
                    <a:solidFill>
                      <a:srgbClr val="FFFFFF"/>
                    </a:solidFill>
                  </a:tcPr>
                </a:tc>
              </a:tr>
              <a:tr h="274320">
                <a:tc>
                  <a:txBody>
                    <a:bodyPr/>
                    <a:lstStyle/>
                    <a:p>
                      <a:pPr>
                        <a:defRPr sz="800">
                          <a:solidFill>
                            <a:srgbClr val="333333"/>
                          </a:solidFill>
                        </a:defRPr>
                      </a:pPr>
                      <a:r>
                        <a:t>인덱스 전략</a:t>
                      </a:r>
                    </a:p>
                  </a:txBody>
                  <a:tcPr>
                    <a:solidFill>
                      <a:srgbClr val="F2F2F2"/>
                    </a:solidFill>
                  </a:tcPr>
                </a:tc>
                <a:tc>
                  <a:txBody>
                    <a:bodyPr/>
                    <a:lstStyle/>
                    <a:p>
                      <a:pPr>
                        <a:defRPr sz="800">
                          <a:solidFill>
                            <a:srgbClr val="333333"/>
                          </a:solidFill>
                        </a:defRPr>
                      </a:pPr>
                      <a:r>
                        <a:t>ESR 규칙 (Equality, Sort, Range 순서)</a:t>
                      </a:r>
                    </a:p>
                  </a:txBody>
                  <a:tcPr>
                    <a:solidFill>
                      <a:srgbClr val="F2F2F2"/>
                    </a:solidFill>
                  </a:tcPr>
                </a:tc>
              </a:tr>
              <a:tr h="274320">
                <a:tc>
                  <a:txBody>
                    <a:bodyPr/>
                    <a:lstStyle/>
                    <a:p>
                      <a:pPr>
                        <a:defRPr sz="800">
                          <a:solidFill>
                            <a:srgbClr val="333333"/>
                          </a:solidFill>
                        </a:defRPr>
                      </a:pPr>
                      <a:r>
                        <a:t>Read Preference</a:t>
                      </a:r>
                    </a:p>
                  </a:txBody>
                  <a:tcPr>
                    <a:solidFill>
                      <a:srgbClr val="FFFFFF"/>
                    </a:solidFill>
                  </a:tcPr>
                </a:tc>
                <a:tc>
                  <a:txBody>
                    <a:bodyPr/>
                    <a:lstStyle/>
                    <a:p>
                      <a:pPr>
                        <a:defRPr sz="800">
                          <a:solidFill>
                            <a:srgbClr val="333333"/>
                          </a:solidFill>
                        </a:defRPr>
                      </a:pPr>
                      <a:r>
                        <a:t>Read 비중 높을 시 secondaryPreferred</a:t>
                      </a:r>
                    </a:p>
                  </a:txBody>
                  <a:tcPr>
                    <a:solidFill>
                      <a:srgbClr val="FFFFFF"/>
                    </a:solidFill>
                  </a:tcPr>
                </a:tc>
              </a:tr>
              <a:tr h="274320">
                <a:tc>
                  <a:txBody>
                    <a:bodyPr/>
                    <a:lstStyle/>
                    <a:p>
                      <a:pPr>
                        <a:defRPr sz="800">
                          <a:solidFill>
                            <a:srgbClr val="333333"/>
                          </a:solidFill>
                        </a:defRPr>
                      </a:pPr>
                      <a:r>
                        <a:t>Write Concern</a:t>
                      </a:r>
                    </a:p>
                  </a:txBody>
                  <a:tcPr>
                    <a:solidFill>
                      <a:srgbClr val="F2F2F2"/>
                    </a:solidFill>
                  </a:tcPr>
                </a:tc>
                <a:tc>
                  <a:txBody>
                    <a:bodyPr/>
                    <a:lstStyle/>
                    <a:p>
                      <a:pPr>
                        <a:defRPr sz="800">
                          <a:solidFill>
                            <a:srgbClr val="333333"/>
                          </a:solidFill>
                        </a:defRPr>
                      </a:pPr>
                      <a:r>
                        <a:t>RTO/RPO 요구 시 w:majority</a:t>
                      </a:r>
                    </a:p>
                  </a:txBody>
                  <a:tcPr>
                    <a:solidFill>
                      <a:srgbClr val="F2F2F2"/>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548640"/>
          </a:xfrm>
          <a:prstGeom prst="rect">
            <a:avLst/>
          </a:prstGeom>
          <a:noFill/>
        </p:spPr>
        <p:txBody>
          <a:bodyPr wrap="square">
            <a:spAutoFit/>
          </a:bodyPr>
          <a:lstStyle/>
          <a:p>
            <a:pPr>
              <a:defRPr sz="2400" b="1">
                <a:solidFill>
                  <a:srgbClr val="1B2A4A"/>
                </a:solidFill>
              </a:defRPr>
            </a:pPr>
            <a:r>
              <a:t>[E-03] 용어 정리 (Glossary)</a:t>
            </a:r>
          </a:p>
        </p:txBody>
      </p:sp>
      <p:graphicFrame>
        <p:nvGraphicFramePr>
          <p:cNvPr id="3" name="Table 2"/>
          <p:cNvGraphicFramePr>
            <a:graphicFrameLocks noGrp="1"/>
          </p:cNvGraphicFramePr>
          <p:nvPr/>
        </p:nvGraphicFramePr>
        <p:xfrm>
          <a:off x="457200" y="1005840"/>
          <a:ext cx="10972800" cy="5760720"/>
        </p:xfrm>
        <a:graphic>
          <a:graphicData uri="http://schemas.openxmlformats.org/drawingml/2006/table">
            <a:tbl>
              <a:tblPr firstRow="1" bandRow="1">
                <a:tableStyleId>{5C22544A-7EE6-4342-B048-85BDC9FD1C3A}</a:tableStyleId>
              </a:tblPr>
              <a:tblGrid>
                <a:gridCol w="1645920"/>
                <a:gridCol w="2743200"/>
                <a:gridCol w="6583680"/>
              </a:tblGrid>
              <a:tr h="274320">
                <a:tc>
                  <a:txBody>
                    <a:bodyPr/>
                    <a:lstStyle/>
                    <a:p>
                      <a:pPr algn="ctr">
                        <a:defRPr sz="900" b="1">
                          <a:solidFill>
                            <a:srgbClr val="FFFFFF"/>
                          </a:solidFill>
                        </a:defRPr>
                      </a:pPr>
                      <a:r>
                        <a:t>용어</a:t>
                      </a:r>
                    </a:p>
                  </a:txBody>
                  <a:tcPr>
                    <a:solidFill>
                      <a:srgbClr val="1B2A4A"/>
                    </a:solidFill>
                  </a:tcPr>
                </a:tc>
                <a:tc>
                  <a:txBody>
                    <a:bodyPr/>
                    <a:lstStyle/>
                    <a:p>
                      <a:pPr algn="ctr">
                        <a:defRPr sz="900" b="1">
                          <a:solidFill>
                            <a:srgbClr val="FFFFFF"/>
                          </a:solidFill>
                        </a:defRPr>
                      </a:pPr>
                      <a:r>
                        <a:t>영문</a:t>
                      </a:r>
                    </a:p>
                  </a:txBody>
                  <a:tcPr>
                    <a:solidFill>
                      <a:srgbClr val="1B2A4A"/>
                    </a:solidFill>
                  </a:tcPr>
                </a:tc>
                <a:tc>
                  <a:txBody>
                    <a:bodyPr/>
                    <a:lstStyle/>
                    <a:p>
                      <a:pPr algn="ctr">
                        <a:defRPr sz="900" b="1">
                          <a:solidFill>
                            <a:srgbClr val="FFFFFF"/>
                          </a:solidFill>
                        </a:defRPr>
                      </a:pPr>
                      <a:r>
                        <a:t>정의</a:t>
                      </a:r>
                    </a:p>
                  </a:txBody>
                  <a:tcPr>
                    <a:solidFill>
                      <a:srgbClr val="1B2A4A"/>
                    </a:solidFill>
                  </a:tcPr>
                </a:tc>
              </a:tr>
              <a:tr h="274320">
                <a:tc>
                  <a:txBody>
                    <a:bodyPr/>
                    <a:lstStyle/>
                    <a:p>
                      <a:pPr>
                        <a:defRPr sz="800">
                          <a:solidFill>
                            <a:srgbClr val="333333"/>
                          </a:solidFill>
                        </a:defRPr>
                      </a:pPr>
                      <a:r>
                        <a:t>GC</a:t>
                      </a:r>
                    </a:p>
                  </a:txBody>
                  <a:tcPr>
                    <a:solidFill>
                      <a:srgbClr val="FFFFFF"/>
                    </a:solidFill>
                  </a:tcPr>
                </a:tc>
                <a:tc>
                  <a:txBody>
                    <a:bodyPr/>
                    <a:lstStyle/>
                    <a:p>
                      <a:pPr>
                        <a:defRPr sz="800">
                          <a:solidFill>
                            <a:srgbClr val="333333"/>
                          </a:solidFill>
                        </a:defRPr>
                      </a:pPr>
                      <a:r>
                        <a:t>Garbage Collection</a:t>
                      </a:r>
                    </a:p>
                  </a:txBody>
                  <a:tcPr>
                    <a:solidFill>
                      <a:srgbClr val="FFFFFF"/>
                    </a:solidFill>
                  </a:tcPr>
                </a:tc>
                <a:tc>
                  <a:txBody>
                    <a:bodyPr/>
                    <a:lstStyle/>
                    <a:p>
                      <a:pPr>
                        <a:defRPr sz="800">
                          <a:solidFill>
                            <a:srgbClr val="333333"/>
                          </a:solidFill>
                        </a:defRPr>
                      </a:pPr>
                      <a:r>
                        <a:t>JVM 미사용 메모리 자동 회수 메커니즘</a:t>
                      </a:r>
                    </a:p>
                  </a:txBody>
                  <a:tcPr>
                    <a:solidFill>
                      <a:srgbClr val="FFFFFF"/>
                    </a:solidFill>
                  </a:tcPr>
                </a:tc>
              </a:tr>
              <a:tr h="274320">
                <a:tc>
                  <a:txBody>
                    <a:bodyPr/>
                    <a:lstStyle/>
                    <a:p>
                      <a:pPr>
                        <a:defRPr sz="800">
                          <a:solidFill>
                            <a:srgbClr val="333333"/>
                          </a:solidFill>
                        </a:defRPr>
                      </a:pPr>
                      <a:r>
                        <a:t>G1 GC</a:t>
                      </a:r>
                    </a:p>
                  </a:txBody>
                  <a:tcPr>
                    <a:solidFill>
                      <a:srgbClr val="F2F2F2"/>
                    </a:solidFill>
                  </a:tcPr>
                </a:tc>
                <a:tc>
                  <a:txBody>
                    <a:bodyPr/>
                    <a:lstStyle/>
                    <a:p>
                      <a:pPr>
                        <a:defRPr sz="800">
                          <a:solidFill>
                            <a:srgbClr val="333333"/>
                          </a:solidFill>
                        </a:defRPr>
                      </a:pPr>
                      <a:r>
                        <a:t>Garbage-First GC</a:t>
                      </a:r>
                    </a:p>
                  </a:txBody>
                  <a:tcPr>
                    <a:solidFill>
                      <a:srgbClr val="F2F2F2"/>
                    </a:solidFill>
                  </a:tcPr>
                </a:tc>
                <a:tc>
                  <a:txBody>
                    <a:bodyPr/>
                    <a:lstStyle/>
                    <a:p>
                      <a:pPr>
                        <a:defRPr sz="800" b="1">
                          <a:solidFill>
                            <a:srgbClr val="006600"/>
                          </a:solidFill>
                        </a:defRPr>
                      </a:pPr>
                      <a:r>
                        <a:t>Java 9+ 기본. Region 기반. 웹 서비스에 적합</a:t>
                      </a:r>
                    </a:p>
                  </a:txBody>
                  <a:tcPr>
                    <a:solidFill>
                      <a:srgbClr val="F2F2F2"/>
                    </a:solidFill>
                  </a:tcPr>
                </a:tc>
              </a:tr>
              <a:tr h="274320">
                <a:tc>
                  <a:txBody>
                    <a:bodyPr/>
                    <a:lstStyle/>
                    <a:p>
                      <a:pPr>
                        <a:defRPr sz="800">
                          <a:solidFill>
                            <a:srgbClr val="333333"/>
                          </a:solidFill>
                        </a:defRPr>
                      </a:pPr>
                      <a:r>
                        <a:t>Parallel GC</a:t>
                      </a:r>
                    </a:p>
                  </a:txBody>
                  <a:tcPr>
                    <a:solidFill>
                      <a:srgbClr val="FFFFFF"/>
                    </a:solidFill>
                  </a:tcPr>
                </a:tc>
                <a:tc>
                  <a:txBody>
                    <a:bodyPr/>
                    <a:lstStyle/>
                    <a:p>
                      <a:pPr>
                        <a:defRPr sz="800">
                          <a:solidFill>
                            <a:srgbClr val="333333"/>
                          </a:solidFill>
                        </a:defRPr>
                      </a:pPr>
                      <a:r>
                        <a:t>Parallel GC</a:t>
                      </a:r>
                    </a:p>
                  </a:txBody>
                  <a:tcPr>
                    <a:solidFill>
                      <a:srgbClr val="FFFFFF"/>
                    </a:solidFill>
                  </a:tcPr>
                </a:tc>
                <a:tc>
                  <a:txBody>
                    <a:bodyPr/>
                    <a:lstStyle/>
                    <a:p>
                      <a:pPr>
                        <a:defRPr sz="800">
                          <a:solidFill>
                            <a:srgbClr val="333333"/>
                          </a:solidFill>
                        </a:defRPr>
                      </a:pPr>
                      <a:r>
                        <a:t>Full GC 시 단일 스레드 STW. 배치/ETL 전용</a:t>
                      </a:r>
                    </a:p>
                  </a:txBody>
                  <a:tcPr>
                    <a:solidFill>
                      <a:srgbClr val="FFFFFF"/>
                    </a:solidFill>
                  </a:tcPr>
                </a:tc>
              </a:tr>
              <a:tr h="274320">
                <a:tc>
                  <a:txBody>
                    <a:bodyPr/>
                    <a:lstStyle/>
                    <a:p>
                      <a:pPr>
                        <a:defRPr sz="800">
                          <a:solidFill>
                            <a:srgbClr val="333333"/>
                          </a:solidFill>
                        </a:defRPr>
                      </a:pPr>
                      <a:r>
                        <a:t>STW</a:t>
                      </a:r>
                    </a:p>
                  </a:txBody>
                  <a:tcPr>
                    <a:solidFill>
                      <a:srgbClr val="F2F2F2"/>
                    </a:solidFill>
                  </a:tcPr>
                </a:tc>
                <a:tc>
                  <a:txBody>
                    <a:bodyPr/>
                    <a:lstStyle/>
                    <a:p>
                      <a:pPr>
                        <a:defRPr sz="800">
                          <a:solidFill>
                            <a:srgbClr val="333333"/>
                          </a:solidFill>
                        </a:defRPr>
                      </a:pPr>
                      <a:r>
                        <a:t>Stop-The-World</a:t>
                      </a:r>
                    </a:p>
                  </a:txBody>
                  <a:tcPr>
                    <a:solidFill>
                      <a:srgbClr val="F2F2F2"/>
                    </a:solidFill>
                  </a:tcPr>
                </a:tc>
                <a:tc>
                  <a:txBody>
                    <a:bodyPr/>
                    <a:lstStyle/>
                    <a:p>
                      <a:pPr>
                        <a:defRPr sz="800">
                          <a:solidFill>
                            <a:srgbClr val="333333"/>
                          </a:solidFill>
                        </a:defRPr>
                      </a:pPr>
                      <a:r>
                        <a:t>GC 수행 중 애플리케이션 스레드 일시 중단</a:t>
                      </a:r>
                    </a:p>
                  </a:txBody>
                  <a:tcPr>
                    <a:solidFill>
                      <a:srgbClr val="F2F2F2"/>
                    </a:solidFill>
                  </a:tcPr>
                </a:tc>
              </a:tr>
              <a:tr h="274320">
                <a:tc>
                  <a:txBody>
                    <a:bodyPr/>
                    <a:lstStyle/>
                    <a:p>
                      <a:pPr>
                        <a:defRPr sz="800">
                          <a:solidFill>
                            <a:srgbClr val="333333"/>
                          </a:solidFill>
                        </a:defRPr>
                      </a:pPr>
                      <a:r>
                        <a:t>Full GC</a:t>
                      </a:r>
                    </a:p>
                  </a:txBody>
                  <a:tcPr>
                    <a:solidFill>
                      <a:srgbClr val="FFFFFF"/>
                    </a:solidFill>
                  </a:tcPr>
                </a:tc>
                <a:tc>
                  <a:txBody>
                    <a:bodyPr/>
                    <a:lstStyle/>
                    <a:p>
                      <a:pPr>
                        <a:defRPr sz="800">
                          <a:solidFill>
                            <a:srgbClr val="333333"/>
                          </a:solidFill>
                        </a:defRPr>
                      </a:pPr>
                      <a:r>
                        <a:t>Full Garbage Collection</a:t>
                      </a:r>
                    </a:p>
                  </a:txBody>
                  <a:tcPr>
                    <a:solidFill>
                      <a:srgbClr val="FFFFFF"/>
                    </a:solidFill>
                  </a:tcPr>
                </a:tc>
                <a:tc>
                  <a:txBody>
                    <a:bodyPr/>
                    <a:lstStyle/>
                    <a:p>
                      <a:pPr>
                        <a:defRPr sz="800">
                          <a:solidFill>
                            <a:srgbClr val="333333"/>
                          </a:solidFill>
                        </a:defRPr>
                      </a:pPr>
                      <a:r>
                        <a:t>전체 Heap(Young+Old+Metaspace) 대상 GC</a:t>
                      </a:r>
                    </a:p>
                  </a:txBody>
                  <a:tcPr>
                    <a:solidFill>
                      <a:srgbClr val="FFFFFF"/>
                    </a:solidFill>
                  </a:tcPr>
                </a:tc>
              </a:tr>
              <a:tr h="274320">
                <a:tc>
                  <a:txBody>
                    <a:bodyPr/>
                    <a:lstStyle/>
                    <a:p>
                      <a:pPr>
                        <a:defRPr sz="800">
                          <a:solidFill>
                            <a:srgbClr val="333333"/>
                          </a:solidFill>
                        </a:defRPr>
                      </a:pPr>
                      <a:r>
                        <a:t>Old Gen</a:t>
                      </a:r>
                    </a:p>
                  </a:txBody>
                  <a:tcPr>
                    <a:solidFill>
                      <a:srgbClr val="F2F2F2"/>
                    </a:solidFill>
                  </a:tcPr>
                </a:tc>
                <a:tc>
                  <a:txBody>
                    <a:bodyPr/>
                    <a:lstStyle/>
                    <a:p>
                      <a:pPr>
                        <a:defRPr sz="800">
                          <a:solidFill>
                            <a:srgbClr val="333333"/>
                          </a:solidFill>
                        </a:defRPr>
                      </a:pPr>
                      <a:r>
                        <a:t>Old Generation</a:t>
                      </a:r>
                    </a:p>
                  </a:txBody>
                  <a:tcPr>
                    <a:solidFill>
                      <a:srgbClr val="F2F2F2"/>
                    </a:solidFill>
                  </a:tcPr>
                </a:tc>
                <a:tc>
                  <a:txBody>
                    <a:bodyPr/>
                    <a:lstStyle/>
                    <a:p>
                      <a:pPr>
                        <a:defRPr sz="800">
                          <a:solidFill>
                            <a:srgbClr val="333333"/>
                          </a:solidFill>
                        </a:defRPr>
                      </a:pPr>
                      <a:r>
                        <a:t>장기 생존 객체 저장 영역</a:t>
                      </a:r>
                    </a:p>
                  </a:txBody>
                  <a:tcPr>
                    <a:solidFill>
                      <a:srgbClr val="F2F2F2"/>
                    </a:solidFill>
                  </a:tcPr>
                </a:tc>
              </a:tr>
              <a:tr h="274320">
                <a:tc>
                  <a:txBody>
                    <a:bodyPr/>
                    <a:lstStyle/>
                    <a:p>
                      <a:pPr>
                        <a:defRPr sz="800">
                          <a:solidFill>
                            <a:srgbClr val="333333"/>
                          </a:solidFill>
                        </a:defRPr>
                      </a:pPr>
                      <a:r>
                        <a:t>Metaspace</a:t>
                      </a:r>
                    </a:p>
                  </a:txBody>
                  <a:tcPr>
                    <a:solidFill>
                      <a:srgbClr val="FFFFFF"/>
                    </a:solidFill>
                  </a:tcPr>
                </a:tc>
                <a:tc>
                  <a:txBody>
                    <a:bodyPr/>
                    <a:lstStyle/>
                    <a:p>
                      <a:pPr>
                        <a:defRPr sz="800">
                          <a:solidFill>
                            <a:srgbClr val="333333"/>
                          </a:solidFill>
                        </a:defRPr>
                      </a:pPr>
                      <a:r>
                        <a:t>Metaspace</a:t>
                      </a:r>
                    </a:p>
                  </a:txBody>
                  <a:tcPr>
                    <a:solidFill>
                      <a:srgbClr val="FFFFFF"/>
                    </a:solidFill>
                  </a:tcPr>
                </a:tc>
                <a:tc>
                  <a:txBody>
                    <a:bodyPr/>
                    <a:lstStyle/>
                    <a:p>
                      <a:pPr>
                        <a:defRPr sz="800">
                          <a:solidFill>
                            <a:srgbClr val="333333"/>
                          </a:solidFill>
                        </a:defRPr>
                      </a:pPr>
                      <a:r>
                        <a:t>클래스 메타데이터 네이티브 메모리 영역</a:t>
                      </a:r>
                    </a:p>
                  </a:txBody>
                  <a:tcPr>
                    <a:solidFill>
                      <a:srgbClr val="FFFFFF"/>
                    </a:solidFill>
                  </a:tcPr>
                </a:tc>
              </a:tr>
              <a:tr h="274320">
                <a:tc>
                  <a:txBody>
                    <a:bodyPr/>
                    <a:lstStyle/>
                    <a:p>
                      <a:pPr>
                        <a:defRPr sz="800">
                          <a:solidFill>
                            <a:srgbClr val="333333"/>
                          </a:solidFill>
                        </a:defRPr>
                      </a:pPr>
                      <a:r>
                        <a:t>Xms/Xmx</a:t>
                      </a:r>
                    </a:p>
                  </a:txBody>
                  <a:tcPr>
                    <a:solidFill>
                      <a:srgbClr val="F2F2F2"/>
                    </a:solidFill>
                  </a:tcPr>
                </a:tc>
                <a:tc>
                  <a:txBody>
                    <a:bodyPr/>
                    <a:lstStyle/>
                    <a:p>
                      <a:pPr>
                        <a:defRPr sz="800">
                          <a:solidFill>
                            <a:srgbClr val="333333"/>
                          </a:solidFill>
                        </a:defRPr>
                      </a:pPr>
                      <a:r>
                        <a:t>Initial/Max Heap Size</a:t>
                      </a:r>
                    </a:p>
                  </a:txBody>
                  <a:tcPr>
                    <a:solidFill>
                      <a:srgbClr val="F2F2F2"/>
                    </a:solidFill>
                  </a:tcPr>
                </a:tc>
                <a:tc>
                  <a:txBody>
                    <a:bodyPr/>
                    <a:lstStyle/>
                    <a:p>
                      <a:pPr>
                        <a:defRPr sz="800">
                          <a:solidFill>
                            <a:srgbClr val="333333"/>
                          </a:solidFill>
                        </a:defRPr>
                      </a:pPr>
                      <a:r>
                        <a:t>JVM Heap 초기/최대 크기</a:t>
                      </a:r>
                    </a:p>
                  </a:txBody>
                  <a:tcPr>
                    <a:solidFill>
                      <a:srgbClr val="F2F2F2"/>
                    </a:solidFill>
                  </a:tcPr>
                </a:tc>
              </a:tr>
              <a:tr h="274320">
                <a:tc>
                  <a:txBody>
                    <a:bodyPr/>
                    <a:lstStyle/>
                    <a:p>
                      <a:pPr>
                        <a:defRPr sz="800">
                          <a:solidFill>
                            <a:srgbClr val="333333"/>
                          </a:solidFill>
                        </a:defRPr>
                      </a:pPr>
                      <a:r>
                        <a:t>Connection Pool</a:t>
                      </a:r>
                    </a:p>
                  </a:txBody>
                  <a:tcPr>
                    <a:solidFill>
                      <a:srgbClr val="FFFFFF"/>
                    </a:solidFill>
                  </a:tcPr>
                </a:tc>
                <a:tc>
                  <a:txBody>
                    <a:bodyPr/>
                    <a:lstStyle/>
                    <a:p>
                      <a:pPr>
                        <a:defRPr sz="800">
                          <a:solidFill>
                            <a:srgbClr val="333333"/>
                          </a:solidFill>
                        </a:defRPr>
                      </a:pPr>
                      <a:r>
                        <a:t>Connection Pool</a:t>
                      </a:r>
                    </a:p>
                  </a:txBody>
                  <a:tcPr>
                    <a:solidFill>
                      <a:srgbClr val="FFFFFF"/>
                    </a:solidFill>
                  </a:tcPr>
                </a:tc>
                <a:tc>
                  <a:txBody>
                    <a:bodyPr/>
                    <a:lstStyle/>
                    <a:p>
                      <a:pPr>
                        <a:defRPr sz="800">
                          <a:solidFill>
                            <a:srgbClr val="333333"/>
                          </a:solidFill>
                        </a:defRPr>
                      </a:pPr>
                      <a:r>
                        <a:t>DB 연결 미리 생성하여 재사용하는 메커니즘</a:t>
                      </a:r>
                    </a:p>
                  </a:txBody>
                  <a:tcPr>
                    <a:solidFill>
                      <a:srgbClr val="FFFFFF"/>
                    </a:solidFill>
                  </a:tcPr>
                </a:tc>
              </a:tr>
              <a:tr h="274320">
                <a:tc>
                  <a:txBody>
                    <a:bodyPr/>
                    <a:lstStyle/>
                    <a:p>
                      <a:pPr>
                        <a:defRPr sz="800">
                          <a:solidFill>
                            <a:srgbClr val="333333"/>
                          </a:solidFill>
                        </a:defRPr>
                      </a:pPr>
                      <a:r>
                        <a:t>maxLifetime</a:t>
                      </a:r>
                    </a:p>
                  </a:txBody>
                  <a:tcPr>
                    <a:solidFill>
                      <a:srgbClr val="F2F2F2"/>
                    </a:solidFill>
                  </a:tcPr>
                </a:tc>
                <a:tc>
                  <a:txBody>
                    <a:bodyPr/>
                    <a:lstStyle/>
                    <a:p>
                      <a:pPr>
                        <a:defRPr sz="800">
                          <a:solidFill>
                            <a:srgbClr val="333333"/>
                          </a:solidFill>
                        </a:defRPr>
                      </a:pPr>
                      <a:r>
                        <a:t>Max Connection Lifetime</a:t>
                      </a:r>
                    </a:p>
                  </a:txBody>
                  <a:tcPr>
                    <a:solidFill>
                      <a:srgbClr val="F2F2F2"/>
                    </a:solidFill>
                  </a:tcPr>
                </a:tc>
                <a:tc>
                  <a:txBody>
                    <a:bodyPr/>
                    <a:lstStyle/>
                    <a:p>
                      <a:pPr>
                        <a:defRPr sz="800">
                          <a:solidFill>
                            <a:srgbClr val="333333"/>
                          </a:solidFill>
                        </a:defRPr>
                      </a:pPr>
                      <a:r>
                        <a:t>Connection Pool 내 커넥션 최대 수명</a:t>
                      </a:r>
                    </a:p>
                  </a:txBody>
                  <a:tcPr>
                    <a:solidFill>
                      <a:srgbClr val="F2F2F2"/>
                    </a:solidFill>
                  </a:tcPr>
                </a:tc>
              </a:tr>
              <a:tr h="274320">
                <a:tc>
                  <a:txBody>
                    <a:bodyPr/>
                    <a:lstStyle/>
                    <a:p>
                      <a:pPr>
                        <a:defRPr sz="800">
                          <a:solidFill>
                            <a:srgbClr val="333333"/>
                          </a:solidFill>
                        </a:defRPr>
                      </a:pPr>
                      <a:r>
                        <a:t>maxPoolSize</a:t>
                      </a:r>
                    </a:p>
                  </a:txBody>
                  <a:tcPr>
                    <a:solidFill>
                      <a:srgbClr val="FFFFFF"/>
                    </a:solidFill>
                  </a:tcPr>
                </a:tc>
                <a:tc>
                  <a:txBody>
                    <a:bodyPr/>
                    <a:lstStyle/>
                    <a:p>
                      <a:pPr>
                        <a:defRPr sz="800">
                          <a:solidFill>
                            <a:srgbClr val="333333"/>
                          </a:solidFill>
                        </a:defRPr>
                      </a:pPr>
                      <a:r>
                        <a:t>Maximum Pool Size</a:t>
                      </a:r>
                    </a:p>
                  </a:txBody>
                  <a:tcPr>
                    <a:solidFill>
                      <a:srgbClr val="FFFFFF"/>
                    </a:solidFill>
                  </a:tcPr>
                </a:tc>
                <a:tc>
                  <a:txBody>
                    <a:bodyPr/>
                    <a:lstStyle/>
                    <a:p>
                      <a:pPr>
                        <a:defRPr sz="800">
                          <a:solidFill>
                            <a:srgbClr val="333333"/>
                          </a:solidFill>
                        </a:defRPr>
                      </a:pPr>
                      <a:r>
                        <a:t>최대 커넥션 수</a:t>
                      </a:r>
                    </a:p>
                  </a:txBody>
                  <a:tcPr>
                    <a:solidFill>
                      <a:srgbClr val="FFFFFF"/>
                    </a:solidFill>
                  </a:tcPr>
                </a:tc>
              </a:tr>
              <a:tr h="274320">
                <a:tc>
                  <a:txBody>
                    <a:bodyPr/>
                    <a:lstStyle/>
                    <a:p>
                      <a:pPr>
                        <a:defRPr sz="800">
                          <a:solidFill>
                            <a:srgbClr val="333333"/>
                          </a:solidFill>
                        </a:defRPr>
                      </a:pPr>
                      <a:r>
                        <a:t>fixed-size pool</a:t>
                      </a:r>
                    </a:p>
                  </a:txBody>
                  <a:tcPr>
                    <a:solidFill>
                      <a:srgbClr val="F2F2F2"/>
                    </a:solidFill>
                  </a:tcPr>
                </a:tc>
                <a:tc>
                  <a:txBody>
                    <a:bodyPr/>
                    <a:lstStyle/>
                    <a:p>
                      <a:pPr>
                        <a:defRPr sz="800">
                          <a:solidFill>
                            <a:srgbClr val="333333"/>
                          </a:solidFill>
                        </a:defRPr>
                      </a:pPr>
                      <a:r>
                        <a:t>Fixed-Size Pool</a:t>
                      </a:r>
                    </a:p>
                  </a:txBody>
                  <a:tcPr>
                    <a:solidFill>
                      <a:srgbClr val="F2F2F2"/>
                    </a:solidFill>
                  </a:tcPr>
                </a:tc>
                <a:tc>
                  <a:txBody>
                    <a:bodyPr/>
                    <a:lstStyle/>
                    <a:p>
                      <a:pPr>
                        <a:defRPr sz="800">
                          <a:solidFill>
                            <a:srgbClr val="333333"/>
                          </a:solidFill>
                        </a:defRPr>
                      </a:pPr>
                      <a:r>
                        <a:t>min=max로 항상 일정한 커넥션 유지</a:t>
                      </a:r>
                    </a:p>
                  </a:txBody>
                  <a:tcPr>
                    <a:solidFill>
                      <a:srgbClr val="F2F2F2"/>
                    </a:solidFill>
                  </a:tcPr>
                </a:tc>
              </a:tr>
              <a:tr h="274320">
                <a:tc>
                  <a:txBody>
                    <a:bodyPr/>
                    <a:lstStyle/>
                    <a:p>
                      <a:pPr>
                        <a:defRPr sz="800">
                          <a:solidFill>
                            <a:srgbClr val="333333"/>
                          </a:solidFill>
                        </a:defRPr>
                      </a:pPr>
                      <a:r>
                        <a:t>maxThreads</a:t>
                      </a:r>
                    </a:p>
                  </a:txBody>
                  <a:tcPr>
                    <a:solidFill>
                      <a:srgbClr val="FFFFFF"/>
                    </a:solidFill>
                  </a:tcPr>
                </a:tc>
                <a:tc>
                  <a:txBody>
                    <a:bodyPr/>
                    <a:lstStyle/>
                    <a:p>
                      <a:pPr>
                        <a:defRPr sz="800">
                          <a:solidFill>
                            <a:srgbClr val="333333"/>
                          </a:solidFill>
                        </a:defRPr>
                      </a:pPr>
                      <a:r>
                        <a:t>Maximum Threads</a:t>
                      </a:r>
                    </a:p>
                  </a:txBody>
                  <a:tcPr>
                    <a:solidFill>
                      <a:srgbClr val="FFFFFF"/>
                    </a:solidFill>
                  </a:tcPr>
                </a:tc>
                <a:tc>
                  <a:txBody>
                    <a:bodyPr/>
                    <a:lstStyle/>
                    <a:p>
                      <a:pPr>
                        <a:defRPr sz="800">
                          <a:solidFill>
                            <a:srgbClr val="333333"/>
                          </a:solidFill>
                        </a:defRPr>
                      </a:pPr>
                      <a:r>
                        <a:t>WAS 최대 요청 처리 스레드 수</a:t>
                      </a:r>
                    </a:p>
                  </a:txBody>
                  <a:tcPr>
                    <a:solidFill>
                      <a:srgbClr val="FFFFFF"/>
                    </a:solidFill>
                  </a:tcPr>
                </a:tc>
              </a:tr>
              <a:tr h="274320">
                <a:tc>
                  <a:txBody>
                    <a:bodyPr/>
                    <a:lstStyle/>
                    <a:p>
                      <a:pPr>
                        <a:defRPr sz="800">
                          <a:solidFill>
                            <a:srgbClr val="333333"/>
                          </a:solidFill>
                        </a:defRPr>
                      </a:pPr>
                      <a:r>
                        <a:t>COLLSCAN</a:t>
                      </a:r>
                    </a:p>
                  </a:txBody>
                  <a:tcPr>
                    <a:solidFill>
                      <a:srgbClr val="F2F2F2"/>
                    </a:solidFill>
                  </a:tcPr>
                </a:tc>
                <a:tc>
                  <a:txBody>
                    <a:bodyPr/>
                    <a:lstStyle/>
                    <a:p>
                      <a:pPr>
                        <a:defRPr sz="800">
                          <a:solidFill>
                            <a:srgbClr val="333333"/>
                          </a:solidFill>
                        </a:defRPr>
                      </a:pPr>
                      <a:r>
                        <a:t>Collection Scan</a:t>
                      </a:r>
                    </a:p>
                  </a:txBody>
                  <a:tcPr>
                    <a:solidFill>
                      <a:srgbClr val="F2F2F2"/>
                    </a:solidFill>
                  </a:tcPr>
                </a:tc>
                <a:tc>
                  <a:txBody>
                    <a:bodyPr/>
                    <a:lstStyle/>
                    <a:p>
                      <a:pPr>
                        <a:defRPr sz="800">
                          <a:solidFill>
                            <a:srgbClr val="333333"/>
                          </a:solidFill>
                        </a:defRPr>
                      </a:pPr>
                      <a:r>
                        <a:t>MongoDB 인덱스 없이 전체 도큐먼트 검색</a:t>
                      </a:r>
                    </a:p>
                  </a:txBody>
                  <a:tcPr>
                    <a:solidFill>
                      <a:srgbClr val="F2F2F2"/>
                    </a:solidFill>
                  </a:tcPr>
                </a:tc>
              </a:tr>
              <a:tr h="274320">
                <a:tc>
                  <a:txBody>
                    <a:bodyPr/>
                    <a:lstStyle/>
                    <a:p>
                      <a:pPr>
                        <a:defRPr sz="800">
                          <a:solidFill>
                            <a:srgbClr val="333333"/>
                          </a:solidFill>
                        </a:defRPr>
                      </a:pPr>
                      <a:r>
                        <a:t>Replica Set</a:t>
                      </a:r>
                    </a:p>
                  </a:txBody>
                  <a:tcPr>
                    <a:solidFill>
                      <a:srgbClr val="FFFFFF"/>
                    </a:solidFill>
                  </a:tcPr>
                </a:tc>
                <a:tc>
                  <a:txBody>
                    <a:bodyPr/>
                    <a:lstStyle/>
                    <a:p>
                      <a:pPr>
                        <a:defRPr sz="800">
                          <a:solidFill>
                            <a:srgbClr val="333333"/>
                          </a:solidFill>
                        </a:defRPr>
                      </a:pPr>
                      <a:r>
                        <a:t>Replica Set</a:t>
                      </a:r>
                    </a:p>
                  </a:txBody>
                  <a:tcPr>
                    <a:solidFill>
                      <a:srgbClr val="FFFFFF"/>
                    </a:solidFill>
                  </a:tcPr>
                </a:tc>
                <a:tc>
                  <a:txBody>
                    <a:bodyPr/>
                    <a:lstStyle/>
                    <a:p>
                      <a:pPr>
                        <a:defRPr sz="800">
                          <a:solidFill>
                            <a:srgbClr val="333333"/>
                          </a:solidFill>
                        </a:defRPr>
                      </a:pPr>
                      <a:r>
                        <a:t>MongoDB 고가용성 Master/Slave 아키텍처</a:t>
                      </a:r>
                    </a:p>
                  </a:txBody>
                  <a:tcPr>
                    <a:solidFill>
                      <a:srgbClr val="FFFFFF"/>
                    </a:solidFill>
                  </a:tcPr>
                </a:tc>
              </a:tr>
              <a:tr h="274320">
                <a:tc>
                  <a:txBody>
                    <a:bodyPr/>
                    <a:lstStyle/>
                    <a:p>
                      <a:pPr>
                        <a:defRPr sz="800">
                          <a:solidFill>
                            <a:srgbClr val="333333"/>
                          </a:solidFill>
                        </a:defRPr>
                      </a:pPr>
                      <a:r>
                        <a:t>LTS</a:t>
                      </a:r>
                    </a:p>
                  </a:txBody>
                  <a:tcPr>
                    <a:solidFill>
                      <a:srgbClr val="F2F2F2"/>
                    </a:solidFill>
                  </a:tcPr>
                </a:tc>
                <a:tc>
                  <a:txBody>
                    <a:bodyPr/>
                    <a:lstStyle/>
                    <a:p>
                      <a:pPr>
                        <a:defRPr sz="800">
                          <a:solidFill>
                            <a:srgbClr val="333333"/>
                          </a:solidFill>
                        </a:defRPr>
                      </a:pPr>
                      <a:r>
                        <a:t>Long Term Support</a:t>
                      </a:r>
                    </a:p>
                  </a:txBody>
                  <a:tcPr>
                    <a:solidFill>
                      <a:srgbClr val="F2F2F2"/>
                    </a:solidFill>
                  </a:tcPr>
                </a:tc>
                <a:tc>
                  <a:txBody>
                    <a:bodyPr/>
                    <a:lstStyle/>
                    <a:p>
                      <a:pPr>
                        <a:defRPr sz="800">
                          <a:solidFill>
                            <a:srgbClr val="333333"/>
                          </a:solidFill>
                        </a:defRPr>
                      </a:pPr>
                      <a:r>
                        <a:t>장기 지원 보증 소프트웨어 버전</a:t>
                      </a:r>
                    </a:p>
                  </a:txBody>
                  <a:tcPr>
                    <a:solidFill>
                      <a:srgbClr val="F2F2F2"/>
                    </a:solidFill>
                  </a:tcPr>
                </a:tc>
              </a:tr>
              <a:tr h="274320">
                <a:tc>
                  <a:txBody>
                    <a:bodyPr/>
                    <a:lstStyle/>
                    <a:p>
                      <a:pPr>
                        <a:defRPr sz="800">
                          <a:solidFill>
                            <a:srgbClr val="333333"/>
                          </a:solidFill>
                        </a:defRPr>
                      </a:pPr>
                      <a:r>
                        <a:t>EOL</a:t>
                      </a:r>
                    </a:p>
                  </a:txBody>
                  <a:tcPr>
                    <a:solidFill>
                      <a:srgbClr val="FFFFFF"/>
                    </a:solidFill>
                  </a:tcPr>
                </a:tc>
                <a:tc>
                  <a:txBody>
                    <a:bodyPr/>
                    <a:lstStyle/>
                    <a:p>
                      <a:pPr>
                        <a:defRPr sz="800">
                          <a:solidFill>
                            <a:srgbClr val="333333"/>
                          </a:solidFill>
                        </a:defRPr>
                      </a:pPr>
                      <a:r>
                        <a:t>End of Life</a:t>
                      </a:r>
                    </a:p>
                  </a:txBody>
                  <a:tcPr>
                    <a:solidFill>
                      <a:srgbClr val="FFFFFF"/>
                    </a:solidFill>
                  </a:tcPr>
                </a:tc>
                <a:tc>
                  <a:txBody>
                    <a:bodyPr/>
                    <a:lstStyle/>
                    <a:p>
                      <a:pPr>
                        <a:defRPr sz="800">
                          <a:solidFill>
                            <a:srgbClr val="333333"/>
                          </a:solidFill>
                        </a:defRPr>
                      </a:pPr>
                      <a:r>
                        <a:t>소프트웨어 공식 지원 종료 상태</a:t>
                      </a:r>
                    </a:p>
                  </a:txBody>
                  <a:tcPr>
                    <a:solidFill>
                      <a:srgbClr val="FFFFFF"/>
                    </a:solidFill>
                  </a:tcPr>
                </a:tc>
              </a:tr>
              <a:tr h="274320">
                <a:tc>
                  <a:txBody>
                    <a:bodyPr/>
                    <a:lstStyle/>
                    <a:p>
                      <a:pPr>
                        <a:defRPr sz="800">
                          <a:solidFill>
                            <a:srgbClr val="333333"/>
                          </a:solidFill>
                        </a:defRPr>
                      </a:pPr>
                      <a:r>
                        <a:t>RTO/RPO</a:t>
                      </a:r>
                    </a:p>
                  </a:txBody>
                  <a:tcPr>
                    <a:solidFill>
                      <a:srgbClr val="F2F2F2"/>
                    </a:solidFill>
                  </a:tcPr>
                </a:tc>
                <a:tc>
                  <a:txBody>
                    <a:bodyPr/>
                    <a:lstStyle/>
                    <a:p>
                      <a:pPr>
                        <a:defRPr sz="800">
                          <a:solidFill>
                            <a:srgbClr val="333333"/>
                          </a:solidFill>
                        </a:defRPr>
                      </a:pPr>
                      <a:r>
                        <a:t>Recovery Time/Point Obj.</a:t>
                      </a:r>
                    </a:p>
                  </a:txBody>
                  <a:tcPr>
                    <a:solidFill>
                      <a:srgbClr val="F2F2F2"/>
                    </a:solidFill>
                  </a:tcPr>
                </a:tc>
                <a:tc>
                  <a:txBody>
                    <a:bodyPr/>
                    <a:lstStyle/>
                    <a:p>
                      <a:pPr>
                        <a:defRPr sz="800">
                          <a:solidFill>
                            <a:srgbClr val="333333"/>
                          </a:solidFill>
                        </a:defRPr>
                      </a:pPr>
                      <a:r>
                        <a:t>복구 목표 시간 / 데이터 손실 허용 범위</a:t>
                      </a:r>
                    </a:p>
                  </a:txBody>
                  <a:tcPr>
                    <a:solidFill>
                      <a:srgbClr val="F2F2F2"/>
                    </a:solidFill>
                  </a:tcPr>
                </a:tc>
              </a:tr>
              <a:tr h="274320">
                <a:tc>
                  <a:txBody>
                    <a:bodyPr/>
                    <a:lstStyle/>
                    <a:p>
                      <a:pPr>
                        <a:defRPr sz="800">
                          <a:solidFill>
                            <a:srgbClr val="333333"/>
                          </a:solidFill>
                        </a:defRPr>
                      </a:pPr>
                      <a:r>
                        <a:t>PgPool-II</a:t>
                      </a:r>
                    </a:p>
                  </a:txBody>
                  <a:tcPr>
                    <a:solidFill>
                      <a:srgbClr val="FFFFFF"/>
                    </a:solidFill>
                  </a:tcPr>
                </a:tc>
                <a:tc>
                  <a:txBody>
                    <a:bodyPr/>
                    <a:lstStyle/>
                    <a:p>
                      <a:pPr>
                        <a:defRPr sz="800">
                          <a:solidFill>
                            <a:srgbClr val="333333"/>
                          </a:solidFill>
                        </a:defRPr>
                      </a:pPr>
                      <a:r>
                        <a:t>PgPool-II</a:t>
                      </a:r>
                    </a:p>
                  </a:txBody>
                  <a:tcPr>
                    <a:solidFill>
                      <a:srgbClr val="FFFFFF"/>
                    </a:solidFill>
                  </a:tcPr>
                </a:tc>
                <a:tc>
                  <a:txBody>
                    <a:bodyPr/>
                    <a:lstStyle/>
                    <a:p>
                      <a:pPr>
                        <a:defRPr sz="800">
                          <a:solidFill>
                            <a:srgbClr val="333333"/>
                          </a:solidFill>
                        </a:defRPr>
                      </a:pPr>
                      <a:r>
                        <a:t>PostgreSQL 미들웨어 (풀링, 로드밸런싱)</a:t>
                      </a:r>
                    </a:p>
                  </a:txBody>
                  <a:tcPr>
                    <a:solidFill>
                      <a:srgbClr val="FFFFFF"/>
                    </a:solidFill>
                  </a:tcPr>
                </a:tc>
              </a:tr>
              <a:tr h="274320">
                <a:tc>
                  <a:txBody>
                    <a:bodyPr/>
                    <a:lstStyle/>
                    <a:p>
                      <a:pPr>
                        <a:defRPr sz="800">
                          <a:solidFill>
                            <a:srgbClr val="333333"/>
                          </a:solidFill>
                        </a:defRPr>
                      </a:pPr>
                      <a:r>
                        <a:t>Backpressure</a:t>
                      </a:r>
                    </a:p>
                  </a:txBody>
                  <a:tcPr>
                    <a:solidFill>
                      <a:srgbClr val="F2F2F2"/>
                    </a:solidFill>
                  </a:tcPr>
                </a:tc>
                <a:tc>
                  <a:txBody>
                    <a:bodyPr/>
                    <a:lstStyle/>
                    <a:p>
                      <a:pPr>
                        <a:defRPr sz="800">
                          <a:solidFill>
                            <a:srgbClr val="333333"/>
                          </a:solidFill>
                        </a:defRPr>
                      </a:pPr>
                      <a:r>
                        <a:t>Backpressure</a:t>
                      </a:r>
                    </a:p>
                  </a:txBody>
                  <a:tcPr>
                    <a:solidFill>
                      <a:srgbClr val="F2F2F2"/>
                    </a:solidFill>
                  </a:tcPr>
                </a:tc>
                <a:tc>
                  <a:txBody>
                    <a:bodyPr/>
                    <a:lstStyle/>
                    <a:p>
                      <a:pPr>
                        <a:defRPr sz="800">
                          <a:solidFill>
                            <a:srgbClr val="333333"/>
                          </a:solidFill>
                        </a:defRPr>
                      </a:pPr>
                      <a:r>
                        <a:t>처리 한계 초과 요청에 대한 자원 보호</a:t>
                      </a:r>
                    </a:p>
                  </a:txBody>
                  <a:tcPr>
                    <a:solidFill>
                      <a:srgbClr val="F2F2F2"/>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